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324afbc0316d4e03" /><Relationship Type="http://schemas.openxmlformats.org/officeDocument/2006/relationships/extended-properties" Target="/docProps/app.xml" Id="R9eb02f25fa5f4e0b" /><Relationship Type="http://schemas.openxmlformats.org/officeDocument/2006/relationships/officeDocument" Target="/ppt/presentation.xml" Id="R50756a8bba2a4874" /></Relationships>
</file>

<file path=ppt/presentation.xml><?xml version="1.0" encoding="utf-8"?>
<p:presentation xmlns:p="http://schemas.openxmlformats.org/presentationml/2006/main">
  <p:sldMasterIdLst>
    <p:sldMasterId xmlns:r="http://schemas.openxmlformats.org/officeDocument/2006/relationships" id="2147483648" r:id="R165a0e56534f44d2"/>
  </p:sldMasterIdLst>
  <p:notesMasterIdLst>
    <p:notesMasterId xmlns:r="http://schemas.openxmlformats.org/officeDocument/2006/relationships" r:id="R51df67a2373d430a"/>
  </p:notesMasterIdLst>
  <p:sldIdLst>
    <p:sldId xmlns:r="http://schemas.openxmlformats.org/officeDocument/2006/relationships" id="256" r:id="R7f7f54e49fdd4d4b"/>
    <p:sldId xmlns:r="http://schemas.openxmlformats.org/officeDocument/2006/relationships" id="257" r:id="R9a74e5091e6f456f"/>
    <p:sldId xmlns:r="http://schemas.openxmlformats.org/officeDocument/2006/relationships" id="258" r:id="Reafdec071e3b40e8"/>
    <p:sldId xmlns:r="http://schemas.openxmlformats.org/officeDocument/2006/relationships" id="259" r:id="Raef2af48d1a54707"/>
    <p:sldId xmlns:r="http://schemas.openxmlformats.org/officeDocument/2006/relationships" id="260" r:id="R4385e4fceb134ed8"/>
    <p:sldId xmlns:r="http://schemas.openxmlformats.org/officeDocument/2006/relationships" id="261" r:id="R1fec628b4d0a4bd9"/>
    <p:sldId xmlns:r="http://schemas.openxmlformats.org/officeDocument/2006/relationships" id="262" r:id="R6067f91759d24d31"/>
    <p:sldId xmlns:r="http://schemas.openxmlformats.org/officeDocument/2006/relationships" id="263" r:id="R8268007b99fe417a"/>
    <p:sldId xmlns:r="http://schemas.openxmlformats.org/officeDocument/2006/relationships" id="264" r:id="R093abc2d70834434"/>
    <p:sldId xmlns:r="http://schemas.openxmlformats.org/officeDocument/2006/relationships" id="265" r:id="Ra6b743605e514c97"/>
    <p:sldId xmlns:r="http://schemas.openxmlformats.org/officeDocument/2006/relationships" id="266" r:id="Ra8ae9c1243e84be2"/>
    <p:sldId xmlns:r="http://schemas.openxmlformats.org/officeDocument/2006/relationships" id="267" r:id="R75579efb389f4683"/>
    <p:sldId xmlns:r="http://schemas.openxmlformats.org/officeDocument/2006/relationships" id="268" r:id="Rdeefb21d9fa84e72"/>
    <p:sldId xmlns:r="http://schemas.openxmlformats.org/officeDocument/2006/relationships" id="269" r:id="Ree60d321391f47bb"/>
    <p:sldId xmlns:r="http://schemas.openxmlformats.org/officeDocument/2006/relationships" id="270" r:id="R464ba584c8b74bb7"/>
    <p:sldId xmlns:r="http://schemas.openxmlformats.org/officeDocument/2006/relationships" id="271" r:id="R8dcd62b2fb244203"/>
    <p:sldId xmlns:r="http://schemas.openxmlformats.org/officeDocument/2006/relationships" id="272" r:id="R92a67a10482045b4"/>
    <p:sldId xmlns:r="http://schemas.openxmlformats.org/officeDocument/2006/relationships" id="273" r:id="R3e4a88deaab14bf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75b07f728e5490e" /><Relationship Type="http://schemas.openxmlformats.org/officeDocument/2006/relationships/slideMaster" Target="/ppt/slideMasters/slideMaster1.xml" Id="R165a0e56534f44d2" /><Relationship Type="http://schemas.openxmlformats.org/officeDocument/2006/relationships/notesMaster" Target="/ppt/notesMasters/notesMaster1.xml" Id="R51df67a2373d430a" /><Relationship Type="http://schemas.openxmlformats.org/officeDocument/2006/relationships/presProps" Target="/ppt/presProps.xml" Id="R8e8fb13e7b244306" /><Relationship Type="http://schemas.openxmlformats.org/officeDocument/2006/relationships/tableStyles" Target="/ppt/tableStyles.xml" Id="Rdbe7d244363b4424" /><Relationship Type="http://schemas.openxmlformats.org/officeDocument/2006/relationships/slide" Target="/ppt/slides/slide1.xml" Id="R7f7f54e49fdd4d4b" /><Relationship Type="http://schemas.openxmlformats.org/officeDocument/2006/relationships/slide" Target="/ppt/slides/slide2.xml" Id="R9a74e5091e6f456f" /><Relationship Type="http://schemas.openxmlformats.org/officeDocument/2006/relationships/slide" Target="/ppt/slides/slide3.xml" Id="Reafdec071e3b40e8" /><Relationship Type="http://schemas.openxmlformats.org/officeDocument/2006/relationships/slide" Target="/ppt/slides/slide4.xml" Id="Raef2af48d1a54707" /><Relationship Type="http://schemas.openxmlformats.org/officeDocument/2006/relationships/slide" Target="/ppt/slides/slide5.xml" Id="R4385e4fceb134ed8" /><Relationship Type="http://schemas.openxmlformats.org/officeDocument/2006/relationships/slide" Target="/ppt/slides/slide6.xml" Id="R1fec628b4d0a4bd9" /><Relationship Type="http://schemas.openxmlformats.org/officeDocument/2006/relationships/slide" Target="/ppt/slides/slide7.xml" Id="R6067f91759d24d31" /><Relationship Type="http://schemas.openxmlformats.org/officeDocument/2006/relationships/slide" Target="/ppt/slides/slide8.xml" Id="R8268007b99fe417a" /><Relationship Type="http://schemas.openxmlformats.org/officeDocument/2006/relationships/slide" Target="/ppt/slides/slide9.xml" Id="R093abc2d70834434" /><Relationship Type="http://schemas.openxmlformats.org/officeDocument/2006/relationships/slide" Target="/ppt/slides/slide10.xml" Id="Ra6b743605e514c97" /><Relationship Type="http://schemas.openxmlformats.org/officeDocument/2006/relationships/slide" Target="/ppt/slides/slide11.xml" Id="Ra8ae9c1243e84be2" /><Relationship Type="http://schemas.openxmlformats.org/officeDocument/2006/relationships/slide" Target="/ppt/slides/slide12.xml" Id="R75579efb389f4683" /><Relationship Type="http://schemas.openxmlformats.org/officeDocument/2006/relationships/slide" Target="/ppt/slides/slide13.xml" Id="Rdeefb21d9fa84e72" /><Relationship Type="http://schemas.openxmlformats.org/officeDocument/2006/relationships/slide" Target="/ppt/slides/slide14.xml" Id="Ree60d321391f47bb" /><Relationship Type="http://schemas.openxmlformats.org/officeDocument/2006/relationships/slide" Target="/ppt/slides/slide15.xml" Id="R464ba584c8b74bb7" /><Relationship Type="http://schemas.openxmlformats.org/officeDocument/2006/relationships/slide" Target="/ppt/slides/slide16.xml" Id="R8dcd62b2fb244203" /><Relationship Type="http://schemas.openxmlformats.org/officeDocument/2006/relationships/slide" Target="/ppt/slides/slide17.xml" Id="R92a67a10482045b4" /><Relationship Type="http://schemas.openxmlformats.org/officeDocument/2006/relationships/slide" Target="/ppt/slides/slide18.xml" Id="R3e4a88deaab14bf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ef51739775048a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87cca77245540b6" /><Relationship Type="http://schemas.openxmlformats.org/officeDocument/2006/relationships/notesMaster" Target="/ppt/notesMasters/notesMaster1.xml" Id="Rf9d2f3f3a3994e53" /></Relationships>
</file>

<file path=ppt/notesSlides/_rels/notesSlide2.xml.rels>&#65279;<?xml version="1.0" encoding="utf-8"?><Relationships xmlns="http://schemas.openxmlformats.org/package/2006/relationships"><Relationship Type="http://schemas.openxmlformats.org/officeDocument/2006/relationships/slide" Target="/ppt/slides/slide2.xml" Id="R97f3536192ff4b53" /><Relationship Type="http://schemas.openxmlformats.org/officeDocument/2006/relationships/notesMaster" Target="/ppt/notesMasters/notesMaster1.xml" Id="Rffd86e27335b4f1e" /></Relationships>
</file>

<file path=ppt/notesSlides/_rels/notesSlide3.xml.rels>&#65279;<?xml version="1.0" encoding="utf-8"?><Relationships xmlns="http://schemas.openxmlformats.org/package/2006/relationships"><Relationship Type="http://schemas.openxmlformats.org/officeDocument/2006/relationships/slide" Target="/ppt/slides/slide3.xml" Id="R5f41a4899b6444d5" /><Relationship Type="http://schemas.openxmlformats.org/officeDocument/2006/relationships/notesMaster" Target="/ppt/notesMasters/notesMaster1.xml" Id="R559f9a18a65c4c5f" /></Relationships>
</file>

<file path=ppt/notesSlides/_rels/notesSlide4.xml.rels>&#65279;<?xml version="1.0" encoding="utf-8"?><Relationships xmlns="http://schemas.openxmlformats.org/package/2006/relationships"><Relationship Type="http://schemas.openxmlformats.org/officeDocument/2006/relationships/slide" Target="/ppt/slides/slide4.xml" Id="R3b6a4a6cf89f4141" /><Relationship Type="http://schemas.openxmlformats.org/officeDocument/2006/relationships/notesMaster" Target="/ppt/notesMasters/notesMaster1.xml" Id="R07c8fdae62b0483c" /></Relationships>
</file>

<file path=ppt/notesSlides/_rels/notesSlide5.xml.rels>&#65279;<?xml version="1.0" encoding="utf-8"?><Relationships xmlns="http://schemas.openxmlformats.org/package/2006/relationships"><Relationship Type="http://schemas.openxmlformats.org/officeDocument/2006/relationships/slide" Target="/ppt/slides/slide5.xml" Id="R9e56a70a9016404d" /><Relationship Type="http://schemas.openxmlformats.org/officeDocument/2006/relationships/notesMaster" Target="/ppt/notesMasters/notesMaster1.xml" Id="R871de67a2a334b2a" /></Relationships>
</file>

<file path=ppt/notesSlides/_rels/notesSlide6.xml.rels>&#65279;<?xml version="1.0" encoding="utf-8"?><Relationships xmlns="http://schemas.openxmlformats.org/package/2006/relationships"><Relationship Type="http://schemas.openxmlformats.org/officeDocument/2006/relationships/slide" Target="/ppt/slides/slide6.xml" Id="R42b699347e1c4fdc" /><Relationship Type="http://schemas.openxmlformats.org/officeDocument/2006/relationships/notesMaster" Target="/ppt/notesMasters/notesMaster1.xml" Id="R6f2e0e10eab14136" /></Relationships>
</file>

<file path=ppt/notesSlides/_rels/notesSlide7.xml.rels>&#65279;<?xml version="1.0" encoding="utf-8"?><Relationships xmlns="http://schemas.openxmlformats.org/package/2006/relationships"><Relationship Type="http://schemas.openxmlformats.org/officeDocument/2006/relationships/slide" Target="/ppt/slides/slide7.xml" Id="R1b16421a3d064b87" /><Relationship Type="http://schemas.openxmlformats.org/officeDocument/2006/relationships/notesMaster" Target="/ppt/notesMasters/notesMaster1.xml" Id="R823c3c2b0deb42a6" /></Relationships>
</file>

<file path=ppt/notesSlides/_rels/notesSlide8.xml.rels>&#65279;<?xml version="1.0" encoding="utf-8"?><Relationships xmlns="http://schemas.openxmlformats.org/package/2006/relationships"><Relationship Type="http://schemas.openxmlformats.org/officeDocument/2006/relationships/slide" Target="/ppt/slides/slide8.xml" Id="R67dd845dce3648c0" /><Relationship Type="http://schemas.openxmlformats.org/officeDocument/2006/relationships/notesMaster" Target="/ppt/notesMasters/notesMaster1.xml" Id="Rf9b394b9963b4623" /></Relationships>
</file>

<file path=ppt/notesSlides/_rels/notesSlide9.xml.rels>&#65279;<?xml version="1.0" encoding="utf-8"?><Relationships xmlns="http://schemas.openxmlformats.org/package/2006/relationships"><Relationship Type="http://schemas.openxmlformats.org/officeDocument/2006/relationships/slide" Target="/ppt/slides/slide9.xml" Id="Ra34f08b46f844701" /><Relationship Type="http://schemas.openxmlformats.org/officeDocument/2006/relationships/notesMaster" Target="/ppt/notesMasters/notesMaster1.xml" Id="R75f38cf5d59b442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99c5bafecfc4e3d" /><Relationship Type="http://schemas.openxmlformats.org/officeDocument/2006/relationships/notesMaster" Target="/ppt/notesMasters/notesMaster1.xml" Id="R3adecd68555c46a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c999c1b197747ea" /><Relationship Type="http://schemas.openxmlformats.org/officeDocument/2006/relationships/notesMaster" Target="/ppt/notesMasters/notesMaster1.xml" Id="R583954719b1647c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12ef9f476f4406e" /><Relationship Type="http://schemas.openxmlformats.org/officeDocument/2006/relationships/notesMaster" Target="/ppt/notesMasters/notesMaster1.xml" Id="Rca6ba6c3aaa94cc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172639eb96d4ff6" /><Relationship Type="http://schemas.openxmlformats.org/officeDocument/2006/relationships/notesMaster" Target="/ppt/notesMasters/notesMaster1.xml" Id="Rbceebe38048b42e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59ce39d4253490c" /><Relationship Type="http://schemas.openxmlformats.org/officeDocument/2006/relationships/notesMaster" Target="/ppt/notesMasters/notesMaster1.xml" Id="R98789d2b1e134eb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64fdd3b2cae43c5" /><Relationship Type="http://schemas.openxmlformats.org/officeDocument/2006/relationships/notesMaster" Target="/ppt/notesMasters/notesMaster1.xml" Id="Rd9c5b2a7832349d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67ff75d1efc480c" /><Relationship Type="http://schemas.openxmlformats.org/officeDocument/2006/relationships/notesMaster" Target="/ppt/notesMasters/notesMaster1.xml" Id="R9a469d00012f477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1b4e89cae2345e8" /><Relationship Type="http://schemas.openxmlformats.org/officeDocument/2006/relationships/notesMaster" Target="/ppt/notesMasters/notesMaster1.xml" Id="Rffacf17c354a490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db475e77f7f4f80" /><Relationship Type="http://schemas.openxmlformats.org/officeDocument/2006/relationships/notesMaster" Target="/ppt/notesMasters/notesMaster1.xml" Id="Rd61f1b70ae624e8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This is a synthetic USCIS-related workload demonstration. Daily receipts and completions represent aggregate operational counts. We look for unusual patterns, route them to an analyst, and separately estimate future volume. No applicant decisions or agency performance claims follow from this demonstration.</a:t>
            </a:r>
          </a:p>
          <a:p xmlns:a="http://schemas.openxmlformats.org/drawingml/2006/main">
            <a:r>
              <a:t>Source: notebooks/SPC_ML_Demo.py and final executed synthetic-run evidence. Counts and outcomes are synthetic.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workflow without model terminology first. A workload owner wants to know which recent volume changes deserve attention. A reviewer checks source completeness, calendar effects, workload changes and operational context. The disposition belongs to a human. Future workload planning is a different question.</a:t>
            </a:r>
          </a:p>
          <a:p xmlns:a="http://schemas.openxmlformats.org/drawingml/2006/main">
            <a:r>
              <a:t>Source: notebooks/SPC_ML_Demo.py and final executed synthetic-run evidence. Counts and outcomes are synthetic.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Dataset: attainx_applications_v3_seed42. 1,179,830 synthetic event rows aggregate to 1,260 daily observations across 3 series and 420 business dates. Over a million event rows do not mean over a million independent training examples. The models train on daily-series feature windows. Calendar and generation settings come from the executed notebook. The chart labels Receipts A and Receipts B map to notebook series_id Intake A and Intake B. Completions A retains the same name. There are no applicant records. Do not describe these counts as historical USCIS outcomes.</a:t>
            </a:r>
          </a:p>
          <a:p xmlns:a="http://schemas.openxmlformats.org/drawingml/2006/main">
            <a:r>
              <a:t>Source: notebooks/SPC_ML_Demo.py and final executed synthetic-run evidence. Counts and outcomes are synthetic.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SPC compares recent observations with a historical reference. XmR checks large deviations. CUSUM accumulates small departures. EWMA smooths observations to expose shifts. Their OR forms the classifier label. Separate severity zones add point and run rules. Control limits characterize reference variation. They do not establish mission targets or explain causes. Show the notebook rule flags, contributing daily rows and one review episode.</a:t>
            </a:r>
          </a:p>
          <a:p xmlns:a="http://schemas.openxmlformats.org/drawingml/2006/main">
            <a:r>
              <a:t>Source: notebooks/SPC_ML_Demo.py and final executed synthetic-run evidence. Counts and outcomes are synthetic.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the distinction explicit. SPC is direct deterministic logic. The classifier learns a proxy label generated by that logic. Isolation Forest learns unusual feature patterns without incident labels. Regression and statistical time-series methods estimate future counts. None determines a root cause or authorizes action.</a:t>
            </a:r>
          </a:p>
          <a:p xmlns:a="http://schemas.openxmlformats.org/drawingml/2006/main">
            <a:r>
              <a:t>Source: notebooks/SPC_ML_Demo.py and final executed synthetic-run evidence. Counts and outcomes are synthetic.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through the measurement features before describing algorithms. During fit, the random forest grows decision trees on sampled training rows and feature subsets. Each tree learns split thresholds that separate the rule labels. Voting across trees gives a class and a vote-based score. The regressor averages tree predictions for counts. A saved model retains those learned splits for inference. Each classification row summarizes a prior window. The label is the OR of explicit rule flags. Chronological splitting prevents later dates from training earlier predictions. A 25-business-day separation prevents overlap of 25-day measurement windows. Earlier 90-day references can overlap. This is not independent incident validation.</a:t>
            </a:r>
          </a:p>
          <a:p xmlns:a="http://schemas.openxmlformats.org/drawingml/2006/main">
            <a:r>
              <a:t>Source: notebooks/SPC_ML_Demo.py and final executed synthetic-run evidence. Counts and outcomes are synthetic.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executed synthetic-run results. The classification target is the rule label, not a confirmed incident. Report precision and recall with F1, plus the constant baseline. The rolling-fold comparison is a separate experiment from the single holdout. Do not assume that a more complex algorithm wins.</a:t>
            </a:r>
          </a:p>
          <a:p xmlns:a="http://schemas.openxmlformats.org/drawingml/2006/main">
            <a:r>
              <a:t>Source: notebooks/SPC_ML_Demo.py and final executed synthetic-run evidence. Counts and outcomes are synthetic.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regressor predicts the next business-day count using history available at forecast time. The five-day comparison evaluates statistical models over multiple origins. Lower mean absolute error is better. Horizons and samples differ, so do not rank one-day and five-day methods against each other. Candidate selection uses earlier origins, with a final origin held aside.</a:t>
            </a:r>
          </a:p>
          <a:p xmlns:a="http://schemas.openxmlformats.org/drawingml/2006/main">
            <a:r>
              <a:t>Source: notebooks/SPC_ML_Demo.py and final executed synthetic-run evidence. Counts and outcomes are synthetic.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one episode and its lineage, source freshness and possible operational events. An automatically proposed hypothesis is a prompt to investigate. The notebook replay contains fictional dispositions and a prepared outbox. It does not send messages or establish real human review. A production reviewer can acknowledge, investigate, request data correction or close with evidence.</a:t>
            </a:r>
          </a:p>
          <a:p xmlns:a="http://schemas.openxmlformats.org/drawingml/2006/main">
            <a:r>
              <a:t>Source: notebooks/SPC_ML_Demo.py and final executed synthetic-run evidence. Counts and outcomes are synthetic.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training versus inference. Training learns parameters from the permitted earlier history. A persisted artifact stores the model. Loading it later and calling predict reuses those parameters without fitting again. Demonstrated local persistence and target-platform MLflow logging are separate proof levels.</a:t>
            </a:r>
          </a:p>
          <a:p xmlns:a="http://schemas.openxmlformats.org/drawingml/2006/main">
            <a:r>
              <a:t>Source: notebooks/SPC_ML_Demo.py and final executed synthetic-run evidence. Counts and outcomes are synthetic.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Input drift means feature distributions changed. Performance drift means error changes after actual outcomes arrive. Either can motivate investigation. Neither proves the cause. Demonstration thresholds are illustrative. A controlled exercise perturbs outcomes while retaining predictions to show watch and review states. No automatic retraining or deployment occurs.</a:t>
            </a:r>
          </a:p>
          <a:p xmlns:a="http://schemas.openxmlformats.org/drawingml/2006/main">
            <a:r>
              <a:t>Source: notebooks/SPC_ML_Demo.py and final executed synthetic-run evidence. Counts and outcomes are synthetic.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separating runnable demonstration capability from production acceptance. We can demonstrate the pipeline and decision records on synthetic data. A pilot needs approved representative data, a workload owner, outcome definitions and operating thresholds. Run it prospectively in shadow mode before promoting a model. No labor savings, real-world accuracy or historical agency outcomes are established.</a:t>
            </a:r>
          </a:p>
          <a:p xmlns:a="http://schemas.openxmlformats.org/drawingml/2006/main">
            <a:r>
              <a:t>Source: notebooks/SPC_ML_Demo.py and final executed synthetic-run evidence. Counts and outcomes are synthetic.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Technical reference. The daily table contains aggregate synthetic workload counts. Subgroup rows must reconcile to their parent. A rolling measurement row is not a daily-count row. Preserve time semantics across daily counts, features, episodes and forecasts.</a:t>
            </a:r>
          </a:p>
          <a:p xmlns:a="http://schemas.openxmlformats.org/drawingml/2006/main">
            <a:r>
              <a:t>Source: notebooks/SPC_ML_Demo.py and final executed synthetic-run evidence. Counts and outcomes are synthetic.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settings here match the notebook. The holdout classifier and rolling-fold candidates use different settings, so keep their experiments separate. Logistic regression standardizes inputs. Isolation Forest does not train on incident labels and its training-derived contamination heuristic does not reveal a true incident rate.</a:t>
            </a:r>
          </a:p>
          <a:p xmlns:a="http://schemas.openxmlformats.org/drawingml/2006/main">
            <a:r>
              <a:t>Source: notebooks/SPC_ML_Demo.py and final executed synthetic-run evidence. Counts and outcomes are synthetic.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Describe limitations before generalizing results. Synthetic labels and generation patterns are simplified. Chronological tests support ordering but do not establish broad external validity. Class imbalance makes accuracy insufficient. Prediction intervals and calibration require separate assessment where absent. Five-day subgroup forecasts are independent and need not reconcile to the aggregate.</a:t>
            </a:r>
          </a:p>
          <a:p xmlns:a="http://schemas.openxmlformats.org/drawingml/2006/main">
            <a:r>
              <a:t>Source: notebooks/SPC_ML_Demo.py and final executed synthetic-run evidence. Counts and outcomes are synthetic.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describes the intended production lifecycle, not verified live deployment. Daily jobs score new data with a versioned approved model, write appendable predictions, and wait for actual outcomes. Dashboards read persisted tables. An owner reviews alert burden and model performance. Data correction precedes retraining when appropriate.</a:t>
            </a:r>
          </a:p>
          <a:p xmlns:a="http://schemas.openxmlformats.org/drawingml/2006/main">
            <a:r>
              <a:t>Source: notebooks/SPC_ML_Demo.py and final executed synthetic-run evidence. Counts and outcomes are synthetic.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answers consistently. This is an aggregate workload demonstration, not case adjudication. It detects statistical patterns without proving operational cause. Synthetic experiments cannot demonstrate agency accuracy or labor savings. Local checks do not prove a scheduled Databricks job, delivered alert, live registry promotion or real operator acceptance.</a:t>
            </a:r>
          </a:p>
          <a:p xmlns:a="http://schemas.openxmlformats.org/drawingml/2006/main">
            <a:r>
              <a:t>Source: notebooks/SPC_ML_Demo.py and final executed synthetic-run evidence. Counts and outcomes are synthetic.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Alternate presenter: use slides 1–12 for the main narrative. Open the notebook before the session. Prefer the saved executed outputs if compute is unavailable. Demonstrate daily data, one SPC episode, classification comparison, forecasting, artifact reload and drift in that order. Keep the dashboard filtered to the same workload. Use the runbook for exact cells. Never silently substitute old result numbers.</a:t>
            </a:r>
          </a:p>
          <a:p xmlns:a="http://schemas.openxmlformats.org/drawingml/2006/main">
            <a:r>
              <a:t>Source: notebooks/SPC_ML_Demo.py and final executed synthetic-run evidence. Counts and outcomes are synthetic.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939a144966d4d1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5a468461e624bb6" /><Relationship Type="http://schemas.openxmlformats.org/officeDocument/2006/relationships/slideLayout" Target="/ppt/slideLayouts/slideLayout1.xml" Id="R5d8a2319178f4b0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d8a2319178f4b0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331c39afe0346c7" /><Relationship Type="http://schemas.openxmlformats.org/officeDocument/2006/relationships/notesSlide" Target="/ppt/notesSlides/notesSlide1.xml" Id="Rb3d332cf158642d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38cbdad41c74ebb" /><Relationship Type="http://schemas.openxmlformats.org/officeDocument/2006/relationships/notesSlide" Target="/ppt/notesSlides/notesSlide2.xml" Id="R53088e9243a7479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5a7fd0213e34544" /><Relationship Type="http://schemas.openxmlformats.org/officeDocument/2006/relationships/chart" Target="/ppt/slides/charts/chart1.xml" Id="Ra41772ae5a3a45f8" /><Relationship Type="http://schemas.openxmlformats.org/officeDocument/2006/relationships/notesSlide" Target="/ppt/notesSlides/notesSlide3.xml" Id="R3625cc4f398d45e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40e3fcaa3d949ca" /><Relationship Type="http://schemas.openxmlformats.org/officeDocument/2006/relationships/notesSlide" Target="/ppt/notesSlides/notesSlide4.xml" Id="Rd52a953e5af2444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d69cf98c5514442" /><Relationship Type="http://schemas.openxmlformats.org/officeDocument/2006/relationships/notesSlide" Target="/ppt/notesSlides/notesSlide5.xml" Id="R3dd3b518647645c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ae536ffef454221" /><Relationship Type="http://schemas.openxmlformats.org/officeDocument/2006/relationships/notesSlide" Target="/ppt/notesSlides/notesSlide6.xml" Id="R5725382f8372404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cbc7ca041944071" /><Relationship Type="http://schemas.openxmlformats.org/officeDocument/2006/relationships/notesSlide" Target="/ppt/notesSlides/notesSlide7.xml" Id="R7da5232c0495464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0b4bd1bba044526" /><Relationship Type="http://schemas.openxmlformats.org/officeDocument/2006/relationships/notesSlide" Target="/ppt/notesSlides/notesSlide8.xml" Id="Rb3b79846c9f140a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07b7cdc17f44d23" /><Relationship Type="http://schemas.openxmlformats.org/officeDocument/2006/relationships/notesSlide" Target="/ppt/notesSlides/notesSlide9.xml" Id="R76d932667452457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be870219a874458" /><Relationship Type="http://schemas.openxmlformats.org/officeDocument/2006/relationships/notesSlide" Target="/ppt/notesSlides/notesSlide10.xml" Id="R1f044c1f10e5430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bff73f41af4476e" /><Relationship Type="http://schemas.openxmlformats.org/officeDocument/2006/relationships/notesSlide" Target="/ppt/notesSlides/notesSlide11.xml" Id="R25779719de9e4b7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eec9f38c7a644d2" /><Relationship Type="http://schemas.openxmlformats.org/officeDocument/2006/relationships/notesSlide" Target="/ppt/notesSlides/notesSlide12.xml" Id="R69e14d2c4d0f45d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0f398c0520b4947" /><Relationship Type="http://schemas.openxmlformats.org/officeDocument/2006/relationships/notesSlide" Target="/ppt/notesSlides/notesSlide13.xml" Id="Rdd6fbe67418a42b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61d229984174d06" /><Relationship Type="http://schemas.openxmlformats.org/officeDocument/2006/relationships/notesSlide" Target="/ppt/notesSlides/notesSlide14.xml" Id="R06dcc527c50f40c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8fee3d0a3c64f13" /><Relationship Type="http://schemas.openxmlformats.org/officeDocument/2006/relationships/notesSlide" Target="/ppt/notesSlides/notesSlide15.xml" Id="R30c9d9792fc8460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dcfd231c063b4a01" /><Relationship Type="http://schemas.openxmlformats.org/officeDocument/2006/relationships/notesSlide" Target="/ppt/notesSlides/notesSlide16.xml" Id="R3845439a1bad4b2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c878d5d75014af7" /><Relationship Type="http://schemas.openxmlformats.org/officeDocument/2006/relationships/notesSlide" Target="/ppt/notesSlides/notesSlide17.xml" Id="Rc8f17bb80c8845b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1aba3898ce384e1b" /><Relationship Type="http://schemas.openxmlformats.org/officeDocument/2006/relationships/notesSlide" Target="/ppt/notesSlides/notesSlide18.xml" Id="Rfed8284a678e4d37"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lineChart>
        <c:grouping val="standard"/>
        <c:ser>
          <c:idx val="0"/>
          <c:order val="0"/>
          <c:tx>
            <c:v>Receipts A</c:v>
          </c:tx>
          <c:spPr>
            <a:ln xmlns:a="http://schemas.openxmlformats.org/drawingml/2006/main" w="28575">
              <a:solidFill>
                <a:srgbClr val="007C83"/>
              </a:solidFill>
            </a:ln>
          </c:spPr>
          <c:marker>
            <c:symbol val="none"/>
          </c:marker>
          <c:cat>
            <c:numRef>
              <c:f>'Chart Data'!$A$2:$A$31</c:f>
              <c:numCache>
                <c:formatCode>General</c:formatCode>
                <c:ptCount val="3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numCache>
            </c:numRef>
          </c:cat>
          <c:val>
            <c:numRef>
              <c:f>'Chart Data'!$B$2:$B$31</c:f>
              <c:numCache>
                <c:formatCode>0</c:formatCode>
                <c:ptCount val="30"/>
                <c:pt idx="0">
                  <c:v>850</c:v>
                </c:pt>
                <c:pt idx="1">
                  <c:v>1130</c:v>
                </c:pt>
                <c:pt idx="2">
                  <c:v>1070</c:v>
                </c:pt>
                <c:pt idx="3">
                  <c:v>1130</c:v>
                </c:pt>
                <c:pt idx="4">
                  <c:v>1150</c:v>
                </c:pt>
                <c:pt idx="5">
                  <c:v>1120</c:v>
                </c:pt>
                <c:pt idx="6">
                  <c:v>1210</c:v>
                </c:pt>
                <c:pt idx="7">
                  <c:v>1140</c:v>
                </c:pt>
                <c:pt idx="8">
                  <c:v>1140</c:v>
                </c:pt>
                <c:pt idx="9">
                  <c:v>990</c:v>
                </c:pt>
                <c:pt idx="10">
                  <c:v>1080</c:v>
                </c:pt>
                <c:pt idx="11">
                  <c:v>1150</c:v>
                </c:pt>
                <c:pt idx="12">
                  <c:v>1210</c:v>
                </c:pt>
                <c:pt idx="13">
                  <c:v>1040</c:v>
                </c:pt>
                <c:pt idx="14">
                  <c:v>1130</c:v>
                </c:pt>
                <c:pt idx="15">
                  <c:v>1070</c:v>
                </c:pt>
                <c:pt idx="16">
                  <c:v>1120</c:v>
                </c:pt>
                <c:pt idx="17">
                  <c:v>1210</c:v>
                </c:pt>
                <c:pt idx="18">
                  <c:v>860</c:v>
                </c:pt>
                <c:pt idx="19">
                  <c:v>930</c:v>
                </c:pt>
                <c:pt idx="20">
                  <c:v>940</c:v>
                </c:pt>
                <c:pt idx="21">
                  <c:v>870</c:v>
                </c:pt>
                <c:pt idx="22">
                  <c:v>1040</c:v>
                </c:pt>
                <c:pt idx="23">
                  <c:v>1160</c:v>
                </c:pt>
                <c:pt idx="24">
                  <c:v>1040</c:v>
                </c:pt>
                <c:pt idx="25">
                  <c:v>1120</c:v>
                </c:pt>
                <c:pt idx="26">
                  <c:v>1250</c:v>
                </c:pt>
                <c:pt idx="27">
                  <c:v>1260</c:v>
                </c:pt>
                <c:pt idx="28">
                  <c:v>1070</c:v>
                </c:pt>
                <c:pt idx="29">
                  <c:v>1220</c:v>
                </c:pt>
              </c:numCache>
            </c:numRef>
          </c:val>
        </c:ser>
        <c:ser>
          <c:idx val="1"/>
          <c:order val="1"/>
          <c:tx>
            <c:v>Receipts B</c:v>
          </c:tx>
          <c:spPr>
            <a:ln xmlns:a="http://schemas.openxmlformats.org/drawingml/2006/main" w="28575">
              <a:solidFill>
                <a:srgbClr val="BC6C25"/>
              </a:solidFill>
            </a:ln>
          </c:spPr>
          <c:marker>
            <c:symbol val="none"/>
          </c:marker>
          <c:cat>
            <c:numRef>
              <c:f>'Chart Data'!$C$2:$C$31</c:f>
              <c:numCache>
                <c:formatCode>General</c:formatCode>
                <c:ptCount val="3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numCache>
            </c:numRef>
          </c:cat>
          <c:val>
            <c:numRef>
              <c:f>'Chart Data'!$D$2:$D$31</c:f>
              <c:numCache>
                <c:formatCode>0</c:formatCode>
                <c:ptCount val="30"/>
                <c:pt idx="0">
                  <c:v>700</c:v>
                </c:pt>
                <c:pt idx="1">
                  <c:v>680</c:v>
                </c:pt>
                <c:pt idx="2">
                  <c:v>660</c:v>
                </c:pt>
                <c:pt idx="3">
                  <c:v>740</c:v>
                </c:pt>
                <c:pt idx="4">
                  <c:v>750</c:v>
                </c:pt>
                <c:pt idx="5">
                  <c:v>680</c:v>
                </c:pt>
                <c:pt idx="6">
                  <c:v>780</c:v>
                </c:pt>
                <c:pt idx="7">
                  <c:v>820</c:v>
                </c:pt>
                <c:pt idx="8">
                  <c:v>790</c:v>
                </c:pt>
                <c:pt idx="9">
                  <c:v>860</c:v>
                </c:pt>
                <c:pt idx="10">
                  <c:v>860</c:v>
                </c:pt>
                <c:pt idx="11">
                  <c:v>690</c:v>
                </c:pt>
                <c:pt idx="12">
                  <c:v>920</c:v>
                </c:pt>
                <c:pt idx="13">
                  <c:v>680</c:v>
                </c:pt>
                <c:pt idx="14">
                  <c:v>820</c:v>
                </c:pt>
                <c:pt idx="15">
                  <c:v>760</c:v>
                </c:pt>
                <c:pt idx="16">
                  <c:v>740</c:v>
                </c:pt>
                <c:pt idx="17">
                  <c:v>600</c:v>
                </c:pt>
                <c:pt idx="18">
                  <c:v>720</c:v>
                </c:pt>
                <c:pt idx="19">
                  <c:v>580</c:v>
                </c:pt>
                <c:pt idx="20">
                  <c:v>840</c:v>
                </c:pt>
                <c:pt idx="21">
                  <c:v>920</c:v>
                </c:pt>
                <c:pt idx="22">
                  <c:v>700</c:v>
                </c:pt>
                <c:pt idx="23">
                  <c:v>760</c:v>
                </c:pt>
                <c:pt idx="24">
                  <c:v>660</c:v>
                </c:pt>
                <c:pt idx="25">
                  <c:v>690</c:v>
                </c:pt>
                <c:pt idx="26">
                  <c:v>850</c:v>
                </c:pt>
                <c:pt idx="27">
                  <c:v>760</c:v>
                </c:pt>
                <c:pt idx="28">
                  <c:v>890</c:v>
                </c:pt>
                <c:pt idx="29">
                  <c:v>680</c:v>
                </c:pt>
              </c:numCache>
            </c:numRef>
          </c:val>
        </c:ser>
        <c:ser>
          <c:idx val="2"/>
          <c:order val="2"/>
          <c:tx>
            <c:v>Completions A</c:v>
          </c:tx>
          <c:spPr>
            <a:ln xmlns:a="http://schemas.openxmlformats.org/drawingml/2006/main" w="28575">
              <a:solidFill>
                <a:srgbClr val="315B9B"/>
              </a:solidFill>
            </a:ln>
          </c:spPr>
          <c:marker>
            <c:symbol val="none"/>
          </c:marker>
          <c:cat>
            <c:numRef>
              <c:f>'Chart Data'!$E$2:$E$31</c:f>
              <c:numCache>
                <c:formatCode>General</c:formatCode>
                <c:ptCount val="3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numCache>
            </c:numRef>
          </c:cat>
          <c:val>
            <c:numRef>
              <c:f>'Chart Data'!$F$2:$F$31</c:f>
              <c:numCache>
                <c:formatCode>0</c:formatCode>
                <c:ptCount val="30"/>
                <c:pt idx="0">
                  <c:v>920</c:v>
                </c:pt>
                <c:pt idx="1">
                  <c:v>910</c:v>
                </c:pt>
                <c:pt idx="2">
                  <c:v>980</c:v>
                </c:pt>
                <c:pt idx="3">
                  <c:v>870</c:v>
                </c:pt>
                <c:pt idx="4">
                  <c:v>850</c:v>
                </c:pt>
                <c:pt idx="5">
                  <c:v>970</c:v>
                </c:pt>
                <c:pt idx="6">
                  <c:v>930</c:v>
                </c:pt>
                <c:pt idx="7">
                  <c:v>980</c:v>
                </c:pt>
                <c:pt idx="8">
                  <c:v>950</c:v>
                </c:pt>
                <c:pt idx="9">
                  <c:v>800</c:v>
                </c:pt>
                <c:pt idx="10">
                  <c:v>890</c:v>
                </c:pt>
                <c:pt idx="11">
                  <c:v>1110</c:v>
                </c:pt>
                <c:pt idx="12">
                  <c:v>840</c:v>
                </c:pt>
                <c:pt idx="13">
                  <c:v>710</c:v>
                </c:pt>
                <c:pt idx="14">
                  <c:v>730</c:v>
                </c:pt>
                <c:pt idx="15">
                  <c:v>940</c:v>
                </c:pt>
                <c:pt idx="16">
                  <c:v>970</c:v>
                </c:pt>
                <c:pt idx="17">
                  <c:v>950</c:v>
                </c:pt>
                <c:pt idx="18">
                  <c:v>1040</c:v>
                </c:pt>
                <c:pt idx="19">
                  <c:v>640</c:v>
                </c:pt>
                <c:pt idx="20">
                  <c:v>980</c:v>
                </c:pt>
                <c:pt idx="21">
                  <c:v>1120</c:v>
                </c:pt>
                <c:pt idx="22">
                  <c:v>840</c:v>
                </c:pt>
                <c:pt idx="23">
                  <c:v>880</c:v>
                </c:pt>
                <c:pt idx="24">
                  <c:v>840</c:v>
                </c:pt>
                <c:pt idx="25">
                  <c:v>850</c:v>
                </c:pt>
                <c:pt idx="26">
                  <c:v>940</c:v>
                </c:pt>
                <c:pt idx="27">
                  <c:v>1100</c:v>
                </c:pt>
                <c:pt idx="28">
                  <c:v>1110</c:v>
                </c:pt>
                <c:pt idx="29">
                  <c:v>880</c:v>
                </c:pt>
              </c:numCache>
            </c:numRef>
          </c: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Helvetica Neue"/>
                    <a:ea typeface="Helvetica Neue"/>
                    <a:cs typeface="Helvetica Neue"/>
                  </a:rPr>
                  <a:t>Business days (latest observations)</a:t>
                </a:r>
              </a:p>
            </c:rich>
          </c:tx>
          <c:overlay val="0"/>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Helvetica Neue"/>
                <a:ea typeface="Helvetica Neue"/>
                <a:cs typeface="Helvetica Neue"/>
              </a:defRPr>
            </a:pPr>
          </a:p>
        </c:txPr>
        <c:crossAx val="48672768"/>
      </c:catAx>
      <c:valAx>
        <c:axId val="48672768"/>
        <c:scaling>
          <c:orientation val="minMax"/>
        </c:scaling>
        <c:delete val="0"/>
        <c:axPos val="l"/>
        <c:title>
          <c:tx>
            <c:rich>
              <a:bodyPr xmlns:a="http://schemas.openxmlformats.org/drawingml/2006/main"/>
              <a:lstStyle xmlns:a="http://schemas.openxmlformats.org/drawingml/2006/main"/>
              <a:p xmlns:a="http://schemas.openxmlformats.org/drawingml/2006/main">
                <a:r>
                  <a:rPr>
                    <a:latin typeface="Helvetica Neue"/>
                    <a:ea typeface="Helvetica Neue"/>
                    <a:cs typeface="Helvetica Neue"/>
                  </a:rPr>
                  <a:t>Daily application count</a:t>
                </a:r>
              </a:p>
            </c:rich>
          </c:tx>
          <c:overlay val="0"/>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500">
              <a:latin typeface="Helvetica Neue"/>
              <a:ea typeface="Helvetica Neue"/>
              <a:cs typeface="Helvetica Neue"/>
            </a:defRPr>
          </a:pPr>
        </a:p>
      </c:txPr>
    </c:legend>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52C3A"/>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0E9DF6D-CFB3-4463-84F6-D945A6A5E109}"/>
              </a:ext>
            </a:extLst>
          </p:cNvPr>
          <p:cNvSpPr>
            <a:spLocks xmlns:a="http://schemas.openxmlformats.org/drawingml/2006/main" noGrp="1"/>
          </p:cNvSpPr>
          <p:nvPr/>
        </p:nvSpPr>
        <p:spPr>
          <a:xfrm xmlns:a="http://schemas.openxmlformats.org/drawingml/2006/main">
            <a:off x="666750" y="47625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Helvetica Neue"/>
                <a:ea typeface="Helvetica Neue"/>
                <a:cs typeface="Helvetica Neue"/>
              </a:defRPr>
            </a:pPr>
            <a:r>
              <a:rPr sz="3150" b="1">
                <a:solidFill>
                  <a:srgbClr val="FFFFFF"/>
                </a:solidFill>
                <a:latin typeface="Helvetica Neue"/>
                <a:ea typeface="Helvetica Neue"/>
                <a:cs typeface="Helvetica Neue"/>
              </a:rPr>
              <a:t>Daily application volumes</a:t>
            </a:r>
          </a:p>
          <a:p xmlns:a="http://schemas.openxmlformats.org/drawingml/2006/main">
            <a:pPr>
              <a:defRPr sz="3150" b="1">
                <a:solidFill>
                  <a:srgbClr val="FFFFFF"/>
                </a:solidFill>
                <a:latin typeface="Helvetica Neue"/>
                <a:ea typeface="Helvetica Neue"/>
                <a:cs typeface="Helvetica Neue"/>
              </a:defRPr>
            </a:pPr>
            <a:r>
              <a:rPr sz="3150" b="1">
                <a:solidFill>
                  <a:srgbClr val="FFFFFF"/>
                </a:solidFill>
                <a:latin typeface="Helvetica Neue"/>
                <a:ea typeface="Helvetica Neue"/>
                <a:cs typeface="Helvetica Neue"/>
              </a:rPr>
              <a:t>SPC and machine learning</a:t>
            </a:r>
          </a:p>
        </p:txBody>
      </p:sp>
      <p:sp>
        <p:nvSpPr>
          <p:cNvPr id="2" name="">
            <a:extLst xmlns:a="http://schemas.openxmlformats.org/drawingml/2006/main">
              <a:ext uri="{FF2B5EF4-FFF2-40B4-BE49-F238E27FC236}">
                <a16:creationId xmlns:a16="http://schemas.microsoft.com/office/drawing/2014/main" id="{8A97C45E-DECC-4611-82B7-E66B10A005AE}"/>
              </a:ext>
            </a:extLst>
          </p:cNvPr>
          <p:cNvSpPr>
            <a:spLocks xmlns:a="http://schemas.openxmlformats.org/drawingml/2006/main" noGrp="1"/>
          </p:cNvSpPr>
          <p:nvPr/>
        </p:nvSpPr>
        <p:spPr>
          <a:xfrm xmlns:a="http://schemas.openxmlformats.org/drawingml/2006/main">
            <a:off x="11239500" y="633412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C7DBDE"/>
                </a:solidFill>
                <a:latin typeface="Helvetica Neue"/>
                <a:ea typeface="Helvetica Neue"/>
                <a:cs typeface="Helvetica Neue"/>
              </a:defRPr>
            </a:pPr>
            <a:r>
              <a:rPr sz="1350" b="0">
                <a:solidFill>
                  <a:srgbClr val="C7DBDE"/>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8A8D6C8A-1D55-4F52-B33F-AE0E73B07772}"/>
              </a:ext>
            </a:extLst>
          </p:cNvPr>
          <p:cNvSpPr>
            <a:spLocks xmlns:a="http://schemas.openxmlformats.org/drawingml/2006/main" noGrp="1"/>
          </p:cNvSpPr>
          <p:nvPr/>
        </p:nvSpPr>
        <p:spPr>
          <a:xfrm xmlns:a="http://schemas.openxmlformats.org/drawingml/2006/main">
            <a:off x="714375" y="300037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8EDCDA"/>
                </a:solidFill>
                <a:latin typeface="Helvetica Neue"/>
                <a:ea typeface="Helvetica Neue"/>
                <a:cs typeface="Helvetica Neue"/>
              </a:defRPr>
            </a:pPr>
            <a:r>
              <a:rPr sz="2550" b="0">
                <a:solidFill>
                  <a:srgbClr val="8EDCDA"/>
                </a:solidFill>
                <a:latin typeface="Helvetica Neue"/>
                <a:ea typeface="Helvetica Neue"/>
                <a:cs typeface="Helvetica Neue"/>
              </a:rPr>
              <a:t>An unusual pattern starts an analyst review</a:t>
            </a:r>
          </a:p>
        </p:txBody>
      </p:sp>
      <p:sp>
        <p:nvSpPr>
          <p:cNvPr id="4" name="">
            <a:extLst xmlns:a="http://schemas.openxmlformats.org/drawingml/2006/main">
              <a:ext uri="{FF2B5EF4-FFF2-40B4-BE49-F238E27FC236}">
                <a16:creationId xmlns:a16="http://schemas.microsoft.com/office/drawing/2014/main" id="{CC3039FD-32D4-4EA1-A27D-48060258A8FC}"/>
              </a:ext>
            </a:extLst>
          </p:cNvPr>
          <p:cNvSpPr>
            <a:spLocks xmlns:a="http://schemas.openxmlformats.org/drawingml/2006/main" noGrp="1"/>
          </p:cNvSpPr>
          <p:nvPr/>
        </p:nvSpPr>
        <p:spPr>
          <a:xfrm xmlns:a="http://schemas.openxmlformats.org/drawingml/2006/main">
            <a:off x="714375" y="4667250"/>
            <a:ext cx="10096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FFFFFF"/>
                </a:solidFill>
                <a:latin typeface="Helvetica Neue"/>
                <a:ea typeface="Helvetica Neue"/>
                <a:cs typeface="Helvetica Neue"/>
              </a:defRPr>
            </a:pPr>
            <a:r>
              <a:rPr sz="2025" b="0">
                <a:solidFill>
                  <a:srgbClr val="FFFFFF"/>
                </a:solidFill>
                <a:latin typeface="Helvetica Neue"/>
                <a:ea typeface="Helvetica Neue"/>
                <a:cs typeface="Helvetica Neue"/>
              </a:rPr>
              <a:t>Synthetic receipts and completions</a:t>
            </a:r>
          </a:p>
          <a:p xmlns:a="http://schemas.openxmlformats.org/drawingml/2006/main">
            <a:pPr>
              <a:defRPr sz="2025" b="0">
                <a:solidFill>
                  <a:srgbClr val="FFFFFF"/>
                </a:solidFill>
                <a:latin typeface="Helvetica Neue"/>
                <a:ea typeface="Helvetica Neue"/>
                <a:cs typeface="Helvetica Neue"/>
              </a:defRPr>
            </a:pPr>
            <a:r>
              <a:rPr sz="2025" b="0">
                <a:solidFill>
                  <a:srgbClr val="FFFFFF"/>
                </a:solidFill>
                <a:latin typeface="Helvetica Neue"/>
                <a:ea typeface="Helvetica Neue"/>
                <a:cs typeface="Helvetica Neue"/>
              </a:rPr>
              <a:t>A reproducible Databricks demonstration</a:t>
            </a:r>
          </a:p>
        </p:txBody>
      </p:sp>
    </p:spTree>
    <p:extLst>
      <p:ext uri="{BB962C8B-B14F-4D97-AF65-F5344CB8AC3E}">
        <p14:creationId xmlns:p14="http://schemas.microsoft.com/office/powerpoint/2010/main" val="46765423"/>
      </p:ext>
    </p:extLst>
  </p:cSld>
</p:sld>
</file>

<file path=ppt/slides/slide2.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30B74DF-EA76-42E7-A85B-F4E9129F6A86}"/>
              </a:ext>
            </a:extLst>
          </p:cNvPr>
          <p:cNvSpPr>
            <a:spLocks xmlns:a="http://schemas.openxmlformats.org/drawingml/2006/main" noGrp="1"/>
          </p:cNvSpPr>
          <p:nvPr/>
        </p:nvSpPr>
        <p:spPr>
          <a:xfrm xmlns:a="http://schemas.openxmlformats.org/drawingml/2006/main">
            <a:off x="666750" y="47625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152C3A"/>
                </a:solidFill>
                <a:latin typeface="Helvetica Neue"/>
                <a:ea typeface="Helvetica Neue"/>
                <a:cs typeface="Helvetica Neue"/>
              </a:defRPr>
            </a:pPr>
            <a:r>
              <a:rPr sz="3150" b="1">
                <a:solidFill>
                  <a:srgbClr val="152C3A"/>
                </a:solidFill>
                <a:latin typeface="Helvetica Neue"/>
                <a:ea typeface="Helvetica Neue"/>
                <a:cs typeface="Helvetica Neue"/>
              </a:rPr>
              <a:t>The operational question</a:t>
            </a:r>
          </a:p>
        </p:txBody>
      </p:sp>
      <p:sp>
        <p:nvSpPr>
          <p:cNvPr id="2" name="">
            <a:extLst xmlns:a="http://schemas.openxmlformats.org/drawingml/2006/main">
              <a:ext uri="{FF2B5EF4-FFF2-40B4-BE49-F238E27FC236}">
                <a16:creationId xmlns:a16="http://schemas.microsoft.com/office/drawing/2014/main" id="{ECF06EA2-5C87-4A24-97B6-77A9D9D54DA7}"/>
              </a:ext>
            </a:extLst>
          </p:cNvPr>
          <p:cNvSpPr>
            <a:spLocks xmlns:a="http://schemas.openxmlformats.org/drawingml/2006/main" noGrp="1"/>
          </p:cNvSpPr>
          <p:nvPr/>
        </p:nvSpPr>
        <p:spPr>
          <a:xfrm xmlns:a="http://schemas.openxmlformats.org/drawingml/2006/main">
            <a:off x="11239500" y="633412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874"/>
                </a:solidFill>
                <a:latin typeface="Helvetica Neue"/>
                <a:ea typeface="Helvetica Neue"/>
                <a:cs typeface="Helvetica Neue"/>
              </a:defRPr>
            </a:pPr>
            <a:r>
              <a:rPr sz="1350" b="0">
                <a:solidFill>
                  <a:srgbClr val="526874"/>
                </a:solidFill>
                <a:latin typeface="Helvetica Neue"/>
                <a:ea typeface="Helvetica Neue"/>
                <a:cs typeface="Helvetica Neue"/>
              </a:rPr>
              <a:t>02</a:t>
            </a:r>
          </a:p>
        </p:txBody>
      </p:sp>
      <p:sp>
        <p:nvSpPr>
          <p:cNvPr id="3" name="">
            <a:extLst xmlns:a="http://schemas.openxmlformats.org/drawingml/2006/main">
              <a:ext uri="{FF2B5EF4-FFF2-40B4-BE49-F238E27FC236}">
                <a16:creationId xmlns:a16="http://schemas.microsoft.com/office/drawing/2014/main" id="{C51B387E-BFBE-42CF-B19C-19E98A4B42BC}"/>
              </a:ext>
            </a:extLst>
          </p:cNvPr>
          <p:cNvSpPr>
            <a:spLocks xmlns:a="http://schemas.openxmlformats.org/drawingml/2006/main" noGrp="1"/>
          </p:cNvSpPr>
          <p:nvPr/>
        </p:nvSpPr>
        <p:spPr>
          <a:xfrm xmlns:a="http://schemas.openxmlformats.org/drawingml/2006/main">
            <a:off x="714375" y="171450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C3A"/>
                </a:solidFill>
                <a:latin typeface="Helvetica Neue"/>
                <a:ea typeface="Helvetica Neue"/>
                <a:cs typeface="Helvetica Neue"/>
              </a:defRPr>
            </a:pPr>
            <a:r>
              <a:rPr sz="2175" b="0">
                <a:solidFill>
                  <a:srgbClr val="152C3A"/>
                </a:solidFill>
                <a:latin typeface="Helvetica Neue"/>
                <a:ea typeface="Helvetica Neue"/>
                <a:cs typeface="Helvetica Neue"/>
              </a:rPr>
              <a:t>Daily counts arrive for receipts and completions.</a:t>
            </a:r>
          </a:p>
        </p:txBody>
      </p:sp>
      <p:sp>
        <p:nvSpPr>
          <p:cNvPr id="4" name="">
            <a:extLst xmlns:a="http://schemas.openxmlformats.org/drawingml/2006/main">
              <a:ext uri="{FF2B5EF4-FFF2-40B4-BE49-F238E27FC236}">
                <a16:creationId xmlns:a16="http://schemas.microsoft.com/office/drawing/2014/main" id="{65758F96-0472-4C12-9BD3-E43736457DD4}"/>
              </a:ext>
            </a:extLst>
          </p:cNvPr>
          <p:cNvSpPr>
            <a:spLocks xmlns:a="http://schemas.openxmlformats.org/drawingml/2006/main" noGrp="1"/>
          </p:cNvSpPr>
          <p:nvPr/>
        </p:nvSpPr>
        <p:spPr>
          <a:xfrm xmlns:a="http://schemas.openxmlformats.org/drawingml/2006/main">
            <a:off x="714375" y="266700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C3A"/>
                </a:solidFill>
                <a:latin typeface="Helvetica Neue"/>
                <a:ea typeface="Helvetica Neue"/>
                <a:cs typeface="Helvetica Neue"/>
              </a:defRPr>
            </a:pPr>
            <a:r>
              <a:rPr sz="2175" b="0">
                <a:solidFill>
                  <a:srgbClr val="152C3A"/>
                </a:solidFill>
                <a:latin typeface="Helvetica Neue"/>
                <a:ea typeface="Helvetica Neue"/>
                <a:cs typeface="Helvetica Neue"/>
              </a:rPr>
              <a:t>A change may reflect workload, an operating change or a data issue.</a:t>
            </a:r>
          </a:p>
        </p:txBody>
      </p:sp>
      <p:sp>
        <p:nvSpPr>
          <p:cNvPr id="5" name="">
            <a:extLst xmlns:a="http://schemas.openxmlformats.org/drawingml/2006/main">
              <a:ext uri="{FF2B5EF4-FFF2-40B4-BE49-F238E27FC236}">
                <a16:creationId xmlns:a16="http://schemas.microsoft.com/office/drawing/2014/main" id="{9EF74A31-EB00-48C5-B3EA-F4167AA097AE}"/>
              </a:ext>
            </a:extLst>
          </p:cNvPr>
          <p:cNvSpPr>
            <a:spLocks xmlns:a="http://schemas.openxmlformats.org/drawingml/2006/main" noGrp="1"/>
          </p:cNvSpPr>
          <p:nvPr/>
        </p:nvSpPr>
        <p:spPr>
          <a:xfrm xmlns:a="http://schemas.openxmlformats.org/drawingml/2006/main">
            <a:off x="714375" y="361950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C3A"/>
                </a:solidFill>
                <a:latin typeface="Helvetica Neue"/>
                <a:ea typeface="Helvetica Neue"/>
                <a:cs typeface="Helvetica Neue"/>
              </a:defRPr>
            </a:pPr>
            <a:r>
              <a:rPr sz="2175" b="0">
                <a:solidFill>
                  <a:srgbClr val="152C3A"/>
                </a:solidFill>
                <a:latin typeface="Helvetica Neue"/>
                <a:ea typeface="Helvetica Neue"/>
                <a:cs typeface="Helvetica Neue"/>
              </a:rPr>
              <a:t>An analyst checks the evidence and records a disposition.</a:t>
            </a:r>
          </a:p>
        </p:txBody>
      </p:sp>
      <p:sp>
        <p:nvSpPr>
          <p:cNvPr id="6" name="">
            <a:extLst xmlns:a="http://schemas.openxmlformats.org/drawingml/2006/main">
              <a:ext uri="{FF2B5EF4-FFF2-40B4-BE49-F238E27FC236}">
                <a16:creationId xmlns:a16="http://schemas.microsoft.com/office/drawing/2014/main" id="{B0B86CE9-B4AB-4600-88E9-0293F4D53245}"/>
              </a:ext>
            </a:extLst>
          </p:cNvPr>
          <p:cNvSpPr>
            <a:spLocks xmlns:a="http://schemas.openxmlformats.org/drawingml/2006/main" noGrp="1"/>
          </p:cNvSpPr>
          <p:nvPr/>
        </p:nvSpPr>
        <p:spPr>
          <a:xfrm xmlns:a="http://schemas.openxmlformats.org/drawingml/2006/main">
            <a:off x="714375" y="457200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C3A"/>
                </a:solidFill>
                <a:latin typeface="Helvetica Neue"/>
                <a:ea typeface="Helvetica Neue"/>
                <a:cs typeface="Helvetica Neue"/>
              </a:defRPr>
            </a:pPr>
            <a:r>
              <a:rPr sz="2175" b="0">
                <a:solidFill>
                  <a:srgbClr val="152C3A"/>
                </a:solidFill>
                <a:latin typeface="Helvetica Neue"/>
                <a:ea typeface="Helvetica Neue"/>
                <a:cs typeface="Helvetica Neue"/>
              </a:rPr>
              <a:t>Future-volume estimates support a separate planning discussion.</a:t>
            </a:r>
          </a:p>
        </p:txBody>
      </p:sp>
    </p:spTree>
    <p:extLst>
      <p:ext uri="{BB962C8B-B14F-4D97-AF65-F5344CB8AC3E}">
        <p14:creationId xmlns:p14="http://schemas.microsoft.com/office/powerpoint/2010/main" val="1459225761"/>
      </p:ext>
    </p:extLst>
  </p:cSld>
</p:sld>
</file>

<file path=ppt/slides/slide3.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E203C31-3AF6-4A3E-A356-D09F0504BE12}"/>
              </a:ext>
            </a:extLst>
          </p:cNvPr>
          <p:cNvSpPr>
            <a:spLocks xmlns:a="http://schemas.openxmlformats.org/drawingml/2006/main" noGrp="1"/>
          </p:cNvSpPr>
          <p:nvPr/>
        </p:nvSpPr>
        <p:spPr>
          <a:xfrm xmlns:a="http://schemas.openxmlformats.org/drawingml/2006/main">
            <a:off x="666750" y="47625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152C3A"/>
                </a:solidFill>
                <a:latin typeface="Helvetica Neue"/>
                <a:ea typeface="Helvetica Neue"/>
                <a:cs typeface="Helvetica Neue"/>
              </a:defRPr>
            </a:pPr>
            <a:r>
              <a:rPr sz="3150" b="1">
                <a:solidFill>
                  <a:srgbClr val="152C3A"/>
                </a:solidFill>
                <a:latin typeface="Helvetica Neue"/>
                <a:ea typeface="Helvetica Neue"/>
                <a:cs typeface="Helvetica Neue"/>
              </a:rPr>
              <a:t>Synthetic daily counts</a:t>
            </a:r>
          </a:p>
        </p:txBody>
      </p:sp>
      <p:sp>
        <p:nvSpPr>
          <p:cNvPr id="2" name="">
            <a:extLst xmlns:a="http://schemas.openxmlformats.org/drawingml/2006/main">
              <a:ext uri="{FF2B5EF4-FFF2-40B4-BE49-F238E27FC236}">
                <a16:creationId xmlns:a16="http://schemas.microsoft.com/office/drawing/2014/main" id="{5B475D8D-9765-436A-BBA1-9AB1896D4D7B}"/>
              </a:ext>
            </a:extLst>
          </p:cNvPr>
          <p:cNvSpPr>
            <a:spLocks xmlns:a="http://schemas.openxmlformats.org/drawingml/2006/main" noGrp="1"/>
          </p:cNvSpPr>
          <p:nvPr/>
        </p:nvSpPr>
        <p:spPr>
          <a:xfrm xmlns:a="http://schemas.openxmlformats.org/drawingml/2006/main">
            <a:off x="11239500" y="633412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874"/>
                </a:solidFill>
                <a:latin typeface="Helvetica Neue"/>
                <a:ea typeface="Helvetica Neue"/>
                <a:cs typeface="Helvetica Neue"/>
              </a:defRPr>
            </a:pPr>
            <a:r>
              <a:rPr sz="1350" b="0">
                <a:solidFill>
                  <a:srgbClr val="526874"/>
                </a:solidFill>
                <a:latin typeface="Helvetica Neue"/>
                <a:ea typeface="Helvetica Neue"/>
                <a:cs typeface="Helvetica Neue"/>
              </a:rPr>
              <a:t>03</a:t>
            </a:r>
          </a:p>
        </p:txBody>
      </p:sp>
      <p:graphicFrame>
        <p:nvGraphicFramePr>
          <p:cNvPr id="7" name="Chart"/>
          <p:cNvGraphicFramePr/>
          <p:nvPr/>
        </p:nvGraphicFramePr>
        <p:xfrm>
          <a:off xmlns:a="http://schemas.openxmlformats.org/drawingml/2006/main" x="714375" y="1666875"/>
          <a:ext xmlns:a="http://schemas.openxmlformats.org/drawingml/2006/main" cx="10668000" cy="3667125"/>
        </p:xfrm>
        <a:graphic xmlns:a="http://schemas.openxmlformats.org/drawingml/2006/main">
          <a:graphicData uri="http://schemas.openxmlformats.org/drawingml/2006/chart">
            <c:chart xmlns:r="http://schemas.openxmlformats.org/officeDocument/2006/relationships" xmlns:c="http://schemas.openxmlformats.org/drawingml/2006/chart" r:id="Ra41772ae5a3a45f8"/>
          </a:graphicData>
        </a:graphic>
      </p:graphicFrame>
      <p:sp>
        <p:nvSpPr>
          <p:cNvPr id="4" name="">
            <a:extLst xmlns:a="http://schemas.openxmlformats.org/drawingml/2006/main">
              <a:ext uri="{FF2B5EF4-FFF2-40B4-BE49-F238E27FC236}">
                <a16:creationId xmlns:a16="http://schemas.microsoft.com/office/drawing/2014/main" id="{2EF50146-25C1-46A1-9E95-A7023E690A45}"/>
              </a:ext>
            </a:extLst>
          </p:cNvPr>
          <p:cNvSpPr>
            <a:spLocks xmlns:a="http://schemas.openxmlformats.org/drawingml/2006/main" noGrp="1"/>
          </p:cNvSpPr>
          <p:nvPr/>
        </p:nvSpPr>
        <p:spPr>
          <a:xfrm xmlns:a="http://schemas.openxmlformats.org/drawingml/2006/main">
            <a:off x="714375" y="5619750"/>
            <a:ext cx="1057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874"/>
                </a:solidFill>
                <a:latin typeface="Helvetica Neue"/>
                <a:ea typeface="Helvetica Neue"/>
                <a:cs typeface="Helvetica Neue"/>
              </a:defRPr>
            </a:pPr>
            <a:r>
              <a:rPr sz="1800" b="0">
                <a:solidFill>
                  <a:srgbClr val="526874"/>
                </a:solidFill>
                <a:latin typeface="Helvetica Neue"/>
                <a:ea typeface="Helvetica Neue"/>
                <a:cs typeface="Helvetica Neue"/>
              </a:rPr>
              <a:t>1,179,830 synthetic event rows aggregate to 1,260 daily observations across 3 series and 420 business dates.</a:t>
            </a:r>
          </a:p>
        </p:txBody>
      </p:sp>
    </p:spTree>
    <p:extLst>
      <p:ext uri="{BB962C8B-B14F-4D97-AF65-F5344CB8AC3E}">
        <p14:creationId xmlns:p14="http://schemas.microsoft.com/office/powerpoint/2010/main" val="2116310611"/>
      </p:ext>
    </p:extLst>
  </p:cSld>
</p:sld>
</file>

<file path=ppt/slides/slide4.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1865F79-375D-4145-8B09-D758AA5CCC58}"/>
              </a:ext>
            </a:extLst>
          </p:cNvPr>
          <p:cNvSpPr>
            <a:spLocks xmlns:a="http://schemas.openxmlformats.org/drawingml/2006/main" noGrp="1"/>
          </p:cNvSpPr>
          <p:nvPr/>
        </p:nvSpPr>
        <p:spPr>
          <a:xfrm xmlns:a="http://schemas.openxmlformats.org/drawingml/2006/main">
            <a:off x="666750" y="47625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152C3A"/>
                </a:solidFill>
                <a:latin typeface="Helvetica Neue"/>
                <a:ea typeface="Helvetica Neue"/>
                <a:cs typeface="Helvetica Neue"/>
              </a:defRPr>
            </a:pPr>
            <a:r>
              <a:rPr sz="3150" b="1">
                <a:solidFill>
                  <a:srgbClr val="152C3A"/>
                </a:solidFill>
                <a:latin typeface="Helvetica Neue"/>
                <a:ea typeface="Helvetica Neue"/>
                <a:cs typeface="Helvetica Neue"/>
              </a:rPr>
              <a:t>Statistical process control (SPC)</a:t>
            </a:r>
          </a:p>
        </p:txBody>
      </p:sp>
      <p:sp>
        <p:nvSpPr>
          <p:cNvPr id="2" name="">
            <a:extLst xmlns:a="http://schemas.openxmlformats.org/drawingml/2006/main">
              <a:ext uri="{FF2B5EF4-FFF2-40B4-BE49-F238E27FC236}">
                <a16:creationId xmlns:a16="http://schemas.microsoft.com/office/drawing/2014/main" id="{99251B0D-1207-4246-8B34-FF2D368F75EF}"/>
              </a:ext>
            </a:extLst>
          </p:cNvPr>
          <p:cNvSpPr>
            <a:spLocks xmlns:a="http://schemas.openxmlformats.org/drawingml/2006/main" noGrp="1"/>
          </p:cNvSpPr>
          <p:nvPr/>
        </p:nvSpPr>
        <p:spPr>
          <a:xfrm xmlns:a="http://schemas.openxmlformats.org/drawingml/2006/main">
            <a:off x="11239500" y="633412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874"/>
                </a:solidFill>
                <a:latin typeface="Helvetica Neue"/>
                <a:ea typeface="Helvetica Neue"/>
                <a:cs typeface="Helvetica Neue"/>
              </a:defRPr>
            </a:pPr>
            <a:r>
              <a:rPr sz="1350" b="0">
                <a:solidFill>
                  <a:srgbClr val="526874"/>
                </a:solidFill>
                <a:latin typeface="Helvetica Neue"/>
                <a:ea typeface="Helvetica Neue"/>
                <a:cs typeface="Helvetica Neue"/>
              </a:rPr>
              <a:t>04</a:t>
            </a:r>
          </a:p>
        </p:txBody>
      </p:sp>
      <p:sp>
        <p:nvSpPr>
          <p:cNvPr id="3" name="">
            <a:extLst xmlns:a="http://schemas.openxmlformats.org/drawingml/2006/main">
              <a:ext uri="{FF2B5EF4-FFF2-40B4-BE49-F238E27FC236}">
                <a16:creationId xmlns:a16="http://schemas.microsoft.com/office/drawing/2014/main" id="{78D01679-1409-4D4B-809E-A5EB82FF4378}"/>
              </a:ext>
            </a:extLst>
          </p:cNvPr>
          <p:cNvSpPr>
            <a:spLocks xmlns:a="http://schemas.openxmlformats.org/drawingml/2006/main" noGrp="1"/>
          </p:cNvSpPr>
          <p:nvPr/>
        </p:nvSpPr>
        <p:spPr>
          <a:xfrm xmlns:a="http://schemas.openxmlformats.org/drawingml/2006/main">
            <a:off x="714375" y="171450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C3A"/>
                </a:solidFill>
                <a:latin typeface="Helvetica Neue"/>
                <a:ea typeface="Helvetica Neue"/>
                <a:cs typeface="Helvetica Neue"/>
              </a:defRPr>
            </a:pPr>
            <a:r>
              <a:rPr sz="2175" b="0">
                <a:solidFill>
                  <a:srgbClr val="152C3A"/>
                </a:solidFill>
                <a:latin typeface="Helvetica Neue"/>
                <a:ea typeface="Helvetica Neue"/>
                <a:cs typeface="Helvetica Neue"/>
              </a:rPr>
              <a:t>1   Measure recent counts against a historical reference.</a:t>
            </a:r>
          </a:p>
        </p:txBody>
      </p:sp>
      <p:sp>
        <p:nvSpPr>
          <p:cNvPr id="4" name="">
            <a:extLst xmlns:a="http://schemas.openxmlformats.org/drawingml/2006/main">
              <a:ext uri="{FF2B5EF4-FFF2-40B4-BE49-F238E27FC236}">
                <a16:creationId xmlns:a16="http://schemas.microsoft.com/office/drawing/2014/main" id="{DCCD95D0-0F32-4F2D-810B-29D7CE293383}"/>
              </a:ext>
            </a:extLst>
          </p:cNvPr>
          <p:cNvSpPr>
            <a:spLocks xmlns:a="http://schemas.openxmlformats.org/drawingml/2006/main" noGrp="1"/>
          </p:cNvSpPr>
          <p:nvPr/>
        </p:nvSpPr>
        <p:spPr>
          <a:xfrm xmlns:a="http://schemas.openxmlformats.org/drawingml/2006/main">
            <a:off x="714375" y="266700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C3A"/>
                </a:solidFill>
                <a:latin typeface="Helvetica Neue"/>
                <a:ea typeface="Helvetica Neue"/>
                <a:cs typeface="Helvetica Neue"/>
              </a:defRPr>
            </a:pPr>
            <a:r>
              <a:rPr sz="2175" b="0">
                <a:solidFill>
                  <a:srgbClr val="152C3A"/>
                </a:solidFill>
                <a:latin typeface="Helvetica Neue"/>
                <a:ea typeface="Helvetica Neue"/>
                <a:cs typeface="Helvetica Neue"/>
              </a:rPr>
              <a:t>2   Apply explicit SPC rules and retain the contributing rows.</a:t>
            </a:r>
          </a:p>
        </p:txBody>
      </p:sp>
      <p:sp>
        <p:nvSpPr>
          <p:cNvPr id="5" name="">
            <a:extLst xmlns:a="http://schemas.openxmlformats.org/drawingml/2006/main">
              <a:ext uri="{FF2B5EF4-FFF2-40B4-BE49-F238E27FC236}">
                <a16:creationId xmlns:a16="http://schemas.microsoft.com/office/drawing/2014/main" id="{4D190585-4FF0-4F22-8075-F5230B5D7844}"/>
              </a:ext>
            </a:extLst>
          </p:cNvPr>
          <p:cNvSpPr>
            <a:spLocks xmlns:a="http://schemas.openxmlformats.org/drawingml/2006/main" noGrp="1"/>
          </p:cNvSpPr>
          <p:nvPr/>
        </p:nvSpPr>
        <p:spPr>
          <a:xfrm xmlns:a="http://schemas.openxmlformats.org/drawingml/2006/main">
            <a:off x="714375" y="361950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C3A"/>
                </a:solidFill>
                <a:latin typeface="Helvetica Neue"/>
                <a:ea typeface="Helvetica Neue"/>
                <a:cs typeface="Helvetica Neue"/>
              </a:defRPr>
            </a:pPr>
            <a:r>
              <a:rPr sz="2175" b="0">
                <a:solidFill>
                  <a:srgbClr val="152C3A"/>
                </a:solidFill>
                <a:latin typeface="Helvetica Neue"/>
                <a:ea typeface="Helvetica Neue"/>
                <a:cs typeface="Helvetica Neue"/>
              </a:rPr>
              <a:t>3   Group repeated signals into an episode for review.</a:t>
            </a:r>
          </a:p>
        </p:txBody>
      </p:sp>
      <p:sp>
        <p:nvSpPr>
          <p:cNvPr id="6" name="">
            <a:extLst xmlns:a="http://schemas.openxmlformats.org/drawingml/2006/main">
              <a:ext uri="{FF2B5EF4-FFF2-40B4-BE49-F238E27FC236}">
                <a16:creationId xmlns:a16="http://schemas.microsoft.com/office/drawing/2014/main" id="{A45C1779-0757-46C6-A85F-E46EDD00F78A}"/>
              </a:ext>
            </a:extLst>
          </p:cNvPr>
          <p:cNvSpPr>
            <a:spLocks xmlns:a="http://schemas.openxmlformats.org/drawingml/2006/main" noGrp="1"/>
          </p:cNvSpPr>
          <p:nvPr/>
        </p:nvSpPr>
        <p:spPr>
          <a:xfrm xmlns:a="http://schemas.openxmlformats.org/drawingml/2006/main">
            <a:off x="714375" y="457200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C3A"/>
                </a:solidFill>
                <a:latin typeface="Helvetica Neue"/>
                <a:ea typeface="Helvetica Neue"/>
                <a:cs typeface="Helvetica Neue"/>
              </a:defRPr>
            </a:pPr>
            <a:r>
              <a:rPr sz="2175" b="0">
                <a:solidFill>
                  <a:srgbClr val="152C3A"/>
                </a:solidFill>
                <a:latin typeface="Helvetica Neue"/>
                <a:ea typeface="Helvetica Neue"/>
                <a:cs typeface="Helvetica Neue"/>
              </a:rPr>
              <a:t>4   Check source quality and context before deciding what to do.</a:t>
            </a:r>
          </a:p>
        </p:txBody>
      </p:sp>
    </p:spTree>
    <p:extLst>
      <p:ext uri="{BB962C8B-B14F-4D97-AF65-F5344CB8AC3E}">
        <p14:creationId xmlns:p14="http://schemas.microsoft.com/office/powerpoint/2010/main" val="1349227248"/>
      </p:ext>
    </p:extLst>
  </p:cSld>
</p:sld>
</file>

<file path=ppt/slides/slide5.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FAE6BBF6-1EF1-4C7D-8079-8CD82A775B08}"/>
              </a:ext>
            </a:extLst>
          </p:cNvPr>
          <p:cNvSpPr>
            <a:spLocks xmlns:a="http://schemas.openxmlformats.org/drawingml/2006/main" noGrp="1"/>
          </p:cNvSpPr>
          <p:nvPr/>
        </p:nvSpPr>
        <p:spPr>
          <a:xfrm xmlns:a="http://schemas.openxmlformats.org/drawingml/2006/main">
            <a:off x="666750" y="47625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152C3A"/>
                </a:solidFill>
                <a:latin typeface="Helvetica Neue"/>
                <a:ea typeface="Helvetica Neue"/>
                <a:cs typeface="Helvetica Neue"/>
              </a:defRPr>
            </a:pPr>
            <a:r>
              <a:rPr sz="3150" b="1">
                <a:solidFill>
                  <a:srgbClr val="152C3A"/>
                </a:solidFill>
                <a:latin typeface="Helvetica Neue"/>
                <a:ea typeface="Helvetica Neue"/>
                <a:cs typeface="Helvetica Neue"/>
              </a:rPr>
              <a:t>Each method answers a different question</a:t>
            </a:r>
          </a:p>
        </p:txBody>
      </p:sp>
      <p:sp>
        <p:nvSpPr>
          <p:cNvPr id="2" name="">
            <a:extLst xmlns:a="http://schemas.openxmlformats.org/drawingml/2006/main">
              <a:ext uri="{FF2B5EF4-FFF2-40B4-BE49-F238E27FC236}">
                <a16:creationId xmlns:a16="http://schemas.microsoft.com/office/drawing/2014/main" id="{2EC9D6D3-BD2D-404C-9DD1-EB60FAF467DA}"/>
              </a:ext>
            </a:extLst>
          </p:cNvPr>
          <p:cNvSpPr>
            <a:spLocks xmlns:a="http://schemas.openxmlformats.org/drawingml/2006/main" noGrp="1"/>
          </p:cNvSpPr>
          <p:nvPr/>
        </p:nvSpPr>
        <p:spPr>
          <a:xfrm xmlns:a="http://schemas.openxmlformats.org/drawingml/2006/main">
            <a:off x="11239500" y="633412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874"/>
                </a:solidFill>
                <a:latin typeface="Helvetica Neue"/>
                <a:ea typeface="Helvetica Neue"/>
                <a:cs typeface="Helvetica Neue"/>
              </a:defRPr>
            </a:pPr>
            <a:r>
              <a:rPr sz="1350" b="0">
                <a:solidFill>
                  <a:srgbClr val="526874"/>
                </a:solidFill>
                <a:latin typeface="Helvetica Neue"/>
                <a:ea typeface="Helvetica Neue"/>
                <a:cs typeface="Helvetica Neue"/>
              </a:rPr>
              <a:t>05</a:t>
            </a:r>
          </a:p>
        </p:txBody>
      </p:sp>
      <p:graphicFrame>
        <p:nvGraphicFramePr>
          <p:cNvPr id="6" name=""/>
          <p:cNvGraphicFramePr/>
          <p:nvPr/>
        </p:nvGraphicFramePr>
        <p:xfrm>
          <a:off xmlns:a="http://schemas.openxmlformats.org/drawingml/2006/main" x="714375" y="1666875"/>
          <a:ext xmlns:a="http://schemas.openxmlformats.org/drawingml/2006/main" cx="10763250" cy="3314700"/>
        </p:xfrm>
        <a:graphic xmlns:a="http://schemas.openxmlformats.org/drawingml/2006/main">
          <a:graphicData uri="http://schemas.openxmlformats.org/drawingml/2006/table">
            <a:tbl>
              <a:tblPr/>
              <a:tblGrid>
                <a:gridCol w="4095750"/>
                <a:gridCol w="6667500"/>
              </a:tblGrid>
              <a:tr h="552450">
                <a:tc>
                  <a:txBody>
                    <a:bodyPr/>
                    <a:lstStyle/>
                    <a:p>
                      <a:r>
                        <a:rPr sz="1725" b="1">
                          <a:solidFill>
                            <a:srgbClr val="FFFFFF"/>
                          </a:solidFill>
                          <a:latin typeface="Helvetica Neue"/>
                          <a:ea typeface="Helvetica Neue"/>
                          <a:cs typeface="Helvetica Neue"/>
                        </a:rPr>
                        <a:t>Method</a:t>
                      </a:r>
                    </a:p>
                  </a:txBody>
                  <a:tcPr marL="91440" marR="91440" marT="45720" marB="45720">
                    <a:solidFill>
                      <a:srgbClr val="152C3A"/>
                    </a:solidFill>
                  </a:tcPr>
                </a:tc>
                <a:tc>
                  <a:txBody>
                    <a:bodyPr/>
                    <a:lstStyle/>
                    <a:p>
                      <a:r>
                        <a:rPr sz="1725" b="1">
                          <a:solidFill>
                            <a:srgbClr val="FFFFFF"/>
                          </a:solidFill>
                          <a:latin typeface="Helvetica Neue"/>
                          <a:ea typeface="Helvetica Neue"/>
                          <a:cs typeface="Helvetica Neue"/>
                        </a:rPr>
                        <a:t>Question</a:t>
                      </a:r>
                    </a:p>
                  </a:txBody>
                  <a:tcPr marL="91440" marR="91440" marT="45720" marB="45720">
                    <a:solidFill>
                      <a:srgbClr val="152C3A"/>
                    </a:solidFill>
                  </a:tcPr>
                </a:tc>
              </a:tr>
              <a:tr h="552450">
                <a:tc>
                  <a:txBody>
                    <a:bodyPr/>
                    <a:lstStyle/>
                    <a:p>
                      <a:r>
                        <a:rPr sz="1725" b="0">
                          <a:solidFill>
                            <a:srgbClr val="152C3A"/>
                          </a:solidFill>
                          <a:latin typeface="Helvetica Neue"/>
                          <a:ea typeface="Helvetica Neue"/>
                          <a:cs typeface="Helvetica Neue"/>
                        </a:rPr>
                        <a:t>SPC rules</a:t>
                      </a:r>
                    </a:p>
                  </a:txBody>
                  <a:tcPr marL="91440" marR="91440" marT="45720" marB="45720">
                    <a:solidFill>
                      <a:srgbClr val="FFFFFF"/>
                    </a:solidFill>
                  </a:tcPr>
                </a:tc>
                <a:tc>
                  <a:txBody>
                    <a:bodyPr/>
                    <a:lstStyle/>
                    <a:p>
                      <a:r>
                        <a:rPr sz="1725" b="0">
                          <a:solidFill>
                            <a:srgbClr val="152C3A"/>
                          </a:solidFill>
                          <a:latin typeface="Helvetica Neue"/>
                          <a:ea typeface="Helvetica Neue"/>
                          <a:cs typeface="Helvetica Neue"/>
                        </a:rPr>
                        <a:t>Did a defined control rule fire?</a:t>
                      </a:r>
                    </a:p>
                  </a:txBody>
                  <a:tcPr marL="91440" marR="91440" marT="45720" marB="45720">
                    <a:solidFill>
                      <a:srgbClr val="FFFFFF"/>
                    </a:solidFill>
                  </a:tcPr>
                </a:tc>
              </a:tr>
              <a:tr h="552450">
                <a:tc>
                  <a:txBody>
                    <a:bodyPr/>
                    <a:lstStyle/>
                    <a:p>
                      <a:r>
                        <a:rPr sz="1725" b="0">
                          <a:solidFill>
                            <a:srgbClr val="152C3A"/>
                          </a:solidFill>
                          <a:latin typeface="Helvetica Neue"/>
                          <a:ea typeface="Helvetica Neue"/>
                          <a:cs typeface="Helvetica Neue"/>
                        </a:rPr>
                        <a:t>Random forest / logistic classifier</a:t>
                      </a:r>
                    </a:p>
                  </a:txBody>
                  <a:tcPr marL="91440" marR="91440" marT="45720" marB="45720">
                    <a:solidFill>
                      <a:srgbClr val="EAF0F0"/>
                    </a:solidFill>
                  </a:tcPr>
                </a:tc>
                <a:tc>
                  <a:txBody>
                    <a:bodyPr/>
                    <a:lstStyle/>
                    <a:p>
                      <a:r>
                        <a:rPr sz="1725" b="0">
                          <a:solidFill>
                            <a:srgbClr val="152C3A"/>
                          </a:solidFill>
                          <a:latin typeface="Helvetica Neue"/>
                          <a:ea typeface="Helvetica Neue"/>
                          <a:cs typeface="Helvetica Neue"/>
                        </a:rPr>
                        <a:t>Can learned features reproduce the rule label?</a:t>
                      </a:r>
                    </a:p>
                  </a:txBody>
                  <a:tcPr marL="91440" marR="91440" marT="45720" marB="45720">
                    <a:solidFill>
                      <a:srgbClr val="EAF0F0"/>
                    </a:solidFill>
                  </a:tcPr>
                </a:tc>
              </a:tr>
              <a:tr h="552450">
                <a:tc>
                  <a:txBody>
                    <a:bodyPr/>
                    <a:lstStyle/>
                    <a:p>
                      <a:r>
                        <a:rPr sz="1725" b="0">
                          <a:solidFill>
                            <a:srgbClr val="152C3A"/>
                          </a:solidFill>
                          <a:latin typeface="Helvetica Neue"/>
                          <a:ea typeface="Helvetica Neue"/>
                          <a:cs typeface="Helvetica Neue"/>
                        </a:rPr>
                        <a:t>Isolation Forest</a:t>
                      </a:r>
                    </a:p>
                  </a:txBody>
                  <a:tcPr marL="91440" marR="91440" marT="45720" marB="45720">
                    <a:solidFill>
                      <a:srgbClr val="FFFFFF"/>
                    </a:solidFill>
                  </a:tcPr>
                </a:tc>
                <a:tc>
                  <a:txBody>
                    <a:bodyPr/>
                    <a:lstStyle/>
                    <a:p>
                      <a:r>
                        <a:rPr sz="1725" b="0">
                          <a:solidFill>
                            <a:srgbClr val="152C3A"/>
                          </a:solidFill>
                          <a:latin typeface="Helvetica Neue"/>
                          <a:ea typeface="Helvetica Neue"/>
                          <a:cs typeface="Helvetica Neue"/>
                        </a:rPr>
                        <a:t>Does this pattern differ from training history?</a:t>
                      </a:r>
                    </a:p>
                  </a:txBody>
                  <a:tcPr marL="91440" marR="91440" marT="45720" marB="45720">
                    <a:solidFill>
                      <a:srgbClr val="FFFFFF"/>
                    </a:solidFill>
                  </a:tcPr>
                </a:tc>
              </a:tr>
              <a:tr h="552450">
                <a:tc>
                  <a:txBody>
                    <a:bodyPr/>
                    <a:lstStyle/>
                    <a:p>
                      <a:r>
                        <a:rPr sz="1725" b="0">
                          <a:solidFill>
                            <a:srgbClr val="152C3A"/>
                          </a:solidFill>
                          <a:latin typeface="Helvetica Neue"/>
                          <a:ea typeface="Helvetica Neue"/>
                          <a:cs typeface="Helvetica Neue"/>
                        </a:rPr>
                        <a:t>Random forest regression</a:t>
                      </a:r>
                    </a:p>
                  </a:txBody>
                  <a:tcPr marL="91440" marR="91440" marT="45720" marB="45720">
                    <a:solidFill>
                      <a:srgbClr val="EAF0F0"/>
                    </a:solidFill>
                  </a:tcPr>
                </a:tc>
                <a:tc>
                  <a:txBody>
                    <a:bodyPr/>
                    <a:lstStyle/>
                    <a:p>
                      <a:r>
                        <a:rPr sz="1725" b="0">
                          <a:solidFill>
                            <a:srgbClr val="152C3A"/>
                          </a:solidFill>
                          <a:latin typeface="Helvetica Neue"/>
                          <a:ea typeface="Helvetica Neue"/>
                          <a:cs typeface="Helvetica Neue"/>
                        </a:rPr>
                        <a:t>What count may occur next business day?</a:t>
                      </a:r>
                    </a:p>
                  </a:txBody>
                  <a:tcPr marL="91440" marR="91440" marT="45720" marB="45720">
                    <a:solidFill>
                      <a:srgbClr val="EAF0F0"/>
                    </a:solidFill>
                  </a:tcPr>
                </a:tc>
              </a:tr>
              <a:tr h="552450">
                <a:tc>
                  <a:txBody>
                    <a:bodyPr/>
                    <a:lstStyle/>
                    <a:p>
                      <a:r>
                        <a:rPr sz="1725" b="0">
                          <a:solidFill>
                            <a:srgbClr val="152C3A"/>
                          </a:solidFill>
                          <a:latin typeface="Helvetica Neue"/>
                          <a:ea typeface="Helvetica Neue"/>
                          <a:cs typeface="Helvetica Neue"/>
                        </a:rPr>
                        <a:t>Statistical forecasts</a:t>
                      </a:r>
                    </a:p>
                  </a:txBody>
                  <a:tcPr marL="91440" marR="91440" marT="45720" marB="45720">
                    <a:solidFill>
                      <a:srgbClr val="FFFFFF"/>
                    </a:solidFill>
                  </a:tcPr>
                </a:tc>
                <a:tc>
                  <a:txBody>
                    <a:bodyPr/>
                    <a:lstStyle/>
                    <a:p>
                      <a:r>
                        <a:rPr sz="1725" b="0">
                          <a:solidFill>
                            <a:srgbClr val="152C3A"/>
                          </a:solidFill>
                          <a:latin typeface="Helvetica Neue"/>
                          <a:ea typeface="Helvetica Neue"/>
                          <a:cs typeface="Helvetica Neue"/>
                        </a:rPr>
                        <a:t>What counts may occur over the next five days?</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1837915526"/>
      </p:ext>
    </p:extLst>
  </p:cSld>
</p:sld>
</file>

<file path=ppt/slides/slide6.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BF1D103-5A1F-4BE0-B2D5-804E38AD15B7}"/>
              </a:ext>
            </a:extLst>
          </p:cNvPr>
          <p:cNvSpPr>
            <a:spLocks xmlns:a="http://schemas.openxmlformats.org/drawingml/2006/main" noGrp="1"/>
          </p:cNvSpPr>
          <p:nvPr/>
        </p:nvSpPr>
        <p:spPr>
          <a:xfrm xmlns:a="http://schemas.openxmlformats.org/drawingml/2006/main">
            <a:off x="666750" y="47625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152C3A"/>
                </a:solidFill>
                <a:latin typeface="Helvetica Neue"/>
                <a:ea typeface="Helvetica Neue"/>
                <a:cs typeface="Helvetica Neue"/>
              </a:defRPr>
            </a:pPr>
            <a:r>
              <a:rPr sz="3150" b="1">
                <a:solidFill>
                  <a:srgbClr val="152C3A"/>
                </a:solidFill>
                <a:latin typeface="Helvetica Neue"/>
                <a:ea typeface="Helvetica Neue"/>
                <a:cs typeface="Helvetica Neue"/>
              </a:rPr>
              <a:t>Training uses earlier dates</a:t>
            </a:r>
          </a:p>
        </p:txBody>
      </p:sp>
      <p:sp>
        <p:nvSpPr>
          <p:cNvPr id="2" name="">
            <a:extLst xmlns:a="http://schemas.openxmlformats.org/drawingml/2006/main">
              <a:ext uri="{FF2B5EF4-FFF2-40B4-BE49-F238E27FC236}">
                <a16:creationId xmlns:a16="http://schemas.microsoft.com/office/drawing/2014/main" id="{B0C3BF85-CE0E-45D0-84F1-0C816D40110F}"/>
              </a:ext>
            </a:extLst>
          </p:cNvPr>
          <p:cNvSpPr>
            <a:spLocks xmlns:a="http://schemas.openxmlformats.org/drawingml/2006/main" noGrp="1"/>
          </p:cNvSpPr>
          <p:nvPr/>
        </p:nvSpPr>
        <p:spPr>
          <a:xfrm xmlns:a="http://schemas.openxmlformats.org/drawingml/2006/main">
            <a:off x="11239500" y="633412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874"/>
                </a:solidFill>
                <a:latin typeface="Helvetica Neue"/>
                <a:ea typeface="Helvetica Neue"/>
                <a:cs typeface="Helvetica Neue"/>
              </a:defRPr>
            </a:pPr>
            <a:r>
              <a:rPr sz="1350" b="0">
                <a:solidFill>
                  <a:srgbClr val="526874"/>
                </a:solidFill>
                <a:latin typeface="Helvetica Neue"/>
                <a:ea typeface="Helvetica Neue"/>
                <a:cs typeface="Helvetica Neue"/>
              </a:rPr>
              <a:t>06</a:t>
            </a:r>
          </a:p>
        </p:txBody>
      </p:sp>
      <p:sp>
        <p:nvSpPr>
          <p:cNvPr id="3" name="">
            <a:extLst xmlns:a="http://schemas.openxmlformats.org/drawingml/2006/main">
              <a:ext uri="{FF2B5EF4-FFF2-40B4-BE49-F238E27FC236}">
                <a16:creationId xmlns:a16="http://schemas.microsoft.com/office/drawing/2014/main" id="{F2344370-6549-46BD-96B9-F9FD2F8C2C48}"/>
              </a:ext>
            </a:extLst>
          </p:cNvPr>
          <p:cNvSpPr>
            <a:spLocks xmlns:a="http://schemas.openxmlformats.org/drawingml/2006/main" noGrp="1"/>
          </p:cNvSpPr>
          <p:nvPr/>
        </p:nvSpPr>
        <p:spPr>
          <a:xfrm xmlns:a="http://schemas.openxmlformats.org/drawingml/2006/main">
            <a:off x="714375" y="171450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C3A"/>
                </a:solidFill>
                <a:latin typeface="Helvetica Neue"/>
                <a:ea typeface="Helvetica Neue"/>
                <a:cs typeface="Helvetica Neue"/>
              </a:defRPr>
            </a:pPr>
            <a:r>
              <a:rPr sz="2175" b="0">
                <a:solidFill>
                  <a:srgbClr val="152C3A"/>
                </a:solidFill>
                <a:latin typeface="Helvetica Neue"/>
                <a:ea typeface="Helvetica Neue"/>
                <a:cs typeface="Helvetica Neue"/>
              </a:rPr>
              <a:t>Classifier: 615 training windows, 228 later test windows, with a 25-business-day separation.</a:t>
            </a:r>
          </a:p>
        </p:txBody>
      </p:sp>
      <p:sp>
        <p:nvSpPr>
          <p:cNvPr id="4" name="">
            <a:extLst xmlns:a="http://schemas.openxmlformats.org/drawingml/2006/main">
              <a:ext uri="{FF2B5EF4-FFF2-40B4-BE49-F238E27FC236}">
                <a16:creationId xmlns:a16="http://schemas.microsoft.com/office/drawing/2014/main" id="{7C403F70-39FA-432E-B1B1-1F428F601E19}"/>
              </a:ext>
            </a:extLst>
          </p:cNvPr>
          <p:cNvSpPr>
            <a:spLocks xmlns:a="http://schemas.openxmlformats.org/drawingml/2006/main" noGrp="1"/>
          </p:cNvSpPr>
          <p:nvPr/>
        </p:nvSpPr>
        <p:spPr>
          <a:xfrm xmlns:a="http://schemas.openxmlformats.org/drawingml/2006/main">
            <a:off x="714375" y="266700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C3A"/>
                </a:solidFill>
                <a:latin typeface="Helvetica Neue"/>
                <a:ea typeface="Helvetica Neue"/>
                <a:cs typeface="Helvetica Neue"/>
              </a:defRPr>
            </a:pPr>
            <a:r>
              <a:rPr sz="2175" b="0">
                <a:solidFill>
                  <a:srgbClr val="152C3A"/>
                </a:solidFill>
                <a:latin typeface="Helvetica Neue"/>
                <a:ea typeface="Helvetica Neue"/>
                <a:cs typeface="Helvetica Neue"/>
              </a:rPr>
              <a:t>Inputs describe level, spread, recent movement and reference deviation.</a:t>
            </a:r>
          </a:p>
        </p:txBody>
      </p:sp>
      <p:sp>
        <p:nvSpPr>
          <p:cNvPr id="5" name="">
            <a:extLst xmlns:a="http://schemas.openxmlformats.org/drawingml/2006/main">
              <a:ext uri="{FF2B5EF4-FFF2-40B4-BE49-F238E27FC236}">
                <a16:creationId xmlns:a16="http://schemas.microsoft.com/office/drawing/2014/main" id="{BCE2A7A4-B98C-4A5B-A510-7ACC5097FF97}"/>
              </a:ext>
            </a:extLst>
          </p:cNvPr>
          <p:cNvSpPr>
            <a:spLocks xmlns:a="http://schemas.openxmlformats.org/drawingml/2006/main" noGrp="1"/>
          </p:cNvSpPr>
          <p:nvPr/>
        </p:nvSpPr>
        <p:spPr>
          <a:xfrm xmlns:a="http://schemas.openxmlformats.org/drawingml/2006/main">
            <a:off x="714375" y="361950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C3A"/>
                </a:solidFill>
                <a:latin typeface="Helvetica Neue"/>
                <a:ea typeface="Helvetica Neue"/>
                <a:cs typeface="Helvetica Neue"/>
              </a:defRPr>
            </a:pPr>
            <a:r>
              <a:rPr sz="2175" b="0">
                <a:solidFill>
                  <a:srgbClr val="152C3A"/>
                </a:solidFill>
                <a:latin typeface="Helvetica Neue"/>
                <a:ea typeface="Helvetica Neue"/>
                <a:cs typeface="Helvetica Neue"/>
              </a:rPr>
              <a:t>Target: whether the direct SPC rules flagged that window.</a:t>
            </a:r>
          </a:p>
        </p:txBody>
      </p:sp>
      <p:sp>
        <p:nvSpPr>
          <p:cNvPr id="6" name="">
            <a:extLst xmlns:a="http://schemas.openxmlformats.org/drawingml/2006/main">
              <a:ext uri="{FF2B5EF4-FFF2-40B4-BE49-F238E27FC236}">
                <a16:creationId xmlns:a16="http://schemas.microsoft.com/office/drawing/2014/main" id="{E5E3D04D-92ED-4181-9C9D-115A7A733C44}"/>
              </a:ext>
            </a:extLst>
          </p:cNvPr>
          <p:cNvSpPr>
            <a:spLocks xmlns:a="http://schemas.openxmlformats.org/drawingml/2006/main" noGrp="1"/>
          </p:cNvSpPr>
          <p:nvPr/>
        </p:nvSpPr>
        <p:spPr>
          <a:xfrm xmlns:a="http://schemas.openxmlformats.org/drawingml/2006/main">
            <a:off x="714375" y="457200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C3A"/>
                </a:solidFill>
                <a:latin typeface="Helvetica Neue"/>
                <a:ea typeface="Helvetica Neue"/>
                <a:cs typeface="Helvetica Neue"/>
              </a:defRPr>
            </a:pPr>
            <a:r>
              <a:rPr sz="2175" b="0">
                <a:solidFill>
                  <a:srgbClr val="152C3A"/>
                </a:solidFill>
                <a:latin typeface="Helvetica Neue"/>
                <a:ea typeface="Helvetica Neue"/>
                <a:cs typeface="Helvetica Neue"/>
              </a:rPr>
              <a:t>Later unseen dates test reproduction of those rules.</a:t>
            </a:r>
          </a:p>
        </p:txBody>
      </p:sp>
    </p:spTree>
    <p:extLst>
      <p:ext uri="{BB962C8B-B14F-4D97-AF65-F5344CB8AC3E}">
        <p14:creationId xmlns:p14="http://schemas.microsoft.com/office/powerpoint/2010/main" val="1428105169"/>
      </p:ext>
    </p:extLst>
  </p:cSld>
</p:sld>
</file>

<file path=ppt/slides/slide7.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E5BB7BF-A574-48E4-9146-A20BDEB6C81B}"/>
              </a:ext>
            </a:extLst>
          </p:cNvPr>
          <p:cNvSpPr>
            <a:spLocks xmlns:a="http://schemas.openxmlformats.org/drawingml/2006/main" noGrp="1"/>
          </p:cNvSpPr>
          <p:nvPr/>
        </p:nvSpPr>
        <p:spPr>
          <a:xfrm xmlns:a="http://schemas.openxmlformats.org/drawingml/2006/main">
            <a:off x="666750" y="47625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152C3A"/>
                </a:solidFill>
                <a:latin typeface="Helvetica Neue"/>
                <a:ea typeface="Helvetica Neue"/>
                <a:cs typeface="Helvetica Neue"/>
              </a:defRPr>
            </a:pPr>
            <a:r>
              <a:rPr sz="3150" b="1">
                <a:solidFill>
                  <a:srgbClr val="152C3A"/>
                </a:solidFill>
                <a:latin typeface="Helvetica Neue"/>
                <a:ea typeface="Helvetica Neue"/>
                <a:cs typeface="Helvetica Neue"/>
              </a:rPr>
              <a:t>The comparison determines the conclusion</a:t>
            </a:r>
          </a:p>
        </p:txBody>
      </p:sp>
      <p:sp>
        <p:nvSpPr>
          <p:cNvPr id="2" name="">
            <a:extLst xmlns:a="http://schemas.openxmlformats.org/drawingml/2006/main">
              <a:ext uri="{FF2B5EF4-FFF2-40B4-BE49-F238E27FC236}">
                <a16:creationId xmlns:a16="http://schemas.microsoft.com/office/drawing/2014/main" id="{7FAC98E9-961B-4BDD-9D0B-ECC008456A8E}"/>
              </a:ext>
            </a:extLst>
          </p:cNvPr>
          <p:cNvSpPr>
            <a:spLocks xmlns:a="http://schemas.openxmlformats.org/drawingml/2006/main" noGrp="1"/>
          </p:cNvSpPr>
          <p:nvPr/>
        </p:nvSpPr>
        <p:spPr>
          <a:xfrm xmlns:a="http://schemas.openxmlformats.org/drawingml/2006/main">
            <a:off x="11239500" y="633412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874"/>
                </a:solidFill>
                <a:latin typeface="Helvetica Neue"/>
                <a:ea typeface="Helvetica Neue"/>
                <a:cs typeface="Helvetica Neue"/>
              </a:defRPr>
            </a:pPr>
            <a:r>
              <a:rPr sz="1350" b="0">
                <a:solidFill>
                  <a:srgbClr val="526874"/>
                </a:solidFill>
                <a:latin typeface="Helvetica Neue"/>
                <a:ea typeface="Helvetica Neue"/>
                <a:cs typeface="Helvetica Neue"/>
              </a:rPr>
              <a:t>07</a:t>
            </a:r>
          </a:p>
        </p:txBody>
      </p:sp>
      <p:graphicFrame>
        <p:nvGraphicFramePr>
          <p:cNvPr id="7" name=""/>
          <p:cNvGraphicFramePr/>
          <p:nvPr/>
        </p:nvGraphicFramePr>
        <p:xfrm>
          <a:off xmlns:a="http://schemas.openxmlformats.org/drawingml/2006/main" x="714375" y="1762125"/>
          <a:ext xmlns:a="http://schemas.openxmlformats.org/drawingml/2006/main" cx="10763250" cy="3314700"/>
        </p:xfrm>
        <a:graphic xmlns:a="http://schemas.openxmlformats.org/drawingml/2006/main">
          <a:graphicData uri="http://schemas.openxmlformats.org/drawingml/2006/table">
            <a:tbl>
              <a:tblPr/>
              <a:tblGrid>
                <a:gridCol w="3524250"/>
                <a:gridCol w="4476750"/>
                <a:gridCol w="2762250"/>
              </a:tblGrid>
              <a:tr h="552450">
                <a:tc>
                  <a:txBody>
                    <a:bodyPr/>
                    <a:lstStyle/>
                    <a:p>
                      <a:r>
                        <a:rPr sz="1725" b="1">
                          <a:solidFill>
                            <a:srgbClr val="FFFFFF"/>
                          </a:solidFill>
                          <a:latin typeface="Helvetica Neue"/>
                          <a:ea typeface="Helvetica Neue"/>
                          <a:cs typeface="Helvetica Neue"/>
                        </a:rPr>
                        <a:t>Experiment</a:t>
                      </a:r>
                    </a:p>
                  </a:txBody>
                  <a:tcPr marL="91440" marR="91440" marT="45720" marB="45720">
                    <a:solidFill>
                      <a:srgbClr val="152C3A"/>
                    </a:solidFill>
                  </a:tcPr>
                </a:tc>
                <a:tc>
                  <a:txBody>
                    <a:bodyPr/>
                    <a:lstStyle/>
                    <a:p>
                      <a:r>
                        <a:rPr sz="1725" b="1">
                          <a:solidFill>
                            <a:srgbClr val="FFFFFF"/>
                          </a:solidFill>
                          <a:latin typeface="Helvetica Neue"/>
                          <a:ea typeface="Helvetica Neue"/>
                          <a:cs typeface="Helvetica Neue"/>
                        </a:rPr>
                        <a:t>Model / reference</a:t>
                      </a:r>
                    </a:p>
                  </a:txBody>
                  <a:tcPr marL="91440" marR="91440" marT="45720" marB="45720">
                    <a:solidFill>
                      <a:srgbClr val="152C3A"/>
                    </a:solidFill>
                  </a:tcPr>
                </a:tc>
                <a:tc>
                  <a:txBody>
                    <a:bodyPr/>
                    <a:lstStyle/>
                    <a:p>
                      <a:r>
                        <a:rPr sz="1725" b="1">
                          <a:solidFill>
                            <a:srgbClr val="FFFFFF"/>
                          </a:solidFill>
                          <a:latin typeface="Helvetica Neue"/>
                          <a:ea typeface="Helvetica Neue"/>
                          <a:cs typeface="Helvetica Neue"/>
                        </a:rPr>
                        <a:t>Score</a:t>
                      </a:r>
                    </a:p>
                  </a:txBody>
                  <a:tcPr marL="91440" marR="91440" marT="45720" marB="45720">
                    <a:solidFill>
                      <a:srgbClr val="152C3A"/>
                    </a:solidFill>
                  </a:tcPr>
                </a:tc>
              </a:tr>
              <a:tr h="552450">
                <a:tc>
                  <a:txBody>
                    <a:bodyPr/>
                    <a:lstStyle/>
                    <a:p>
                      <a:r>
                        <a:rPr sz="1725" b="0">
                          <a:solidFill>
                            <a:srgbClr val="152C3A"/>
                          </a:solidFill>
                          <a:latin typeface="Helvetica Neue"/>
                          <a:ea typeface="Helvetica Neue"/>
                          <a:cs typeface="Helvetica Neue"/>
                        </a:rPr>
                        <a:t>Holdout accuracy</a:t>
                      </a:r>
                    </a:p>
                  </a:txBody>
                  <a:tcPr marL="91440" marR="91440" marT="45720" marB="45720">
                    <a:solidFill>
                      <a:srgbClr val="FFFFFF"/>
                    </a:solidFill>
                  </a:tcPr>
                </a:tc>
                <a:tc>
                  <a:txBody>
                    <a:bodyPr/>
                    <a:lstStyle/>
                    <a:p>
                      <a:r>
                        <a:rPr sz="1725" b="0">
                          <a:solidFill>
                            <a:srgbClr val="152C3A"/>
                          </a:solidFill>
                          <a:latin typeface="Helvetica Neue"/>
                          <a:ea typeface="Helvetica Neue"/>
                          <a:cs typeface="Helvetica Neue"/>
                        </a:rPr>
                        <a:t>Random forest</a:t>
                      </a:r>
                    </a:p>
                  </a:txBody>
                  <a:tcPr marL="91440" marR="91440" marT="45720" marB="45720">
                    <a:solidFill>
                      <a:srgbClr val="FFFFFF"/>
                    </a:solidFill>
                  </a:tcPr>
                </a:tc>
                <a:tc>
                  <a:txBody>
                    <a:bodyPr/>
                    <a:lstStyle/>
                    <a:p>
                      <a:r>
                        <a:rPr sz="1725" b="0">
                          <a:solidFill>
                            <a:srgbClr val="152C3A"/>
                          </a:solidFill>
                          <a:latin typeface="Helvetica Neue"/>
                          <a:ea typeface="Helvetica Neue"/>
                          <a:cs typeface="Helvetica Neue"/>
                        </a:rPr>
                        <a:t>75.0%</a:t>
                      </a:r>
                    </a:p>
                  </a:txBody>
                  <a:tcPr marL="91440" marR="91440" marT="45720" marB="45720">
                    <a:solidFill>
                      <a:srgbClr val="FFFFFF"/>
                    </a:solidFill>
                  </a:tcPr>
                </a:tc>
              </a:tr>
              <a:tr h="552450">
                <a:tc>
                  <a:txBody>
                    <a:bodyPr/>
                    <a:lstStyle/>
                    <a:p>
                      <a:r>
                        <a:rPr sz="1725" b="0">
                          <a:solidFill>
                            <a:srgbClr val="152C3A"/>
                          </a:solidFill>
                          <a:latin typeface="Helvetica Neue"/>
                          <a:ea typeface="Helvetica Neue"/>
                          <a:cs typeface="Helvetica Neue"/>
                        </a:rPr>
                        <a:t>Holdout accuracy</a:t>
                      </a:r>
                    </a:p>
                  </a:txBody>
                  <a:tcPr marL="91440" marR="91440" marT="45720" marB="45720">
                    <a:solidFill>
                      <a:srgbClr val="EAF0F0"/>
                    </a:solidFill>
                  </a:tcPr>
                </a:tc>
                <a:tc>
                  <a:txBody>
                    <a:bodyPr/>
                    <a:lstStyle/>
                    <a:p>
                      <a:r>
                        <a:rPr sz="1725" b="0">
                          <a:solidFill>
                            <a:srgbClr val="152C3A"/>
                          </a:solidFill>
                          <a:latin typeface="Helvetica Neue"/>
                          <a:ea typeface="Helvetica Neue"/>
                          <a:cs typeface="Helvetica Neue"/>
                        </a:rPr>
                        <a:t>Always signal</a:t>
                      </a:r>
                    </a:p>
                  </a:txBody>
                  <a:tcPr marL="91440" marR="91440" marT="45720" marB="45720">
                    <a:solidFill>
                      <a:srgbClr val="EAF0F0"/>
                    </a:solidFill>
                  </a:tcPr>
                </a:tc>
                <a:tc>
                  <a:txBody>
                    <a:bodyPr/>
                    <a:lstStyle/>
                    <a:p>
                      <a:r>
                        <a:rPr sz="1725" b="0">
                          <a:solidFill>
                            <a:srgbClr val="152C3A"/>
                          </a:solidFill>
                          <a:latin typeface="Helvetica Neue"/>
                          <a:ea typeface="Helvetica Neue"/>
                          <a:cs typeface="Helvetica Neue"/>
                        </a:rPr>
                        <a:t>78.1%</a:t>
                      </a:r>
                    </a:p>
                  </a:txBody>
                  <a:tcPr marL="91440" marR="91440" marT="45720" marB="45720">
                    <a:solidFill>
                      <a:srgbClr val="EAF0F0"/>
                    </a:solidFill>
                  </a:tcPr>
                </a:tc>
              </a:tr>
              <a:tr h="552450">
                <a:tc>
                  <a:txBody>
                    <a:bodyPr/>
                    <a:lstStyle/>
                    <a:p>
                      <a:r>
                        <a:rPr sz="1725" b="0">
                          <a:solidFill>
                            <a:srgbClr val="152C3A"/>
                          </a:solidFill>
                          <a:latin typeface="Helvetica Neue"/>
                          <a:ea typeface="Helvetica Neue"/>
                          <a:cs typeface="Helvetica Neue"/>
                        </a:rPr>
                        <a:t>Holdout precision / recall</a:t>
                      </a:r>
                    </a:p>
                  </a:txBody>
                  <a:tcPr marL="91440" marR="91440" marT="45720" marB="45720">
                    <a:solidFill>
                      <a:srgbClr val="FFFFFF"/>
                    </a:solidFill>
                  </a:tcPr>
                </a:tc>
                <a:tc>
                  <a:txBody>
                    <a:bodyPr/>
                    <a:lstStyle/>
                    <a:p>
                      <a:r>
                        <a:rPr sz="1725" b="0">
                          <a:solidFill>
                            <a:srgbClr val="152C3A"/>
                          </a:solidFill>
                          <a:latin typeface="Helvetica Neue"/>
                          <a:ea typeface="Helvetica Neue"/>
                          <a:cs typeface="Helvetica Neue"/>
                        </a:rPr>
                        <a:t>Random forest</a:t>
                      </a:r>
                    </a:p>
                  </a:txBody>
                  <a:tcPr marL="91440" marR="91440" marT="45720" marB="45720">
                    <a:solidFill>
                      <a:srgbClr val="FFFFFF"/>
                    </a:solidFill>
                  </a:tcPr>
                </a:tc>
                <a:tc>
                  <a:txBody>
                    <a:bodyPr/>
                    <a:lstStyle/>
                    <a:p>
                      <a:r>
                        <a:rPr sz="1725" b="0">
                          <a:solidFill>
                            <a:srgbClr val="152C3A"/>
                          </a:solidFill>
                          <a:latin typeface="Helvetica Neue"/>
                          <a:ea typeface="Helvetica Neue"/>
                          <a:cs typeface="Helvetica Neue"/>
                        </a:rPr>
                        <a:t>96.9% / 70.2%</a:t>
                      </a:r>
                    </a:p>
                  </a:txBody>
                  <a:tcPr marL="91440" marR="91440" marT="45720" marB="45720">
                    <a:solidFill>
                      <a:srgbClr val="FFFFFF"/>
                    </a:solidFill>
                  </a:tcPr>
                </a:tc>
              </a:tr>
              <a:tr h="552450">
                <a:tc>
                  <a:txBody>
                    <a:bodyPr/>
                    <a:lstStyle/>
                    <a:p>
                      <a:r>
                        <a:rPr sz="1725" b="0">
                          <a:solidFill>
                            <a:srgbClr val="152C3A"/>
                          </a:solidFill>
                          <a:latin typeface="Helvetica Neue"/>
                          <a:ea typeface="Helvetica Neue"/>
                          <a:cs typeface="Helvetica Neue"/>
                        </a:rPr>
                        <a:t>Five-fold mean F1</a:t>
                      </a:r>
                    </a:p>
                  </a:txBody>
                  <a:tcPr marL="91440" marR="91440" marT="45720" marB="45720">
                    <a:solidFill>
                      <a:srgbClr val="EAF0F0"/>
                    </a:solidFill>
                  </a:tcPr>
                </a:tc>
                <a:tc>
                  <a:txBody>
                    <a:bodyPr/>
                    <a:lstStyle/>
                    <a:p>
                      <a:r>
                        <a:rPr sz="1725" b="0">
                          <a:solidFill>
                            <a:srgbClr val="152C3A"/>
                          </a:solidFill>
                          <a:latin typeface="Helvetica Neue"/>
                          <a:ea typeface="Helvetica Neue"/>
                          <a:cs typeface="Helvetica Neue"/>
                        </a:rPr>
                        <a:t>Random forest</a:t>
                      </a:r>
                    </a:p>
                  </a:txBody>
                  <a:tcPr marL="91440" marR="91440" marT="45720" marB="45720">
                    <a:solidFill>
                      <a:srgbClr val="EAF0F0"/>
                    </a:solidFill>
                  </a:tcPr>
                </a:tc>
                <a:tc>
                  <a:txBody>
                    <a:bodyPr/>
                    <a:lstStyle/>
                    <a:p>
                      <a:r>
                        <a:rPr sz="1725" b="0">
                          <a:solidFill>
                            <a:srgbClr val="152C3A"/>
                          </a:solidFill>
                          <a:latin typeface="Helvetica Neue"/>
                          <a:ea typeface="Helvetica Neue"/>
                          <a:cs typeface="Helvetica Neue"/>
                        </a:rPr>
                        <a:t>0.592</a:t>
                      </a:r>
                    </a:p>
                  </a:txBody>
                  <a:tcPr marL="91440" marR="91440" marT="45720" marB="45720">
                    <a:solidFill>
                      <a:srgbClr val="EAF0F0"/>
                    </a:solidFill>
                  </a:tcPr>
                </a:tc>
              </a:tr>
              <a:tr h="552450">
                <a:tc>
                  <a:txBody>
                    <a:bodyPr/>
                    <a:lstStyle/>
                    <a:p>
                      <a:r>
                        <a:rPr sz="1725" b="0">
                          <a:solidFill>
                            <a:srgbClr val="152C3A"/>
                          </a:solidFill>
                          <a:latin typeface="Helvetica Neue"/>
                          <a:ea typeface="Helvetica Neue"/>
                          <a:cs typeface="Helvetica Neue"/>
                        </a:rPr>
                        <a:t>Five-fold mean F1</a:t>
                      </a:r>
                    </a:p>
                  </a:txBody>
                  <a:tcPr marL="91440" marR="91440" marT="45720" marB="45720">
                    <a:solidFill>
                      <a:srgbClr val="FFFFFF"/>
                    </a:solidFill>
                  </a:tcPr>
                </a:tc>
                <a:tc>
                  <a:txBody>
                    <a:bodyPr/>
                    <a:lstStyle/>
                    <a:p>
                      <a:r>
                        <a:rPr sz="1725" b="0">
                          <a:solidFill>
                            <a:srgbClr val="152C3A"/>
                          </a:solidFill>
                          <a:latin typeface="Helvetica Neue"/>
                          <a:ea typeface="Helvetica Neue"/>
                          <a:cs typeface="Helvetica Neue"/>
                        </a:rPr>
                        <a:t>Logistic regression</a:t>
                      </a:r>
                    </a:p>
                  </a:txBody>
                  <a:tcPr marL="91440" marR="91440" marT="45720" marB="45720">
                    <a:solidFill>
                      <a:srgbClr val="FFFFFF"/>
                    </a:solidFill>
                  </a:tcPr>
                </a:tc>
                <a:tc>
                  <a:txBody>
                    <a:bodyPr/>
                    <a:lstStyle/>
                    <a:p>
                      <a:r>
                        <a:rPr sz="1725" b="0">
                          <a:solidFill>
                            <a:srgbClr val="152C3A"/>
                          </a:solidFill>
                          <a:latin typeface="Helvetica Neue"/>
                          <a:ea typeface="Helvetica Neue"/>
                          <a:cs typeface="Helvetica Neue"/>
                        </a:rPr>
                        <a:t>0.628</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F6CAC3DF-7A7F-4CC5-8468-AC23EB73678C}"/>
              </a:ext>
            </a:extLst>
          </p:cNvPr>
          <p:cNvSpPr>
            <a:spLocks xmlns:a="http://schemas.openxmlformats.org/drawingml/2006/main" noGrp="1"/>
          </p:cNvSpPr>
          <p:nvPr/>
        </p:nvSpPr>
        <p:spPr>
          <a:xfrm xmlns:a="http://schemas.openxmlformats.org/drawingml/2006/main">
            <a:off x="714375" y="523875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007C83"/>
                </a:solidFill>
                <a:latin typeface="Helvetica Neue"/>
                <a:ea typeface="Helvetica Neue"/>
                <a:cs typeface="Helvetica Neue"/>
              </a:defRPr>
            </a:pPr>
            <a:r>
              <a:rPr sz="2100" b="1">
                <a:solidFill>
                  <a:srgbClr val="007C83"/>
                </a:solidFill>
                <a:latin typeface="Helvetica Neue"/>
                <a:ea typeface="Helvetica Neue"/>
                <a:cs typeface="Helvetica Neue"/>
              </a:rPr>
              <a:t>Logistic regression has higher mean fold F1. Keep direct rules for their known target.</a:t>
            </a:r>
          </a:p>
        </p:txBody>
      </p:sp>
    </p:spTree>
    <p:extLst>
      <p:ext uri="{BB962C8B-B14F-4D97-AF65-F5344CB8AC3E}">
        <p14:creationId xmlns:p14="http://schemas.microsoft.com/office/powerpoint/2010/main" val="1071224846"/>
      </p:ext>
    </p:extLst>
  </p:cSld>
</p:sld>
</file>

<file path=ppt/slides/slide8.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D0954B4-A572-4991-B14E-69DA35481F07}"/>
              </a:ext>
            </a:extLst>
          </p:cNvPr>
          <p:cNvSpPr>
            <a:spLocks xmlns:a="http://schemas.openxmlformats.org/drawingml/2006/main" noGrp="1"/>
          </p:cNvSpPr>
          <p:nvPr/>
        </p:nvSpPr>
        <p:spPr>
          <a:xfrm xmlns:a="http://schemas.openxmlformats.org/drawingml/2006/main">
            <a:off x="666750" y="47625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152C3A"/>
                </a:solidFill>
                <a:latin typeface="Helvetica Neue"/>
                <a:ea typeface="Helvetica Neue"/>
                <a:cs typeface="Helvetica Neue"/>
              </a:defRPr>
            </a:pPr>
            <a:r>
              <a:rPr sz="3150" b="1">
                <a:solidFill>
                  <a:srgbClr val="152C3A"/>
                </a:solidFill>
                <a:latin typeface="Helvetica Neue"/>
                <a:ea typeface="Helvetica Neue"/>
                <a:cs typeface="Helvetica Neue"/>
              </a:rPr>
              <a:t>Forecasting has a separate target</a:t>
            </a:r>
          </a:p>
        </p:txBody>
      </p:sp>
      <p:sp>
        <p:nvSpPr>
          <p:cNvPr id="2" name="">
            <a:extLst xmlns:a="http://schemas.openxmlformats.org/drawingml/2006/main">
              <a:ext uri="{FF2B5EF4-FFF2-40B4-BE49-F238E27FC236}">
                <a16:creationId xmlns:a16="http://schemas.microsoft.com/office/drawing/2014/main" id="{2349DB31-EBF3-4BCB-AAB4-8892858B1871}"/>
              </a:ext>
            </a:extLst>
          </p:cNvPr>
          <p:cNvSpPr>
            <a:spLocks xmlns:a="http://schemas.openxmlformats.org/drawingml/2006/main" noGrp="1"/>
          </p:cNvSpPr>
          <p:nvPr/>
        </p:nvSpPr>
        <p:spPr>
          <a:xfrm xmlns:a="http://schemas.openxmlformats.org/drawingml/2006/main">
            <a:off x="11239500" y="633412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874"/>
                </a:solidFill>
                <a:latin typeface="Helvetica Neue"/>
                <a:ea typeface="Helvetica Neue"/>
                <a:cs typeface="Helvetica Neue"/>
              </a:defRPr>
            </a:pPr>
            <a:r>
              <a:rPr sz="1350" b="0">
                <a:solidFill>
                  <a:srgbClr val="526874"/>
                </a:solidFill>
                <a:latin typeface="Helvetica Neue"/>
                <a:ea typeface="Helvetica Neue"/>
                <a:cs typeface="Helvetica Neue"/>
              </a:rPr>
              <a:t>08</a:t>
            </a:r>
          </a:p>
        </p:txBody>
      </p:sp>
      <p:graphicFrame>
        <p:nvGraphicFramePr>
          <p:cNvPr id="7" name=""/>
          <p:cNvGraphicFramePr/>
          <p:nvPr/>
        </p:nvGraphicFramePr>
        <p:xfrm>
          <a:off xmlns:a="http://schemas.openxmlformats.org/drawingml/2006/main" x="714375" y="1666875"/>
          <a:ext xmlns:a="http://schemas.openxmlformats.org/drawingml/2006/main" cx="10763250" cy="3333750"/>
        </p:xfrm>
        <a:graphic xmlns:a="http://schemas.openxmlformats.org/drawingml/2006/main">
          <a:graphicData uri="http://schemas.openxmlformats.org/drawingml/2006/table">
            <a:tbl>
              <a:tblPr/>
              <a:tblGrid>
                <a:gridCol w="4667250"/>
                <a:gridCol w="2952750"/>
                <a:gridCol w="3143250"/>
              </a:tblGrid>
              <a:tr h="476250">
                <a:tc>
                  <a:txBody>
                    <a:bodyPr/>
                    <a:lstStyle/>
                    <a:p>
                      <a:r>
                        <a:rPr sz="1725" b="1">
                          <a:solidFill>
                            <a:srgbClr val="FFFFFF"/>
                          </a:solidFill>
                          <a:latin typeface="Helvetica Neue"/>
                          <a:ea typeface="Helvetica Neue"/>
                          <a:cs typeface="Helvetica Neue"/>
                        </a:rPr>
                        <a:t>Horizon / sample</a:t>
                      </a:r>
                    </a:p>
                  </a:txBody>
                  <a:tcPr marL="91440" marR="91440" marT="45720" marB="45720">
                    <a:solidFill>
                      <a:srgbClr val="152C3A"/>
                    </a:solidFill>
                  </a:tcPr>
                </a:tc>
                <a:tc>
                  <a:txBody>
                    <a:bodyPr/>
                    <a:lstStyle/>
                    <a:p>
                      <a:r>
                        <a:rPr sz="1725" b="1">
                          <a:solidFill>
                            <a:srgbClr val="FFFFFF"/>
                          </a:solidFill>
                          <a:latin typeface="Helvetica Neue"/>
                          <a:ea typeface="Helvetica Neue"/>
                          <a:cs typeface="Helvetica Neue"/>
                        </a:rPr>
                        <a:t>Method</a:t>
                      </a:r>
                    </a:p>
                  </a:txBody>
                  <a:tcPr marL="91440" marR="91440" marT="45720" marB="45720">
                    <a:solidFill>
                      <a:srgbClr val="152C3A"/>
                    </a:solidFill>
                  </a:tcPr>
                </a:tc>
                <a:tc>
                  <a:txBody>
                    <a:bodyPr/>
                    <a:lstStyle/>
                    <a:p>
                      <a:r>
                        <a:rPr sz="1725" b="1">
                          <a:solidFill>
                            <a:srgbClr val="FFFFFF"/>
                          </a:solidFill>
                          <a:latin typeface="Helvetica Neue"/>
                          <a:ea typeface="Helvetica Neue"/>
                          <a:cs typeface="Helvetica Neue"/>
                        </a:rPr>
                        <a:t>MAE (counts)</a:t>
                      </a:r>
                    </a:p>
                  </a:txBody>
                  <a:tcPr marL="91440" marR="91440" marT="45720" marB="45720">
                    <a:solidFill>
                      <a:srgbClr val="152C3A"/>
                    </a:solidFill>
                  </a:tcPr>
                </a:tc>
              </a:tr>
              <a:tr h="476250">
                <a:tc>
                  <a:txBody>
                    <a:bodyPr/>
                    <a:lstStyle/>
                    <a:p>
                      <a:r>
                        <a:rPr sz="1725" b="0">
                          <a:solidFill>
                            <a:srgbClr val="152C3A"/>
                          </a:solidFill>
                          <a:latin typeface="Helvetica Neue"/>
                          <a:ea typeface="Helvetica Neue"/>
                          <a:cs typeface="Helvetica Neue"/>
                        </a:rPr>
                        <a:t>Next day, 225 rows</a:t>
                      </a:r>
                    </a:p>
                  </a:txBody>
                  <a:tcPr marL="91440" marR="91440" marT="45720" marB="45720">
                    <a:solidFill>
                      <a:srgbClr val="FFFFFF"/>
                    </a:solidFill>
                  </a:tcPr>
                </a:tc>
                <a:tc>
                  <a:txBody>
                    <a:bodyPr/>
                    <a:lstStyle/>
                    <a:p>
                      <a:r>
                        <a:rPr sz="1725" b="0">
                          <a:solidFill>
                            <a:srgbClr val="152C3A"/>
                          </a:solidFill>
                          <a:latin typeface="Helvetica Neue"/>
                          <a:ea typeface="Helvetica Neue"/>
                          <a:cs typeface="Helvetica Neue"/>
                        </a:rPr>
                        <a:t>Random forest</a:t>
                      </a:r>
                    </a:p>
                  </a:txBody>
                  <a:tcPr marL="91440" marR="91440" marT="45720" marB="45720">
                    <a:solidFill>
                      <a:srgbClr val="FFFFFF"/>
                    </a:solidFill>
                  </a:tcPr>
                </a:tc>
                <a:tc>
                  <a:txBody>
                    <a:bodyPr/>
                    <a:lstStyle/>
                    <a:p>
                      <a:r>
                        <a:rPr sz="1725" b="0">
                          <a:solidFill>
                            <a:srgbClr val="152C3A"/>
                          </a:solidFill>
                          <a:latin typeface="Helvetica Neue"/>
                          <a:ea typeface="Helvetica Neue"/>
                          <a:cs typeface="Helvetica Neue"/>
                        </a:rPr>
                        <a:t>90.01</a:t>
                      </a:r>
                    </a:p>
                  </a:txBody>
                  <a:tcPr marL="91440" marR="91440" marT="45720" marB="45720">
                    <a:solidFill>
                      <a:srgbClr val="FFFFFF"/>
                    </a:solidFill>
                  </a:tcPr>
                </a:tc>
              </a:tr>
              <a:tr h="476250">
                <a:tc>
                  <a:txBody>
                    <a:bodyPr/>
                    <a:lstStyle/>
                    <a:p>
                      <a:r>
                        <a:rPr sz="1725" b="0">
                          <a:solidFill>
                            <a:srgbClr val="152C3A"/>
                          </a:solidFill>
                          <a:latin typeface="Helvetica Neue"/>
                          <a:ea typeface="Helvetica Neue"/>
                          <a:cs typeface="Helvetica Neue"/>
                        </a:rPr>
                        <a:t>Next day, 225 rows</a:t>
                      </a:r>
                    </a:p>
                  </a:txBody>
                  <a:tcPr marL="91440" marR="91440" marT="45720" marB="45720">
                    <a:solidFill>
                      <a:srgbClr val="EAF0F0"/>
                    </a:solidFill>
                  </a:tcPr>
                </a:tc>
                <a:tc>
                  <a:txBody>
                    <a:bodyPr/>
                    <a:lstStyle/>
                    <a:p>
                      <a:r>
                        <a:rPr sz="1725" b="0">
                          <a:solidFill>
                            <a:srgbClr val="152C3A"/>
                          </a:solidFill>
                          <a:latin typeface="Helvetica Neue"/>
                          <a:ea typeface="Helvetica Neue"/>
                          <a:cs typeface="Helvetica Neue"/>
                        </a:rPr>
                        <a:t>Previous count</a:t>
                      </a:r>
                    </a:p>
                  </a:txBody>
                  <a:tcPr marL="91440" marR="91440" marT="45720" marB="45720">
                    <a:solidFill>
                      <a:srgbClr val="EAF0F0"/>
                    </a:solidFill>
                  </a:tcPr>
                </a:tc>
                <a:tc>
                  <a:txBody>
                    <a:bodyPr/>
                    <a:lstStyle/>
                    <a:p>
                      <a:r>
                        <a:rPr sz="1725" b="0">
                          <a:solidFill>
                            <a:srgbClr val="152C3A"/>
                          </a:solidFill>
                          <a:latin typeface="Helvetica Neue"/>
                          <a:ea typeface="Helvetica Neue"/>
                          <a:cs typeface="Helvetica Neue"/>
                        </a:rPr>
                        <a:t>109.87</a:t>
                      </a:r>
                    </a:p>
                  </a:txBody>
                  <a:tcPr marL="91440" marR="91440" marT="45720" marB="45720">
                    <a:solidFill>
                      <a:srgbClr val="EAF0F0"/>
                    </a:solidFill>
                  </a:tcPr>
                </a:tc>
              </a:tr>
              <a:tr h="476250">
                <a:tc>
                  <a:txBody>
                    <a:bodyPr/>
                    <a:lstStyle/>
                    <a:p>
                      <a:r>
                        <a:rPr sz="1725" b="0">
                          <a:solidFill>
                            <a:srgbClr val="152C3A"/>
                          </a:solidFill>
                          <a:latin typeface="Helvetica Neue"/>
                          <a:ea typeface="Helvetica Neue"/>
                          <a:cs typeface="Helvetica Neue"/>
                        </a:rPr>
                        <a:t>Next day, 225 rows</a:t>
                      </a:r>
                    </a:p>
                  </a:txBody>
                  <a:tcPr marL="91440" marR="91440" marT="45720" marB="45720">
                    <a:solidFill>
                      <a:srgbClr val="FFFFFF"/>
                    </a:solidFill>
                  </a:tcPr>
                </a:tc>
                <a:tc>
                  <a:txBody>
                    <a:bodyPr/>
                    <a:lstStyle/>
                    <a:p>
                      <a:r>
                        <a:rPr sz="1725" b="0">
                          <a:solidFill>
                            <a:srgbClr val="152C3A"/>
                          </a:solidFill>
                          <a:latin typeface="Helvetica Neue"/>
                          <a:ea typeface="Helvetica Neue"/>
                          <a:cs typeface="Helvetica Neue"/>
                        </a:rPr>
                        <a:t>Trailing mean</a:t>
                      </a:r>
                    </a:p>
                  </a:txBody>
                  <a:tcPr marL="91440" marR="91440" marT="45720" marB="45720">
                    <a:solidFill>
                      <a:srgbClr val="FFFFFF"/>
                    </a:solidFill>
                  </a:tcPr>
                </a:tc>
                <a:tc>
                  <a:txBody>
                    <a:bodyPr/>
                    <a:lstStyle/>
                    <a:p>
                      <a:r>
                        <a:rPr sz="1725" b="0">
                          <a:solidFill>
                            <a:srgbClr val="152C3A"/>
                          </a:solidFill>
                          <a:latin typeface="Helvetica Neue"/>
                          <a:ea typeface="Helvetica Neue"/>
                          <a:cs typeface="Helvetica Neue"/>
                        </a:rPr>
                        <a:t>97.26</a:t>
                      </a:r>
                    </a:p>
                  </a:txBody>
                  <a:tcPr marL="91440" marR="91440" marT="45720" marB="45720">
                    <a:solidFill>
                      <a:srgbClr val="FFFFFF"/>
                    </a:solidFill>
                  </a:tcPr>
                </a:tc>
              </a:tr>
              <a:tr h="476250">
                <a:tc>
                  <a:txBody>
                    <a:bodyPr/>
                    <a:lstStyle/>
                    <a:p>
                      <a:r>
                        <a:rPr sz="1725" b="0">
                          <a:solidFill>
                            <a:srgbClr val="152C3A"/>
                          </a:solidFill>
                          <a:latin typeface="Helvetica Neue"/>
                          <a:ea typeface="Helvetica Neue"/>
                          <a:cs typeface="Helvetica Neue"/>
                        </a:rPr>
                        <a:t>Five days, 90 rows</a:t>
                      </a:r>
                    </a:p>
                  </a:txBody>
                  <a:tcPr marL="91440" marR="91440" marT="45720" marB="45720">
                    <a:solidFill>
                      <a:srgbClr val="EAF0F0"/>
                    </a:solidFill>
                  </a:tcPr>
                </a:tc>
                <a:tc>
                  <a:txBody>
                    <a:bodyPr/>
                    <a:lstStyle/>
                    <a:p>
                      <a:r>
                        <a:rPr sz="1725" b="0">
                          <a:solidFill>
                            <a:srgbClr val="152C3A"/>
                          </a:solidFill>
                          <a:latin typeface="Helvetica Neue"/>
                          <a:ea typeface="Helvetica Neue"/>
                          <a:cs typeface="Helvetica Neue"/>
                        </a:rPr>
                        <a:t>ARIMA</a:t>
                      </a:r>
                    </a:p>
                  </a:txBody>
                  <a:tcPr marL="91440" marR="91440" marT="45720" marB="45720">
                    <a:solidFill>
                      <a:srgbClr val="EAF0F0"/>
                    </a:solidFill>
                  </a:tcPr>
                </a:tc>
                <a:tc>
                  <a:txBody>
                    <a:bodyPr/>
                    <a:lstStyle/>
                    <a:p>
                      <a:r>
                        <a:rPr sz="1725" b="0">
                          <a:solidFill>
                            <a:srgbClr val="152C3A"/>
                          </a:solidFill>
                          <a:latin typeface="Helvetica Neue"/>
                          <a:ea typeface="Helvetica Neue"/>
                          <a:cs typeface="Helvetica Neue"/>
                        </a:rPr>
                        <a:t>101.54</a:t>
                      </a:r>
                    </a:p>
                  </a:txBody>
                  <a:tcPr marL="91440" marR="91440" marT="45720" marB="45720">
                    <a:solidFill>
                      <a:srgbClr val="EAF0F0"/>
                    </a:solidFill>
                  </a:tcPr>
                </a:tc>
              </a:tr>
              <a:tr h="476250">
                <a:tc>
                  <a:txBody>
                    <a:bodyPr/>
                    <a:lstStyle/>
                    <a:p>
                      <a:r>
                        <a:rPr sz="1725" b="0">
                          <a:solidFill>
                            <a:srgbClr val="152C3A"/>
                          </a:solidFill>
                          <a:latin typeface="Helvetica Neue"/>
                          <a:ea typeface="Helvetica Neue"/>
                          <a:cs typeface="Helvetica Neue"/>
                        </a:rPr>
                        <a:t>Five days, 90 rows</a:t>
                      </a:r>
                    </a:p>
                  </a:txBody>
                  <a:tcPr marL="91440" marR="91440" marT="45720" marB="45720">
                    <a:solidFill>
                      <a:srgbClr val="FFFFFF"/>
                    </a:solidFill>
                  </a:tcPr>
                </a:tc>
                <a:tc>
                  <a:txBody>
                    <a:bodyPr/>
                    <a:lstStyle/>
                    <a:p>
                      <a:r>
                        <a:rPr sz="1725" b="0">
                          <a:solidFill>
                            <a:srgbClr val="152C3A"/>
                          </a:solidFill>
                          <a:latin typeface="Helvetica Neue"/>
                          <a:ea typeface="Helvetica Neue"/>
                          <a:cs typeface="Helvetica Neue"/>
                        </a:rPr>
                        <a:t>Holt-Winters</a:t>
                      </a:r>
                    </a:p>
                  </a:txBody>
                  <a:tcPr marL="91440" marR="91440" marT="45720" marB="45720">
                    <a:solidFill>
                      <a:srgbClr val="FFFFFF"/>
                    </a:solidFill>
                  </a:tcPr>
                </a:tc>
                <a:tc>
                  <a:txBody>
                    <a:bodyPr/>
                    <a:lstStyle/>
                    <a:p>
                      <a:r>
                        <a:rPr sz="1725" b="0">
                          <a:solidFill>
                            <a:srgbClr val="152C3A"/>
                          </a:solidFill>
                          <a:latin typeface="Helvetica Neue"/>
                          <a:ea typeface="Helvetica Neue"/>
                          <a:cs typeface="Helvetica Neue"/>
                        </a:rPr>
                        <a:t>104.00</a:t>
                      </a:r>
                    </a:p>
                  </a:txBody>
                  <a:tcPr marL="91440" marR="91440" marT="45720" marB="45720">
                    <a:solidFill>
                      <a:srgbClr val="FFFFFF"/>
                    </a:solidFill>
                  </a:tcPr>
                </a:tc>
              </a:tr>
              <a:tr h="476250">
                <a:tc>
                  <a:txBody>
                    <a:bodyPr/>
                    <a:lstStyle/>
                    <a:p>
                      <a:r>
                        <a:rPr sz="1725" b="0">
                          <a:solidFill>
                            <a:srgbClr val="152C3A"/>
                          </a:solidFill>
                          <a:latin typeface="Helvetica Neue"/>
                          <a:ea typeface="Helvetica Neue"/>
                          <a:cs typeface="Helvetica Neue"/>
                        </a:rPr>
                        <a:t>Five days, 90 rows</a:t>
                      </a:r>
                    </a:p>
                  </a:txBody>
                  <a:tcPr marL="91440" marR="91440" marT="45720" marB="45720">
                    <a:solidFill>
                      <a:srgbClr val="EAF0F0"/>
                    </a:solidFill>
                  </a:tcPr>
                </a:tc>
                <a:tc>
                  <a:txBody>
                    <a:bodyPr/>
                    <a:lstStyle/>
                    <a:p>
                      <a:r>
                        <a:rPr sz="1725" b="0">
                          <a:solidFill>
                            <a:srgbClr val="152C3A"/>
                          </a:solidFill>
                          <a:latin typeface="Helvetica Neue"/>
                          <a:ea typeface="Helvetica Neue"/>
                          <a:cs typeface="Helvetica Neue"/>
                        </a:rPr>
                        <a:t>Seasonal naive</a:t>
                      </a:r>
                    </a:p>
                  </a:txBody>
                  <a:tcPr marL="91440" marR="91440" marT="45720" marB="45720">
                    <a:solidFill>
                      <a:srgbClr val="EAF0F0"/>
                    </a:solidFill>
                  </a:tcPr>
                </a:tc>
                <a:tc>
                  <a:txBody>
                    <a:bodyPr/>
                    <a:lstStyle/>
                    <a:p>
                      <a:r>
                        <a:rPr sz="1725" b="0">
                          <a:solidFill>
                            <a:srgbClr val="152C3A"/>
                          </a:solidFill>
                          <a:latin typeface="Helvetica Neue"/>
                          <a:ea typeface="Helvetica Neue"/>
                          <a:cs typeface="Helvetica Neue"/>
                        </a:rPr>
                        <a:t>129.22</a:t>
                      </a:r>
                    </a:p>
                  </a:txBody>
                  <a:tcPr marL="91440" marR="91440" marT="45720" marB="45720">
                    <a:solidFill>
                      <a:srgbClr val="EAF0F0"/>
                    </a:solidFill>
                  </a:tcPr>
                </a:tc>
              </a:tr>
            </a:tbl>
          </a:graphicData>
        </a:graphic>
      </p:graphicFrame>
      <p:sp>
        <p:nvSpPr>
          <p:cNvPr id="4" name="">
            <a:extLst xmlns:a="http://schemas.openxmlformats.org/drawingml/2006/main">
              <a:ext uri="{FF2B5EF4-FFF2-40B4-BE49-F238E27FC236}">
                <a16:creationId xmlns:a16="http://schemas.microsoft.com/office/drawing/2014/main" id="{41844819-EED8-4519-BB06-9009F295DA65}"/>
              </a:ext>
            </a:extLst>
          </p:cNvPr>
          <p:cNvSpPr>
            <a:spLocks xmlns:a="http://schemas.openxmlformats.org/drawingml/2006/main" noGrp="1"/>
          </p:cNvSpPr>
          <p:nvPr/>
        </p:nvSpPr>
        <p:spPr>
          <a:xfrm xmlns:a="http://schemas.openxmlformats.org/drawingml/2006/main">
            <a:off x="714375" y="5429250"/>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007C83"/>
                </a:solidFill>
                <a:latin typeface="Helvetica Neue"/>
                <a:ea typeface="Helvetica Neue"/>
                <a:cs typeface="Helvetica Neue"/>
              </a:defRPr>
            </a:pPr>
            <a:r>
              <a:rPr sz="1950" b="1">
                <a:solidFill>
                  <a:srgbClr val="007C83"/>
                </a:solidFill>
                <a:latin typeface="Helvetica Neue"/>
                <a:ea typeface="Helvetica Neue"/>
                <a:cs typeface="Helvetica Neue"/>
              </a:rPr>
              <a:t>Lower MAE is better. Five-day values pool six origins and are descriptive.</a:t>
            </a:r>
          </a:p>
        </p:txBody>
      </p:sp>
    </p:spTree>
    <p:extLst>
      <p:ext uri="{BB962C8B-B14F-4D97-AF65-F5344CB8AC3E}">
        <p14:creationId xmlns:p14="http://schemas.microsoft.com/office/powerpoint/2010/main" val="1826692363"/>
      </p:ext>
    </p:extLst>
  </p:cSld>
</p:sld>
</file>

<file path=ppt/slides/slide9.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7943724-043B-424A-811D-0095053BDC69}"/>
              </a:ext>
            </a:extLst>
          </p:cNvPr>
          <p:cNvSpPr>
            <a:spLocks xmlns:a="http://schemas.openxmlformats.org/drawingml/2006/main" noGrp="1"/>
          </p:cNvSpPr>
          <p:nvPr/>
        </p:nvSpPr>
        <p:spPr>
          <a:xfrm xmlns:a="http://schemas.openxmlformats.org/drawingml/2006/main">
            <a:off x="666750" y="47625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152C3A"/>
                </a:solidFill>
                <a:latin typeface="Helvetica Neue"/>
                <a:ea typeface="Helvetica Neue"/>
                <a:cs typeface="Helvetica Neue"/>
              </a:defRPr>
            </a:pPr>
            <a:r>
              <a:rPr sz="3150" b="1">
                <a:solidFill>
                  <a:srgbClr val="152C3A"/>
                </a:solidFill>
                <a:latin typeface="Helvetica Neue"/>
                <a:ea typeface="Helvetica Neue"/>
                <a:cs typeface="Helvetica Neue"/>
              </a:rPr>
              <a:t>An analyst owns the disposition</a:t>
            </a:r>
          </a:p>
        </p:txBody>
      </p:sp>
      <p:sp>
        <p:nvSpPr>
          <p:cNvPr id="2" name="">
            <a:extLst xmlns:a="http://schemas.openxmlformats.org/drawingml/2006/main">
              <a:ext uri="{FF2B5EF4-FFF2-40B4-BE49-F238E27FC236}">
                <a16:creationId xmlns:a16="http://schemas.microsoft.com/office/drawing/2014/main" id="{87DC8D0C-020D-429F-8031-CE04B7E29E29}"/>
              </a:ext>
            </a:extLst>
          </p:cNvPr>
          <p:cNvSpPr>
            <a:spLocks xmlns:a="http://schemas.openxmlformats.org/drawingml/2006/main" noGrp="1"/>
          </p:cNvSpPr>
          <p:nvPr/>
        </p:nvSpPr>
        <p:spPr>
          <a:xfrm xmlns:a="http://schemas.openxmlformats.org/drawingml/2006/main">
            <a:off x="11239500" y="633412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874"/>
                </a:solidFill>
                <a:latin typeface="Helvetica Neue"/>
                <a:ea typeface="Helvetica Neue"/>
                <a:cs typeface="Helvetica Neue"/>
              </a:defRPr>
            </a:pPr>
            <a:r>
              <a:rPr sz="1350" b="0">
                <a:solidFill>
                  <a:srgbClr val="526874"/>
                </a:solidFill>
                <a:latin typeface="Helvetica Neue"/>
                <a:ea typeface="Helvetica Neue"/>
                <a:cs typeface="Helvetica Neue"/>
              </a:rPr>
              <a:t>09</a:t>
            </a:r>
          </a:p>
        </p:txBody>
      </p:sp>
      <p:sp>
        <p:nvSpPr>
          <p:cNvPr id="3" name="">
            <a:extLst xmlns:a="http://schemas.openxmlformats.org/drawingml/2006/main">
              <a:ext uri="{FF2B5EF4-FFF2-40B4-BE49-F238E27FC236}">
                <a16:creationId xmlns:a16="http://schemas.microsoft.com/office/drawing/2014/main" id="{13BDD163-22E3-4877-B7E2-163B815689A3}"/>
              </a:ext>
            </a:extLst>
          </p:cNvPr>
          <p:cNvSpPr>
            <a:spLocks xmlns:a="http://schemas.openxmlformats.org/drawingml/2006/main" noGrp="1"/>
          </p:cNvSpPr>
          <p:nvPr/>
        </p:nvSpPr>
        <p:spPr>
          <a:xfrm xmlns:a="http://schemas.openxmlformats.org/drawingml/2006/main">
            <a:off x="714375" y="171450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C3A"/>
                </a:solidFill>
                <a:latin typeface="Helvetica Neue"/>
                <a:ea typeface="Helvetica Neue"/>
                <a:cs typeface="Helvetica Neue"/>
              </a:defRPr>
            </a:pPr>
            <a:r>
              <a:rPr sz="2175" b="0">
                <a:solidFill>
                  <a:srgbClr val="152C3A"/>
                </a:solidFill>
                <a:latin typeface="Helvetica Neue"/>
                <a:ea typeface="Helvetica Neue"/>
                <a:cs typeface="Helvetica Neue"/>
              </a:rPr>
              <a:t>Review the signal and contributing counts.</a:t>
            </a:r>
          </a:p>
        </p:txBody>
      </p:sp>
      <p:sp>
        <p:nvSpPr>
          <p:cNvPr id="4" name="">
            <a:extLst xmlns:a="http://schemas.openxmlformats.org/drawingml/2006/main">
              <a:ext uri="{FF2B5EF4-FFF2-40B4-BE49-F238E27FC236}">
                <a16:creationId xmlns:a16="http://schemas.microsoft.com/office/drawing/2014/main" id="{7A0FD5F6-F3BE-4031-82F2-0289DAC7B007}"/>
              </a:ext>
            </a:extLst>
          </p:cNvPr>
          <p:cNvSpPr>
            <a:spLocks xmlns:a="http://schemas.openxmlformats.org/drawingml/2006/main" noGrp="1"/>
          </p:cNvSpPr>
          <p:nvPr/>
        </p:nvSpPr>
        <p:spPr>
          <a:xfrm xmlns:a="http://schemas.openxmlformats.org/drawingml/2006/main">
            <a:off x="714375" y="266700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C3A"/>
                </a:solidFill>
                <a:latin typeface="Helvetica Neue"/>
                <a:ea typeface="Helvetica Neue"/>
                <a:cs typeface="Helvetica Neue"/>
              </a:defRPr>
            </a:pPr>
            <a:r>
              <a:rPr sz="2175" b="0">
                <a:solidFill>
                  <a:srgbClr val="152C3A"/>
                </a:solidFill>
                <a:latin typeface="Helvetica Neue"/>
                <a:ea typeface="Helvetica Neue"/>
                <a:cs typeface="Helvetica Neue"/>
              </a:rPr>
              <a:t>Check completeness, timing and upstream dependencies.</a:t>
            </a:r>
          </a:p>
        </p:txBody>
      </p:sp>
      <p:sp>
        <p:nvSpPr>
          <p:cNvPr id="5" name="">
            <a:extLst xmlns:a="http://schemas.openxmlformats.org/drawingml/2006/main">
              <a:ext uri="{FF2B5EF4-FFF2-40B4-BE49-F238E27FC236}">
                <a16:creationId xmlns:a16="http://schemas.microsoft.com/office/drawing/2014/main" id="{8830B95E-1BC7-47E8-8A1B-FCE361423FE3}"/>
              </a:ext>
            </a:extLst>
          </p:cNvPr>
          <p:cNvSpPr>
            <a:spLocks xmlns:a="http://schemas.openxmlformats.org/drawingml/2006/main" noGrp="1"/>
          </p:cNvSpPr>
          <p:nvPr/>
        </p:nvSpPr>
        <p:spPr>
          <a:xfrm xmlns:a="http://schemas.openxmlformats.org/drawingml/2006/main">
            <a:off x="714375" y="361950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C3A"/>
                </a:solidFill>
                <a:latin typeface="Helvetica Neue"/>
                <a:ea typeface="Helvetica Neue"/>
                <a:cs typeface="Helvetica Neue"/>
              </a:defRPr>
            </a:pPr>
            <a:r>
              <a:rPr sz="2175" b="0">
                <a:solidFill>
                  <a:srgbClr val="152C3A"/>
                </a:solidFill>
                <a:latin typeface="Helvetica Neue"/>
                <a:ea typeface="Helvetica Neue"/>
                <a:cs typeface="Helvetica Neue"/>
              </a:rPr>
              <a:t>Record a supported explanation or leave the cause unresolved.</a:t>
            </a:r>
          </a:p>
        </p:txBody>
      </p:sp>
      <p:sp>
        <p:nvSpPr>
          <p:cNvPr id="6" name="">
            <a:extLst xmlns:a="http://schemas.openxmlformats.org/drawingml/2006/main">
              <a:ext uri="{FF2B5EF4-FFF2-40B4-BE49-F238E27FC236}">
                <a16:creationId xmlns:a16="http://schemas.microsoft.com/office/drawing/2014/main" id="{D8ADBB1A-89D6-4DE4-A94C-8759523B8528}"/>
              </a:ext>
            </a:extLst>
          </p:cNvPr>
          <p:cNvSpPr>
            <a:spLocks xmlns:a="http://schemas.openxmlformats.org/drawingml/2006/main" noGrp="1"/>
          </p:cNvSpPr>
          <p:nvPr/>
        </p:nvSpPr>
        <p:spPr>
          <a:xfrm xmlns:a="http://schemas.openxmlformats.org/drawingml/2006/main">
            <a:off x="714375" y="457200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C3A"/>
                </a:solidFill>
                <a:latin typeface="Helvetica Neue"/>
                <a:ea typeface="Helvetica Neue"/>
                <a:cs typeface="Helvetica Neue"/>
              </a:defRPr>
            </a:pPr>
            <a:r>
              <a:rPr sz="2175" b="0">
                <a:solidFill>
                  <a:srgbClr val="152C3A"/>
                </a:solidFill>
                <a:latin typeface="Helvetica Neue"/>
                <a:ea typeface="Helvetica Neue"/>
                <a:cs typeface="Helvetica Neue"/>
              </a:rPr>
              <a:t>Assign follow-up, then retain the decision and evidence.</a:t>
            </a:r>
          </a:p>
        </p:txBody>
      </p:sp>
    </p:spTree>
    <p:extLst>
      <p:ext uri="{BB962C8B-B14F-4D97-AF65-F5344CB8AC3E}">
        <p14:creationId xmlns:p14="http://schemas.microsoft.com/office/powerpoint/2010/main" val="712706034"/>
      </p:ext>
    </p:extLst>
  </p:cSld>
</p:sld>
</file>

<file path=ppt/slides/slide10.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83CC607-24DE-4F8C-8985-28548ED03285}"/>
              </a:ext>
            </a:extLst>
          </p:cNvPr>
          <p:cNvSpPr>
            <a:spLocks xmlns:a="http://schemas.openxmlformats.org/drawingml/2006/main" noGrp="1"/>
          </p:cNvSpPr>
          <p:nvPr/>
        </p:nvSpPr>
        <p:spPr>
          <a:xfrm xmlns:a="http://schemas.openxmlformats.org/drawingml/2006/main">
            <a:off x="666750" y="47625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152C3A"/>
                </a:solidFill>
                <a:latin typeface="Helvetica Neue"/>
                <a:ea typeface="Helvetica Neue"/>
                <a:cs typeface="Helvetica Neue"/>
              </a:defRPr>
            </a:pPr>
            <a:r>
              <a:rPr sz="3150" b="1">
                <a:solidFill>
                  <a:srgbClr val="152C3A"/>
                </a:solidFill>
                <a:latin typeface="Helvetica Neue"/>
                <a:ea typeface="Helvetica Neue"/>
                <a:cs typeface="Helvetica Neue"/>
              </a:rPr>
              <a:t>Saved models can score later data</a:t>
            </a:r>
          </a:p>
        </p:txBody>
      </p:sp>
      <p:sp>
        <p:nvSpPr>
          <p:cNvPr id="2" name="">
            <a:extLst xmlns:a="http://schemas.openxmlformats.org/drawingml/2006/main">
              <a:ext uri="{FF2B5EF4-FFF2-40B4-BE49-F238E27FC236}">
                <a16:creationId xmlns:a16="http://schemas.microsoft.com/office/drawing/2014/main" id="{68E8D138-B0FA-4AED-8822-2C91FC3BA8A9}"/>
              </a:ext>
            </a:extLst>
          </p:cNvPr>
          <p:cNvSpPr>
            <a:spLocks xmlns:a="http://schemas.openxmlformats.org/drawingml/2006/main" noGrp="1"/>
          </p:cNvSpPr>
          <p:nvPr/>
        </p:nvSpPr>
        <p:spPr>
          <a:xfrm xmlns:a="http://schemas.openxmlformats.org/drawingml/2006/main">
            <a:off x="11239500" y="633412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874"/>
                </a:solidFill>
                <a:latin typeface="Helvetica Neue"/>
                <a:ea typeface="Helvetica Neue"/>
                <a:cs typeface="Helvetica Neue"/>
              </a:defRPr>
            </a:pPr>
            <a:r>
              <a:rPr sz="1350" b="0">
                <a:solidFill>
                  <a:srgbClr val="526874"/>
                </a:solidFill>
                <a:latin typeface="Helvetica Neue"/>
                <a:ea typeface="Helvetica Neue"/>
                <a:cs typeface="Helvetica Neue"/>
              </a:rPr>
              <a:t>10</a:t>
            </a:r>
          </a:p>
        </p:txBody>
      </p:sp>
      <p:sp>
        <p:nvSpPr>
          <p:cNvPr id="3" name="">
            <a:extLst xmlns:a="http://schemas.openxmlformats.org/drawingml/2006/main">
              <a:ext uri="{FF2B5EF4-FFF2-40B4-BE49-F238E27FC236}">
                <a16:creationId xmlns:a16="http://schemas.microsoft.com/office/drawing/2014/main" id="{1094476A-E5D5-4281-B630-4E4FE24A6689}"/>
              </a:ext>
            </a:extLst>
          </p:cNvPr>
          <p:cNvSpPr>
            <a:spLocks xmlns:a="http://schemas.openxmlformats.org/drawingml/2006/main" noGrp="1"/>
          </p:cNvSpPr>
          <p:nvPr/>
        </p:nvSpPr>
        <p:spPr>
          <a:xfrm xmlns:a="http://schemas.openxmlformats.org/drawingml/2006/main">
            <a:off x="714375" y="171450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C3A"/>
                </a:solidFill>
                <a:latin typeface="Helvetica Neue"/>
                <a:ea typeface="Helvetica Neue"/>
                <a:cs typeface="Helvetica Neue"/>
              </a:defRPr>
            </a:pPr>
            <a:r>
              <a:rPr sz="2175" b="0">
                <a:solidFill>
                  <a:srgbClr val="152C3A"/>
                </a:solidFill>
                <a:latin typeface="Helvetica Neue"/>
                <a:ea typeface="Helvetica Neue"/>
                <a:cs typeface="Helvetica Neue"/>
              </a:rPr>
              <a:t>Fresh processes reload joblib and local MLflow models with identical predictions.</a:t>
            </a:r>
          </a:p>
        </p:txBody>
      </p:sp>
      <p:sp>
        <p:nvSpPr>
          <p:cNvPr id="4" name="">
            <a:extLst xmlns:a="http://schemas.openxmlformats.org/drawingml/2006/main">
              <a:ext uri="{FF2B5EF4-FFF2-40B4-BE49-F238E27FC236}">
                <a16:creationId xmlns:a16="http://schemas.microsoft.com/office/drawing/2014/main" id="{AFC17B33-687F-4D74-AEE5-687C014192D0}"/>
              </a:ext>
            </a:extLst>
          </p:cNvPr>
          <p:cNvSpPr>
            <a:spLocks xmlns:a="http://schemas.openxmlformats.org/drawingml/2006/main" noGrp="1"/>
          </p:cNvSpPr>
          <p:nvPr/>
        </p:nvSpPr>
        <p:spPr>
          <a:xfrm xmlns:a="http://schemas.openxmlformats.org/drawingml/2006/main">
            <a:off x="714375" y="266700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C3A"/>
                </a:solidFill>
                <a:latin typeface="Helvetica Neue"/>
                <a:ea typeface="Helvetica Neue"/>
                <a:cs typeface="Helvetica Neue"/>
              </a:defRPr>
            </a:pPr>
            <a:r>
              <a:rPr sz="2175" b="0">
                <a:solidFill>
                  <a:srgbClr val="152C3A"/>
                </a:solidFill>
                <a:latin typeface="Helvetica Neue"/>
                <a:ea typeface="Helvetica Neue"/>
                <a:cs typeface="Helvetica Neue"/>
              </a:rPr>
              <a:t>The feature contract and model version travel with the artifact.</a:t>
            </a:r>
          </a:p>
        </p:txBody>
      </p:sp>
      <p:sp>
        <p:nvSpPr>
          <p:cNvPr id="5" name="">
            <a:extLst xmlns:a="http://schemas.openxmlformats.org/drawingml/2006/main">
              <a:ext uri="{FF2B5EF4-FFF2-40B4-BE49-F238E27FC236}">
                <a16:creationId xmlns:a16="http://schemas.microsoft.com/office/drawing/2014/main" id="{2C65EF18-6B43-412F-AEA5-ABE6177274CB}"/>
              </a:ext>
            </a:extLst>
          </p:cNvPr>
          <p:cNvSpPr>
            <a:spLocks xmlns:a="http://schemas.openxmlformats.org/drawingml/2006/main" noGrp="1"/>
          </p:cNvSpPr>
          <p:nvPr/>
        </p:nvSpPr>
        <p:spPr>
          <a:xfrm xmlns:a="http://schemas.openxmlformats.org/drawingml/2006/main">
            <a:off x="714375" y="361950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C3A"/>
                </a:solidFill>
                <a:latin typeface="Helvetica Neue"/>
                <a:ea typeface="Helvetica Neue"/>
                <a:cs typeface="Helvetica Neue"/>
              </a:defRPr>
            </a:pPr>
            <a:r>
              <a:rPr sz="2175" b="0">
                <a:solidFill>
                  <a:srgbClr val="152C3A"/>
                </a:solidFill>
                <a:latin typeface="Helvetica Neue"/>
                <a:ea typeface="Helvetica Neue"/>
                <a:cs typeface="Helvetica Neue"/>
              </a:rPr>
              <a:t>A later scoring run loads the model and predicts without refitting.</a:t>
            </a:r>
          </a:p>
        </p:txBody>
      </p:sp>
      <p:sp>
        <p:nvSpPr>
          <p:cNvPr id="6" name="">
            <a:extLst xmlns:a="http://schemas.openxmlformats.org/drawingml/2006/main">
              <a:ext uri="{FF2B5EF4-FFF2-40B4-BE49-F238E27FC236}">
                <a16:creationId xmlns:a16="http://schemas.microsoft.com/office/drawing/2014/main" id="{2362FBCD-A653-41D1-BE04-C8CA66E5B938}"/>
              </a:ext>
            </a:extLst>
          </p:cNvPr>
          <p:cNvSpPr>
            <a:spLocks xmlns:a="http://schemas.openxmlformats.org/drawingml/2006/main" noGrp="1"/>
          </p:cNvSpPr>
          <p:nvPr/>
        </p:nvSpPr>
        <p:spPr>
          <a:xfrm xmlns:a="http://schemas.openxmlformats.org/drawingml/2006/main">
            <a:off x="714375" y="457200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C3A"/>
                </a:solidFill>
                <a:latin typeface="Helvetica Neue"/>
                <a:ea typeface="Helvetica Neue"/>
                <a:cs typeface="Helvetica Neue"/>
              </a:defRPr>
            </a:pPr>
            <a:r>
              <a:rPr sz="2175" b="0">
                <a:solidFill>
                  <a:srgbClr val="152C3A"/>
                </a:solidFill>
                <a:latin typeface="Helvetica Neue"/>
                <a:ea typeface="Helvetica Neue"/>
                <a:cs typeface="Helvetica Neue"/>
              </a:rPr>
              <a:t>Production promotion requires validation, approval and rollback.</a:t>
            </a:r>
          </a:p>
        </p:txBody>
      </p:sp>
    </p:spTree>
    <p:extLst>
      <p:ext uri="{BB962C8B-B14F-4D97-AF65-F5344CB8AC3E}">
        <p14:creationId xmlns:p14="http://schemas.microsoft.com/office/powerpoint/2010/main" val="672017372"/>
      </p:ext>
    </p:extLst>
  </p:cSld>
</p:sld>
</file>

<file path=ppt/slides/slide11.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AB9ECEE-CA20-4890-AB08-4EA2D73E5E42}"/>
              </a:ext>
            </a:extLst>
          </p:cNvPr>
          <p:cNvSpPr>
            <a:spLocks xmlns:a="http://schemas.openxmlformats.org/drawingml/2006/main" noGrp="1"/>
          </p:cNvSpPr>
          <p:nvPr/>
        </p:nvSpPr>
        <p:spPr>
          <a:xfrm xmlns:a="http://schemas.openxmlformats.org/drawingml/2006/main">
            <a:off x="666750" y="47625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152C3A"/>
                </a:solidFill>
                <a:latin typeface="Helvetica Neue"/>
                <a:ea typeface="Helvetica Neue"/>
                <a:cs typeface="Helvetica Neue"/>
              </a:defRPr>
            </a:pPr>
            <a:r>
              <a:rPr sz="3150" b="1">
                <a:solidFill>
                  <a:srgbClr val="152C3A"/>
                </a:solidFill>
                <a:latin typeface="Helvetica Neue"/>
                <a:ea typeface="Helvetica Neue"/>
                <a:cs typeface="Helvetica Neue"/>
              </a:rPr>
              <a:t>Monitoring supports retraining review</a:t>
            </a:r>
          </a:p>
        </p:txBody>
      </p:sp>
      <p:sp>
        <p:nvSpPr>
          <p:cNvPr id="2" name="">
            <a:extLst xmlns:a="http://schemas.openxmlformats.org/drawingml/2006/main">
              <a:ext uri="{FF2B5EF4-FFF2-40B4-BE49-F238E27FC236}">
                <a16:creationId xmlns:a16="http://schemas.microsoft.com/office/drawing/2014/main" id="{3E90205F-79E8-4D3F-8198-FCC02EEB4D94}"/>
              </a:ext>
            </a:extLst>
          </p:cNvPr>
          <p:cNvSpPr>
            <a:spLocks xmlns:a="http://schemas.openxmlformats.org/drawingml/2006/main" noGrp="1"/>
          </p:cNvSpPr>
          <p:nvPr/>
        </p:nvSpPr>
        <p:spPr>
          <a:xfrm xmlns:a="http://schemas.openxmlformats.org/drawingml/2006/main">
            <a:off x="11239500" y="633412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874"/>
                </a:solidFill>
                <a:latin typeface="Helvetica Neue"/>
                <a:ea typeface="Helvetica Neue"/>
                <a:cs typeface="Helvetica Neue"/>
              </a:defRPr>
            </a:pPr>
            <a:r>
              <a:rPr sz="1350" b="0">
                <a:solidFill>
                  <a:srgbClr val="526874"/>
                </a:solidFill>
                <a:latin typeface="Helvetica Neue"/>
                <a:ea typeface="Helvetica Neue"/>
                <a:cs typeface="Helvetica Neue"/>
              </a:rPr>
              <a:t>11</a:t>
            </a:r>
          </a:p>
        </p:txBody>
      </p:sp>
      <p:sp>
        <p:nvSpPr>
          <p:cNvPr id="3" name="">
            <a:extLst xmlns:a="http://schemas.openxmlformats.org/drawingml/2006/main">
              <a:ext uri="{FF2B5EF4-FFF2-40B4-BE49-F238E27FC236}">
                <a16:creationId xmlns:a16="http://schemas.microsoft.com/office/drawing/2014/main" id="{B4CA472C-C4F6-4EBE-8C5A-FC51D333D37B}"/>
              </a:ext>
            </a:extLst>
          </p:cNvPr>
          <p:cNvSpPr>
            <a:spLocks xmlns:a="http://schemas.openxmlformats.org/drawingml/2006/main" noGrp="1"/>
          </p:cNvSpPr>
          <p:nvPr/>
        </p:nvSpPr>
        <p:spPr>
          <a:xfrm xmlns:a="http://schemas.openxmlformats.org/drawingml/2006/main">
            <a:off x="714375" y="171450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C3A"/>
                </a:solidFill>
                <a:latin typeface="Helvetica Neue"/>
                <a:ea typeface="Helvetica Neue"/>
                <a:cs typeface="Helvetica Neue"/>
              </a:defRPr>
            </a:pPr>
            <a:r>
              <a:rPr sz="2175" b="0">
                <a:solidFill>
                  <a:srgbClr val="152C3A"/>
                </a:solidFill>
                <a:latin typeface="Helvetica Neue"/>
                <a:ea typeface="Helvetica Neue"/>
                <a:cs typeface="Helvetica Neue"/>
              </a:rPr>
              <a:t>Monitor inputs and data quality before outcomes arrive.</a:t>
            </a:r>
          </a:p>
        </p:txBody>
      </p:sp>
      <p:sp>
        <p:nvSpPr>
          <p:cNvPr id="4" name="">
            <a:extLst xmlns:a="http://schemas.openxmlformats.org/drawingml/2006/main">
              <a:ext uri="{FF2B5EF4-FFF2-40B4-BE49-F238E27FC236}">
                <a16:creationId xmlns:a16="http://schemas.microsoft.com/office/drawing/2014/main" id="{353846EC-9440-4D98-B120-1CC20A7B30FF}"/>
              </a:ext>
            </a:extLst>
          </p:cNvPr>
          <p:cNvSpPr>
            <a:spLocks xmlns:a="http://schemas.openxmlformats.org/drawingml/2006/main" noGrp="1"/>
          </p:cNvSpPr>
          <p:nvPr/>
        </p:nvSpPr>
        <p:spPr>
          <a:xfrm xmlns:a="http://schemas.openxmlformats.org/drawingml/2006/main">
            <a:off x="714375" y="266700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C3A"/>
                </a:solidFill>
                <a:latin typeface="Helvetica Neue"/>
                <a:ea typeface="Helvetica Neue"/>
                <a:cs typeface="Helvetica Neue"/>
              </a:defRPr>
            </a:pPr>
            <a:r>
              <a:rPr sz="2175" b="0">
                <a:solidFill>
                  <a:srgbClr val="152C3A"/>
                </a:solidFill>
                <a:latin typeface="Helvetica Neue"/>
                <a:ea typeface="Helvetica Neue"/>
                <a:cs typeface="Helvetica Neue"/>
              </a:rPr>
              <a:t>Match predictions to mature actuals and compare baseline error.</a:t>
            </a:r>
          </a:p>
        </p:txBody>
      </p:sp>
      <p:sp>
        <p:nvSpPr>
          <p:cNvPr id="5" name="">
            <a:extLst xmlns:a="http://schemas.openxmlformats.org/drawingml/2006/main">
              <a:ext uri="{FF2B5EF4-FFF2-40B4-BE49-F238E27FC236}">
                <a16:creationId xmlns:a16="http://schemas.microsoft.com/office/drawing/2014/main" id="{C9B560DA-6FFB-4A6C-8919-EF0ABD06CC13}"/>
              </a:ext>
            </a:extLst>
          </p:cNvPr>
          <p:cNvSpPr>
            <a:spLocks xmlns:a="http://schemas.openxmlformats.org/drawingml/2006/main" noGrp="1"/>
          </p:cNvSpPr>
          <p:nvPr/>
        </p:nvSpPr>
        <p:spPr>
          <a:xfrm xmlns:a="http://schemas.openxmlformats.org/drawingml/2006/main">
            <a:off x="714375" y="361950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C3A"/>
                </a:solidFill>
                <a:latin typeface="Helvetica Neue"/>
                <a:ea typeface="Helvetica Neue"/>
                <a:cs typeface="Helvetica Neue"/>
              </a:defRPr>
            </a:pPr>
            <a:r>
              <a:rPr sz="2175" b="0">
                <a:solidFill>
                  <a:srgbClr val="152C3A"/>
                </a:solidFill>
                <a:latin typeface="Helvetica Neue"/>
                <a:ea typeface="Helvetica Neue"/>
                <a:cs typeface="Helvetica Neue"/>
              </a:rPr>
              <a:t>Controlled outcome shift: one worse window triggers watch, two trigger review.</a:t>
            </a:r>
          </a:p>
        </p:txBody>
      </p:sp>
      <p:sp>
        <p:nvSpPr>
          <p:cNvPr id="6" name="">
            <a:extLst xmlns:a="http://schemas.openxmlformats.org/drawingml/2006/main">
              <a:ext uri="{FF2B5EF4-FFF2-40B4-BE49-F238E27FC236}">
                <a16:creationId xmlns:a16="http://schemas.microsoft.com/office/drawing/2014/main" id="{D257AF78-E33F-4F07-921A-6D9B5FEDB9F4}"/>
              </a:ext>
            </a:extLst>
          </p:cNvPr>
          <p:cNvSpPr>
            <a:spLocks xmlns:a="http://schemas.openxmlformats.org/drawingml/2006/main" noGrp="1"/>
          </p:cNvSpPr>
          <p:nvPr/>
        </p:nvSpPr>
        <p:spPr>
          <a:xfrm xmlns:a="http://schemas.openxmlformats.org/drawingml/2006/main">
            <a:off x="714375" y="457200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C3A"/>
                </a:solidFill>
                <a:latin typeface="Helvetica Neue"/>
                <a:ea typeface="Helvetica Neue"/>
                <a:cs typeface="Helvetica Neue"/>
              </a:defRPr>
            </a:pPr>
            <a:r>
              <a:rPr sz="2175" b="0">
                <a:solidFill>
                  <a:srgbClr val="152C3A"/>
                </a:solidFill>
                <a:latin typeface="Helvetica Neue"/>
                <a:ea typeface="Helvetica Neue"/>
                <a:cs typeface="Helvetica Neue"/>
              </a:rPr>
              <a:t>Investigate first. Compare a candidate on later dates before promotion.</a:t>
            </a:r>
          </a:p>
        </p:txBody>
      </p:sp>
    </p:spTree>
    <p:extLst>
      <p:ext uri="{BB962C8B-B14F-4D97-AF65-F5344CB8AC3E}">
        <p14:creationId xmlns:p14="http://schemas.microsoft.com/office/powerpoint/2010/main" val="1591514808"/>
      </p:ext>
    </p:extLst>
  </p:cSld>
</p:sld>
</file>

<file path=ppt/slides/slide12.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542E029-EA98-4770-9D3E-9827B7D43E86}"/>
              </a:ext>
            </a:extLst>
          </p:cNvPr>
          <p:cNvSpPr>
            <a:spLocks xmlns:a="http://schemas.openxmlformats.org/drawingml/2006/main" noGrp="1"/>
          </p:cNvSpPr>
          <p:nvPr/>
        </p:nvSpPr>
        <p:spPr>
          <a:xfrm xmlns:a="http://schemas.openxmlformats.org/drawingml/2006/main">
            <a:off x="666750" y="47625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152C3A"/>
                </a:solidFill>
                <a:latin typeface="Helvetica Neue"/>
                <a:ea typeface="Helvetica Neue"/>
                <a:cs typeface="Helvetica Neue"/>
              </a:defRPr>
            </a:pPr>
            <a:r>
              <a:rPr sz="3150" b="1">
                <a:solidFill>
                  <a:srgbClr val="152C3A"/>
                </a:solidFill>
                <a:latin typeface="Helvetica Neue"/>
                <a:ea typeface="Helvetica Neue"/>
                <a:cs typeface="Helvetica Neue"/>
              </a:rPr>
              <a:t>What this demonstration establishes</a:t>
            </a:r>
          </a:p>
        </p:txBody>
      </p:sp>
      <p:sp>
        <p:nvSpPr>
          <p:cNvPr id="2" name="">
            <a:extLst xmlns:a="http://schemas.openxmlformats.org/drawingml/2006/main">
              <a:ext uri="{FF2B5EF4-FFF2-40B4-BE49-F238E27FC236}">
                <a16:creationId xmlns:a16="http://schemas.microsoft.com/office/drawing/2014/main" id="{DB8655A3-BAC3-4374-9315-A674936ADE70}"/>
              </a:ext>
            </a:extLst>
          </p:cNvPr>
          <p:cNvSpPr>
            <a:spLocks xmlns:a="http://schemas.openxmlformats.org/drawingml/2006/main" noGrp="1"/>
          </p:cNvSpPr>
          <p:nvPr/>
        </p:nvSpPr>
        <p:spPr>
          <a:xfrm xmlns:a="http://schemas.openxmlformats.org/drawingml/2006/main">
            <a:off x="11239500" y="633412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874"/>
                </a:solidFill>
                <a:latin typeface="Helvetica Neue"/>
                <a:ea typeface="Helvetica Neue"/>
                <a:cs typeface="Helvetica Neue"/>
              </a:defRPr>
            </a:pPr>
            <a:r>
              <a:rPr sz="1350" b="0">
                <a:solidFill>
                  <a:srgbClr val="526874"/>
                </a:solidFill>
                <a:latin typeface="Helvetica Neue"/>
                <a:ea typeface="Helvetica Neue"/>
                <a:cs typeface="Helvetica Neue"/>
              </a:rPr>
              <a:t>12</a:t>
            </a:r>
          </a:p>
        </p:txBody>
      </p:sp>
      <p:sp>
        <p:nvSpPr>
          <p:cNvPr id="3" name="">
            <a:extLst xmlns:a="http://schemas.openxmlformats.org/drawingml/2006/main">
              <a:ext uri="{FF2B5EF4-FFF2-40B4-BE49-F238E27FC236}">
                <a16:creationId xmlns:a16="http://schemas.microsoft.com/office/drawing/2014/main" id="{C0D133E4-5026-4D8C-9A52-AF0632C79678}"/>
              </a:ext>
            </a:extLst>
          </p:cNvPr>
          <p:cNvSpPr>
            <a:spLocks xmlns:a="http://schemas.openxmlformats.org/drawingml/2006/main" noGrp="1"/>
          </p:cNvSpPr>
          <p:nvPr/>
        </p:nvSpPr>
        <p:spPr>
          <a:xfrm xmlns:a="http://schemas.openxmlformats.org/drawingml/2006/main">
            <a:off x="714375" y="171450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C3A"/>
                </a:solidFill>
                <a:latin typeface="Helvetica Neue"/>
                <a:ea typeface="Helvetica Neue"/>
                <a:cs typeface="Helvetica Neue"/>
              </a:defRPr>
            </a:pPr>
            <a:r>
              <a:rPr sz="2175" b="0">
                <a:solidFill>
                  <a:srgbClr val="152C3A"/>
                </a:solidFill>
                <a:latin typeface="Helvetica Neue"/>
                <a:ea typeface="Helvetica Neue"/>
                <a:cs typeface="Helvetica Neue"/>
              </a:rPr>
              <a:t>A reproducible path from daily counts to evidence for review.</a:t>
            </a:r>
          </a:p>
        </p:txBody>
      </p:sp>
      <p:sp>
        <p:nvSpPr>
          <p:cNvPr id="4" name="">
            <a:extLst xmlns:a="http://schemas.openxmlformats.org/drawingml/2006/main">
              <a:ext uri="{FF2B5EF4-FFF2-40B4-BE49-F238E27FC236}">
                <a16:creationId xmlns:a16="http://schemas.microsoft.com/office/drawing/2014/main" id="{A93E40C0-737E-44A9-8831-4738BD69A1DB}"/>
              </a:ext>
            </a:extLst>
          </p:cNvPr>
          <p:cNvSpPr>
            <a:spLocks xmlns:a="http://schemas.openxmlformats.org/drawingml/2006/main" noGrp="1"/>
          </p:cNvSpPr>
          <p:nvPr/>
        </p:nvSpPr>
        <p:spPr>
          <a:xfrm xmlns:a="http://schemas.openxmlformats.org/drawingml/2006/main">
            <a:off x="714375" y="266700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C3A"/>
                </a:solidFill>
                <a:latin typeface="Helvetica Neue"/>
                <a:ea typeface="Helvetica Neue"/>
                <a:cs typeface="Helvetica Neue"/>
              </a:defRPr>
            </a:pPr>
            <a:r>
              <a:rPr sz="2175" b="0">
                <a:solidFill>
                  <a:srgbClr val="152C3A"/>
                </a:solidFill>
                <a:latin typeface="Helvetica Neue"/>
                <a:ea typeface="Helvetica Neue"/>
                <a:cs typeface="Helvetica Neue"/>
              </a:rPr>
              <a:t>Measured model comparisons and a saved-model scoring example.</a:t>
            </a:r>
          </a:p>
        </p:txBody>
      </p:sp>
      <p:sp>
        <p:nvSpPr>
          <p:cNvPr id="5" name="">
            <a:extLst xmlns:a="http://schemas.openxmlformats.org/drawingml/2006/main">
              <a:ext uri="{FF2B5EF4-FFF2-40B4-BE49-F238E27FC236}">
                <a16:creationId xmlns:a16="http://schemas.microsoft.com/office/drawing/2014/main" id="{8426A0F5-0116-4D68-915C-44E542DA0D94}"/>
              </a:ext>
            </a:extLst>
          </p:cNvPr>
          <p:cNvSpPr>
            <a:spLocks xmlns:a="http://schemas.openxmlformats.org/drawingml/2006/main" noGrp="1"/>
          </p:cNvSpPr>
          <p:nvPr/>
        </p:nvSpPr>
        <p:spPr>
          <a:xfrm xmlns:a="http://schemas.openxmlformats.org/drawingml/2006/main">
            <a:off x="714375" y="361950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C3A"/>
                </a:solidFill>
                <a:latin typeface="Helvetica Neue"/>
                <a:ea typeface="Helvetica Neue"/>
                <a:cs typeface="Helvetica Neue"/>
              </a:defRPr>
            </a:pPr>
            <a:r>
              <a:rPr sz="2175" b="0">
                <a:solidFill>
                  <a:srgbClr val="152C3A"/>
                </a:solidFill>
                <a:latin typeface="Helvetica Neue"/>
                <a:ea typeface="Helvetica Neue"/>
                <a:cs typeface="Helvetica Neue"/>
              </a:rPr>
              <a:t>A pilot still needs representative data and agreed success criteria.</a:t>
            </a:r>
          </a:p>
        </p:txBody>
      </p:sp>
      <p:sp>
        <p:nvSpPr>
          <p:cNvPr id="6" name="">
            <a:extLst xmlns:a="http://schemas.openxmlformats.org/drawingml/2006/main">
              <a:ext uri="{FF2B5EF4-FFF2-40B4-BE49-F238E27FC236}">
                <a16:creationId xmlns:a16="http://schemas.microsoft.com/office/drawing/2014/main" id="{DFD29F7F-9EAA-4CE1-A494-523D9ABB026F}"/>
              </a:ext>
            </a:extLst>
          </p:cNvPr>
          <p:cNvSpPr>
            <a:spLocks xmlns:a="http://schemas.openxmlformats.org/drawingml/2006/main" noGrp="1"/>
          </p:cNvSpPr>
          <p:nvPr/>
        </p:nvSpPr>
        <p:spPr>
          <a:xfrm xmlns:a="http://schemas.openxmlformats.org/drawingml/2006/main">
            <a:off x="714375" y="457200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C3A"/>
                </a:solidFill>
                <a:latin typeface="Helvetica Neue"/>
                <a:ea typeface="Helvetica Neue"/>
                <a:cs typeface="Helvetica Neue"/>
              </a:defRPr>
            </a:pPr>
            <a:r>
              <a:rPr sz="2175" b="0">
                <a:solidFill>
                  <a:srgbClr val="152C3A"/>
                </a:solidFill>
                <a:latin typeface="Helvetica Neue"/>
                <a:ea typeface="Helvetica Neue"/>
                <a:cs typeface="Helvetica Neue"/>
              </a:rPr>
              <a:t>Human approval controls operational decisions and model promotion.</a:t>
            </a:r>
          </a:p>
        </p:txBody>
      </p:sp>
    </p:spTree>
    <p:extLst>
      <p:ext uri="{BB962C8B-B14F-4D97-AF65-F5344CB8AC3E}">
        <p14:creationId xmlns:p14="http://schemas.microsoft.com/office/powerpoint/2010/main" val="552262572"/>
      </p:ext>
    </p:extLst>
  </p:cSld>
</p:sld>
</file>

<file path=ppt/slides/slide13.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C76C602-1DD1-4FC4-B5E8-F30F5D71A69A}"/>
              </a:ext>
            </a:extLst>
          </p:cNvPr>
          <p:cNvSpPr>
            <a:spLocks xmlns:a="http://schemas.openxmlformats.org/drawingml/2006/main" noGrp="1"/>
          </p:cNvSpPr>
          <p:nvPr/>
        </p:nvSpPr>
        <p:spPr>
          <a:xfrm xmlns:a="http://schemas.openxmlformats.org/drawingml/2006/main">
            <a:off x="666750" y="47625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152C3A"/>
                </a:solidFill>
                <a:latin typeface="Helvetica Neue"/>
                <a:ea typeface="Helvetica Neue"/>
                <a:cs typeface="Helvetica Neue"/>
              </a:defRPr>
            </a:pPr>
            <a:r>
              <a:rPr sz="3150" b="1">
                <a:solidFill>
                  <a:srgbClr val="152C3A"/>
                </a:solidFill>
                <a:latin typeface="Helvetica Neue"/>
                <a:ea typeface="Helvetica Neue"/>
                <a:cs typeface="Helvetica Neue"/>
              </a:rPr>
              <a:t>Appendix A   Data and feature contract</a:t>
            </a:r>
          </a:p>
        </p:txBody>
      </p:sp>
      <p:sp>
        <p:nvSpPr>
          <p:cNvPr id="2" name="">
            <a:extLst xmlns:a="http://schemas.openxmlformats.org/drawingml/2006/main">
              <a:ext uri="{FF2B5EF4-FFF2-40B4-BE49-F238E27FC236}">
                <a16:creationId xmlns:a16="http://schemas.microsoft.com/office/drawing/2014/main" id="{48D09172-EA7C-40EC-B468-FC5A7953EB74}"/>
              </a:ext>
            </a:extLst>
          </p:cNvPr>
          <p:cNvSpPr>
            <a:spLocks xmlns:a="http://schemas.openxmlformats.org/drawingml/2006/main" noGrp="1"/>
          </p:cNvSpPr>
          <p:nvPr/>
        </p:nvSpPr>
        <p:spPr>
          <a:xfrm xmlns:a="http://schemas.openxmlformats.org/drawingml/2006/main">
            <a:off x="11239500" y="633412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874"/>
                </a:solidFill>
                <a:latin typeface="Helvetica Neue"/>
                <a:ea typeface="Helvetica Neue"/>
                <a:cs typeface="Helvetica Neue"/>
              </a:defRPr>
            </a:pPr>
            <a:r>
              <a:rPr sz="1350" b="0">
                <a:solidFill>
                  <a:srgbClr val="526874"/>
                </a:solidFill>
                <a:latin typeface="Helvetica Neue"/>
                <a:ea typeface="Helvetica Neue"/>
                <a:cs typeface="Helvetica Neue"/>
              </a:rPr>
              <a:t>13</a:t>
            </a:r>
          </a:p>
        </p:txBody>
      </p:sp>
      <p:sp>
        <p:nvSpPr>
          <p:cNvPr id="3" name="">
            <a:extLst xmlns:a="http://schemas.openxmlformats.org/drawingml/2006/main">
              <a:ext uri="{FF2B5EF4-FFF2-40B4-BE49-F238E27FC236}">
                <a16:creationId xmlns:a16="http://schemas.microsoft.com/office/drawing/2014/main" id="{5875D60A-9982-4096-8236-A809640B3156}"/>
              </a:ext>
            </a:extLst>
          </p:cNvPr>
          <p:cNvSpPr>
            <a:spLocks xmlns:a="http://schemas.openxmlformats.org/drawingml/2006/main" noGrp="1"/>
          </p:cNvSpPr>
          <p:nvPr/>
        </p:nvSpPr>
        <p:spPr>
          <a:xfrm xmlns:a="http://schemas.openxmlformats.org/drawingml/2006/main">
            <a:off x="714375" y="161925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2C3A"/>
                </a:solidFill>
                <a:latin typeface="Helvetica Neue"/>
                <a:ea typeface="Helvetica Neue"/>
                <a:cs typeface="Helvetica Neue"/>
              </a:defRPr>
            </a:pPr>
            <a:r>
              <a:rPr sz="1950" b="0">
                <a:solidFill>
                  <a:srgbClr val="152C3A"/>
                </a:solidFill>
                <a:latin typeface="Helvetica Neue"/>
                <a:ea typeface="Helvetica Neue"/>
                <a:cs typeface="Helvetica Neue"/>
              </a:rPr>
              <a:t>1,179,830 synthetic event rows aggregate to 1,260 daily observations across 3 series and 420 business dates.</a:t>
            </a:r>
          </a:p>
        </p:txBody>
      </p:sp>
      <p:sp>
        <p:nvSpPr>
          <p:cNvPr id="4" name="">
            <a:extLst xmlns:a="http://schemas.openxmlformats.org/drawingml/2006/main">
              <a:ext uri="{FF2B5EF4-FFF2-40B4-BE49-F238E27FC236}">
                <a16:creationId xmlns:a16="http://schemas.microsoft.com/office/drawing/2014/main" id="{C51CA00D-830D-4BF8-8573-D36F1A03B03F}"/>
              </a:ext>
            </a:extLst>
          </p:cNvPr>
          <p:cNvSpPr>
            <a:spLocks xmlns:a="http://schemas.openxmlformats.org/drawingml/2006/main" noGrp="1"/>
          </p:cNvSpPr>
          <p:nvPr/>
        </p:nvSpPr>
        <p:spPr>
          <a:xfrm xmlns:a="http://schemas.openxmlformats.org/drawingml/2006/main">
            <a:off x="714375" y="257175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2C3A"/>
                </a:solidFill>
                <a:latin typeface="Helvetica Neue"/>
                <a:ea typeface="Helvetica Neue"/>
                <a:cs typeface="Helvetica Neue"/>
              </a:defRPr>
            </a:pPr>
            <a:r>
              <a:rPr sz="1950" b="0">
                <a:solidFill>
                  <a:srgbClr val="152C3A"/>
                </a:solidFill>
                <a:latin typeface="Helvetica Neue"/>
                <a:ea typeface="Helvetica Neue"/>
                <a:cs typeface="Helvetica Neue"/>
              </a:rPr>
              <a:t>12 classifier features: window level and spread, moving range, latest value, recent mean and spread, trend, reference level and spread, two deviations.</a:t>
            </a:r>
          </a:p>
        </p:txBody>
      </p:sp>
      <p:sp>
        <p:nvSpPr>
          <p:cNvPr id="5" name="">
            <a:extLst xmlns:a="http://schemas.openxmlformats.org/drawingml/2006/main">
              <a:ext uri="{FF2B5EF4-FFF2-40B4-BE49-F238E27FC236}">
                <a16:creationId xmlns:a16="http://schemas.microsoft.com/office/drawing/2014/main" id="{AF82176B-4251-48D2-97C8-E586D0506803}"/>
              </a:ext>
            </a:extLst>
          </p:cNvPr>
          <p:cNvSpPr>
            <a:spLocks xmlns:a="http://schemas.openxmlformats.org/drawingml/2006/main" noGrp="1"/>
          </p:cNvSpPr>
          <p:nvPr/>
        </p:nvSpPr>
        <p:spPr>
          <a:xfrm xmlns:a="http://schemas.openxmlformats.org/drawingml/2006/main">
            <a:off x="714375" y="352425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2C3A"/>
                </a:solidFill>
                <a:latin typeface="Helvetica Neue"/>
                <a:ea typeface="Helvetica Neue"/>
                <a:cs typeface="Helvetica Neue"/>
              </a:defRPr>
            </a:pPr>
            <a:r>
              <a:rPr sz="1950" b="0">
                <a:solidFill>
                  <a:srgbClr val="152C3A"/>
                </a:solidFill>
                <a:latin typeface="Helvetica Neue"/>
                <a:ea typeface="Helvetica Neue"/>
                <a:cs typeface="Helvetica Neue"/>
              </a:rPr>
              <a:t>25-day measurement windows and 90-day reference histories.</a:t>
            </a:r>
          </a:p>
        </p:txBody>
      </p:sp>
      <p:sp>
        <p:nvSpPr>
          <p:cNvPr id="6" name="">
            <a:extLst xmlns:a="http://schemas.openxmlformats.org/drawingml/2006/main">
              <a:ext uri="{FF2B5EF4-FFF2-40B4-BE49-F238E27FC236}">
                <a16:creationId xmlns:a16="http://schemas.microsoft.com/office/drawing/2014/main" id="{7825CD61-A9CC-451A-9294-03FAE961D641}"/>
              </a:ext>
            </a:extLst>
          </p:cNvPr>
          <p:cNvSpPr>
            <a:spLocks xmlns:a="http://schemas.openxmlformats.org/drawingml/2006/main" noGrp="1"/>
          </p:cNvSpPr>
          <p:nvPr/>
        </p:nvSpPr>
        <p:spPr>
          <a:xfrm xmlns:a="http://schemas.openxmlformats.org/drawingml/2006/main">
            <a:off x="714375" y="447675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2C3A"/>
                </a:solidFill>
                <a:latin typeface="Helvetica Neue"/>
                <a:ea typeface="Helvetica Neue"/>
                <a:cs typeface="Helvetica Neue"/>
              </a:defRPr>
            </a:pPr>
            <a:r>
              <a:rPr sz="1950" b="0">
                <a:solidFill>
                  <a:srgbClr val="152C3A"/>
                </a:solidFill>
                <a:latin typeface="Helvetica Neue"/>
                <a:ea typeface="Helvetica Neue"/>
                <a:cs typeface="Helvetica Neue"/>
              </a:rPr>
              <a:t>Destination schema: ml_statistical_process_controls.demo_schema</a:t>
            </a:r>
          </a:p>
        </p:txBody>
      </p:sp>
    </p:spTree>
    <p:extLst>
      <p:ext uri="{BB962C8B-B14F-4D97-AF65-F5344CB8AC3E}">
        <p14:creationId xmlns:p14="http://schemas.microsoft.com/office/powerpoint/2010/main" val="195366635"/>
      </p:ext>
    </p:extLst>
  </p:cSld>
</p:sld>
</file>

<file path=ppt/slides/slide14.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C65CA4DF-7825-4153-BFF4-2A08817F1CEB}"/>
              </a:ext>
            </a:extLst>
          </p:cNvPr>
          <p:cNvSpPr>
            <a:spLocks xmlns:a="http://schemas.openxmlformats.org/drawingml/2006/main" noGrp="1"/>
          </p:cNvSpPr>
          <p:nvPr/>
        </p:nvSpPr>
        <p:spPr>
          <a:xfrm xmlns:a="http://schemas.openxmlformats.org/drawingml/2006/main">
            <a:off x="666750" y="47625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152C3A"/>
                </a:solidFill>
                <a:latin typeface="Helvetica Neue"/>
                <a:ea typeface="Helvetica Neue"/>
                <a:cs typeface="Helvetica Neue"/>
              </a:defRPr>
            </a:pPr>
            <a:r>
              <a:rPr sz="3150" b="1">
                <a:solidFill>
                  <a:srgbClr val="152C3A"/>
                </a:solidFill>
                <a:latin typeface="Helvetica Neue"/>
                <a:ea typeface="Helvetica Neue"/>
                <a:cs typeface="Helvetica Neue"/>
              </a:rPr>
              <a:t>Appendix B   Model training details</a:t>
            </a:r>
          </a:p>
        </p:txBody>
      </p:sp>
      <p:sp>
        <p:nvSpPr>
          <p:cNvPr id="2" name="">
            <a:extLst xmlns:a="http://schemas.openxmlformats.org/drawingml/2006/main">
              <a:ext uri="{FF2B5EF4-FFF2-40B4-BE49-F238E27FC236}">
                <a16:creationId xmlns:a16="http://schemas.microsoft.com/office/drawing/2014/main" id="{57143447-8AD3-4037-A486-357E67BB3F57}"/>
              </a:ext>
            </a:extLst>
          </p:cNvPr>
          <p:cNvSpPr>
            <a:spLocks xmlns:a="http://schemas.openxmlformats.org/drawingml/2006/main" noGrp="1"/>
          </p:cNvSpPr>
          <p:nvPr/>
        </p:nvSpPr>
        <p:spPr>
          <a:xfrm xmlns:a="http://schemas.openxmlformats.org/drawingml/2006/main">
            <a:off x="11239500" y="633412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874"/>
                </a:solidFill>
                <a:latin typeface="Helvetica Neue"/>
                <a:ea typeface="Helvetica Neue"/>
                <a:cs typeface="Helvetica Neue"/>
              </a:defRPr>
            </a:pPr>
            <a:r>
              <a:rPr sz="1350" b="0">
                <a:solidFill>
                  <a:srgbClr val="526874"/>
                </a:solidFill>
                <a:latin typeface="Helvetica Neue"/>
                <a:ea typeface="Helvetica Neue"/>
                <a:cs typeface="Helvetica Neue"/>
              </a:rPr>
              <a:t>14</a:t>
            </a:r>
          </a:p>
        </p:txBody>
      </p:sp>
      <p:graphicFrame>
        <p:nvGraphicFramePr>
          <p:cNvPr id="6" name=""/>
          <p:cNvGraphicFramePr/>
          <p:nvPr/>
        </p:nvGraphicFramePr>
        <p:xfrm>
          <a:off xmlns:a="http://schemas.openxmlformats.org/drawingml/2006/main" x="714375" y="1666875"/>
          <a:ext xmlns:a="http://schemas.openxmlformats.org/drawingml/2006/main" cx="10763250" cy="3314700"/>
        </p:xfrm>
        <a:graphic xmlns:a="http://schemas.openxmlformats.org/drawingml/2006/main">
          <a:graphicData uri="http://schemas.openxmlformats.org/drawingml/2006/table">
            <a:tbl>
              <a:tblPr/>
              <a:tblGrid>
                <a:gridCol w="3714750"/>
                <a:gridCol w="7048500"/>
              </a:tblGrid>
              <a:tr h="552450">
                <a:tc>
                  <a:txBody>
                    <a:bodyPr/>
                    <a:lstStyle/>
                    <a:p>
                      <a:r>
                        <a:rPr sz="1725" b="1">
                          <a:solidFill>
                            <a:srgbClr val="FFFFFF"/>
                          </a:solidFill>
                          <a:latin typeface="Helvetica Neue"/>
                          <a:ea typeface="Helvetica Neue"/>
                          <a:cs typeface="Helvetica Neue"/>
                        </a:rPr>
                        <a:t>Model</a:t>
                      </a:r>
                    </a:p>
                  </a:txBody>
                  <a:tcPr marL="91440" marR="91440" marT="45720" marB="45720">
                    <a:solidFill>
                      <a:srgbClr val="152C3A"/>
                    </a:solidFill>
                  </a:tcPr>
                </a:tc>
                <a:tc>
                  <a:txBody>
                    <a:bodyPr/>
                    <a:lstStyle/>
                    <a:p>
                      <a:r>
                        <a:rPr sz="1725" b="1">
                          <a:solidFill>
                            <a:srgbClr val="FFFFFF"/>
                          </a:solidFill>
                          <a:latin typeface="Helvetica Neue"/>
                          <a:ea typeface="Helvetica Neue"/>
                          <a:cs typeface="Helvetica Neue"/>
                        </a:rPr>
                        <a:t>Training configuration</a:t>
                      </a:r>
                    </a:p>
                  </a:txBody>
                  <a:tcPr marL="91440" marR="91440" marT="45720" marB="45720">
                    <a:solidFill>
                      <a:srgbClr val="152C3A"/>
                    </a:solidFill>
                  </a:tcPr>
                </a:tc>
              </a:tr>
              <a:tr h="552450">
                <a:tc>
                  <a:txBody>
                    <a:bodyPr/>
                    <a:lstStyle/>
                    <a:p>
                      <a:r>
                        <a:rPr sz="1725" b="0">
                          <a:solidFill>
                            <a:srgbClr val="152C3A"/>
                          </a:solidFill>
                          <a:latin typeface="Helvetica Neue"/>
                          <a:ea typeface="Helvetica Neue"/>
                          <a:cs typeface="Helvetica Neue"/>
                        </a:rPr>
                        <a:t>Holdout RF classifier</a:t>
                      </a:r>
                    </a:p>
                  </a:txBody>
                  <a:tcPr marL="91440" marR="91440" marT="45720" marB="45720">
                    <a:solidFill>
                      <a:srgbClr val="FFFFFF"/>
                    </a:solidFill>
                  </a:tcPr>
                </a:tc>
                <a:tc>
                  <a:txBody>
                    <a:bodyPr/>
                    <a:lstStyle/>
                    <a:p>
                      <a:r>
                        <a:rPr sz="1725" b="0">
                          <a:solidFill>
                            <a:srgbClr val="152C3A"/>
                          </a:solidFill>
                          <a:latin typeface="Helvetica Neue"/>
                          <a:ea typeface="Helvetica Neue"/>
                          <a:cs typeface="Helvetica Neue"/>
                        </a:rPr>
                        <a:t>100 trees, depth 8, leaf minimum 3, balanced classes</a:t>
                      </a:r>
                    </a:p>
                  </a:txBody>
                  <a:tcPr marL="91440" marR="91440" marT="45720" marB="45720">
                    <a:solidFill>
                      <a:srgbClr val="FFFFFF"/>
                    </a:solidFill>
                  </a:tcPr>
                </a:tc>
              </a:tr>
              <a:tr h="552450">
                <a:tc>
                  <a:txBody>
                    <a:bodyPr/>
                    <a:lstStyle/>
                    <a:p>
                      <a:r>
                        <a:rPr sz="1725" b="0">
                          <a:solidFill>
                            <a:srgbClr val="152C3A"/>
                          </a:solidFill>
                          <a:latin typeface="Helvetica Neue"/>
                          <a:ea typeface="Helvetica Neue"/>
                          <a:cs typeface="Helvetica Neue"/>
                        </a:rPr>
                        <a:t>Rolling-fold RF classifier</a:t>
                      </a:r>
                    </a:p>
                  </a:txBody>
                  <a:tcPr marL="91440" marR="91440" marT="45720" marB="45720">
                    <a:solidFill>
                      <a:srgbClr val="EAF0F0"/>
                    </a:solidFill>
                  </a:tcPr>
                </a:tc>
                <a:tc>
                  <a:txBody>
                    <a:bodyPr/>
                    <a:lstStyle/>
                    <a:p>
                      <a:r>
                        <a:rPr sz="1725" b="0">
                          <a:solidFill>
                            <a:srgbClr val="152C3A"/>
                          </a:solidFill>
                          <a:latin typeface="Helvetica Neue"/>
                          <a:ea typeface="Helvetica Neue"/>
                          <a:cs typeface="Helvetica Neue"/>
                        </a:rPr>
                        <a:t>60 trees, depth 7, leaf minimum 3</a:t>
                      </a:r>
                    </a:p>
                  </a:txBody>
                  <a:tcPr marL="91440" marR="91440" marT="45720" marB="45720">
                    <a:solidFill>
                      <a:srgbClr val="EAF0F0"/>
                    </a:solidFill>
                  </a:tcPr>
                </a:tc>
              </a:tr>
              <a:tr h="552450">
                <a:tc>
                  <a:txBody>
                    <a:bodyPr/>
                    <a:lstStyle/>
                    <a:p>
                      <a:r>
                        <a:rPr sz="1725" b="0">
                          <a:solidFill>
                            <a:srgbClr val="152C3A"/>
                          </a:solidFill>
                          <a:latin typeface="Helvetica Neue"/>
                          <a:ea typeface="Helvetica Neue"/>
                          <a:cs typeface="Helvetica Neue"/>
                        </a:rPr>
                        <a:t>Logistic regression</a:t>
                      </a:r>
                    </a:p>
                  </a:txBody>
                  <a:tcPr marL="91440" marR="91440" marT="45720" marB="45720">
                    <a:solidFill>
                      <a:srgbClr val="FFFFFF"/>
                    </a:solidFill>
                  </a:tcPr>
                </a:tc>
                <a:tc>
                  <a:txBody>
                    <a:bodyPr/>
                    <a:lstStyle/>
                    <a:p>
                      <a:r>
                        <a:rPr sz="1725" b="0">
                          <a:solidFill>
                            <a:srgbClr val="152C3A"/>
                          </a:solidFill>
                          <a:latin typeface="Helvetica Neue"/>
                          <a:ea typeface="Helvetica Neue"/>
                          <a:cs typeface="Helvetica Neue"/>
                        </a:rPr>
                        <a:t>StandardScaler, max_iter 1000</a:t>
                      </a:r>
                    </a:p>
                  </a:txBody>
                  <a:tcPr marL="91440" marR="91440" marT="45720" marB="45720">
                    <a:solidFill>
                      <a:srgbClr val="FFFFFF"/>
                    </a:solidFill>
                  </a:tcPr>
                </a:tc>
              </a:tr>
              <a:tr h="552450">
                <a:tc>
                  <a:txBody>
                    <a:bodyPr/>
                    <a:lstStyle/>
                    <a:p>
                      <a:r>
                        <a:rPr sz="1725" b="0">
                          <a:solidFill>
                            <a:srgbClr val="152C3A"/>
                          </a:solidFill>
                          <a:latin typeface="Helvetica Neue"/>
                          <a:ea typeface="Helvetica Neue"/>
                          <a:cs typeface="Helvetica Neue"/>
                        </a:rPr>
                        <a:t>Isolation Forest</a:t>
                      </a:r>
                    </a:p>
                  </a:txBody>
                  <a:tcPr marL="91440" marR="91440" marT="45720" marB="45720">
                    <a:solidFill>
                      <a:srgbClr val="EAF0F0"/>
                    </a:solidFill>
                  </a:tcPr>
                </a:tc>
                <a:tc>
                  <a:txBody>
                    <a:bodyPr/>
                    <a:lstStyle/>
                    <a:p>
                      <a:r>
                        <a:rPr sz="1725" b="0">
                          <a:solidFill>
                            <a:srgbClr val="152C3A"/>
                          </a:solidFill>
                          <a:latin typeface="Helvetica Neue"/>
                          <a:ea typeface="Helvetica Neue"/>
                          <a:cs typeface="Helvetica Neue"/>
                        </a:rPr>
                        <a:t>100 trees, train-derived contamination 0.0446</a:t>
                      </a:r>
                    </a:p>
                  </a:txBody>
                  <a:tcPr marL="91440" marR="91440" marT="45720" marB="45720">
                    <a:solidFill>
                      <a:srgbClr val="EAF0F0"/>
                    </a:solidFill>
                  </a:tcPr>
                </a:tc>
              </a:tr>
              <a:tr h="552450">
                <a:tc>
                  <a:txBody>
                    <a:bodyPr/>
                    <a:lstStyle/>
                    <a:p>
                      <a:r>
                        <a:rPr sz="1725" b="0">
                          <a:solidFill>
                            <a:srgbClr val="152C3A"/>
                          </a:solidFill>
                          <a:latin typeface="Helvetica Neue"/>
                          <a:ea typeface="Helvetica Neue"/>
                          <a:cs typeface="Helvetica Neue"/>
                        </a:rPr>
                        <a:t>Next-day RF regressor</a:t>
                      </a:r>
                    </a:p>
                  </a:txBody>
                  <a:tcPr marL="91440" marR="91440" marT="45720" marB="45720">
                    <a:solidFill>
                      <a:srgbClr val="FFFFFF"/>
                    </a:solidFill>
                  </a:tcPr>
                </a:tc>
                <a:tc>
                  <a:txBody>
                    <a:bodyPr/>
                    <a:lstStyle/>
                    <a:p>
                      <a:r>
                        <a:rPr sz="1725" b="0">
                          <a:solidFill>
                            <a:srgbClr val="152C3A"/>
                          </a:solidFill>
                          <a:latin typeface="Helvetica Neue"/>
                          <a:ea typeface="Helvetica Neue"/>
                          <a:cs typeface="Helvetica Neue"/>
                        </a:rPr>
                        <a:t>120 trees, depth 7, leaf minimum 4</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1388361970"/>
      </p:ext>
    </p:extLst>
  </p:cSld>
</p:sld>
</file>

<file path=ppt/slides/slide15.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0762216-4936-48D1-83CA-8D36985AA8DB}"/>
              </a:ext>
            </a:extLst>
          </p:cNvPr>
          <p:cNvSpPr>
            <a:spLocks xmlns:a="http://schemas.openxmlformats.org/drawingml/2006/main" noGrp="1"/>
          </p:cNvSpPr>
          <p:nvPr/>
        </p:nvSpPr>
        <p:spPr>
          <a:xfrm xmlns:a="http://schemas.openxmlformats.org/drawingml/2006/main">
            <a:off x="666750" y="47625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152C3A"/>
                </a:solidFill>
                <a:latin typeface="Helvetica Neue"/>
                <a:ea typeface="Helvetica Neue"/>
                <a:cs typeface="Helvetica Neue"/>
              </a:defRPr>
            </a:pPr>
            <a:r>
              <a:rPr sz="3150" b="1">
                <a:solidFill>
                  <a:srgbClr val="152C3A"/>
                </a:solidFill>
                <a:latin typeface="Helvetica Neue"/>
                <a:ea typeface="Helvetica Neue"/>
                <a:cs typeface="Helvetica Neue"/>
              </a:rPr>
              <a:t>Appendix C   Validation and uncertainty</a:t>
            </a:r>
          </a:p>
        </p:txBody>
      </p:sp>
      <p:sp>
        <p:nvSpPr>
          <p:cNvPr id="2" name="">
            <a:extLst xmlns:a="http://schemas.openxmlformats.org/drawingml/2006/main">
              <a:ext uri="{FF2B5EF4-FFF2-40B4-BE49-F238E27FC236}">
                <a16:creationId xmlns:a16="http://schemas.microsoft.com/office/drawing/2014/main" id="{C397FD16-5F41-4928-9D35-D1487901AF5B}"/>
              </a:ext>
            </a:extLst>
          </p:cNvPr>
          <p:cNvSpPr>
            <a:spLocks xmlns:a="http://schemas.openxmlformats.org/drawingml/2006/main" noGrp="1"/>
          </p:cNvSpPr>
          <p:nvPr/>
        </p:nvSpPr>
        <p:spPr>
          <a:xfrm xmlns:a="http://schemas.openxmlformats.org/drawingml/2006/main">
            <a:off x="11239500" y="633412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874"/>
                </a:solidFill>
                <a:latin typeface="Helvetica Neue"/>
                <a:ea typeface="Helvetica Neue"/>
                <a:cs typeface="Helvetica Neue"/>
              </a:defRPr>
            </a:pPr>
            <a:r>
              <a:rPr sz="1350" b="0">
                <a:solidFill>
                  <a:srgbClr val="526874"/>
                </a:solidFill>
                <a:latin typeface="Helvetica Neue"/>
                <a:ea typeface="Helvetica Neue"/>
                <a:cs typeface="Helvetica Neue"/>
              </a:rPr>
              <a:t>15</a:t>
            </a:r>
          </a:p>
        </p:txBody>
      </p:sp>
      <p:sp>
        <p:nvSpPr>
          <p:cNvPr id="3" name="">
            <a:extLst xmlns:a="http://schemas.openxmlformats.org/drawingml/2006/main">
              <a:ext uri="{FF2B5EF4-FFF2-40B4-BE49-F238E27FC236}">
                <a16:creationId xmlns:a16="http://schemas.microsoft.com/office/drawing/2014/main" id="{88BF0ADC-1846-4AA0-87CE-1CEFDF376463}"/>
              </a:ext>
            </a:extLst>
          </p:cNvPr>
          <p:cNvSpPr>
            <a:spLocks xmlns:a="http://schemas.openxmlformats.org/drawingml/2006/main" noGrp="1"/>
          </p:cNvSpPr>
          <p:nvPr/>
        </p:nvSpPr>
        <p:spPr>
          <a:xfrm xmlns:a="http://schemas.openxmlformats.org/drawingml/2006/main">
            <a:off x="714375" y="161925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52C3A"/>
                </a:solidFill>
                <a:latin typeface="Helvetica Neue"/>
                <a:ea typeface="Helvetica Neue"/>
                <a:cs typeface="Helvetica Neue"/>
              </a:defRPr>
            </a:pPr>
            <a:r>
              <a:rPr sz="2025" b="0">
                <a:solidFill>
                  <a:srgbClr val="152C3A"/>
                </a:solidFill>
                <a:latin typeface="Helvetica Neue"/>
                <a:ea typeface="Helvetica Neue"/>
                <a:cs typeface="Helvetica Neue"/>
              </a:rPr>
              <a:t>Classification measures rule reproduction on synthetic data.</a:t>
            </a:r>
          </a:p>
        </p:txBody>
      </p:sp>
      <p:sp>
        <p:nvSpPr>
          <p:cNvPr id="4" name="">
            <a:extLst xmlns:a="http://schemas.openxmlformats.org/drawingml/2006/main">
              <a:ext uri="{FF2B5EF4-FFF2-40B4-BE49-F238E27FC236}">
                <a16:creationId xmlns:a16="http://schemas.microsoft.com/office/drawing/2014/main" id="{EA733881-B591-42F3-BDCA-7AB1DB392089}"/>
              </a:ext>
            </a:extLst>
          </p:cNvPr>
          <p:cNvSpPr>
            <a:spLocks xmlns:a="http://schemas.openxmlformats.org/drawingml/2006/main" noGrp="1"/>
          </p:cNvSpPr>
          <p:nvPr/>
        </p:nvSpPr>
        <p:spPr>
          <a:xfrm xmlns:a="http://schemas.openxmlformats.org/drawingml/2006/main">
            <a:off x="714375" y="257175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52C3A"/>
                </a:solidFill>
                <a:latin typeface="Helvetica Neue"/>
                <a:ea typeface="Helvetica Neue"/>
                <a:cs typeface="Helvetica Neue"/>
              </a:defRPr>
            </a:pPr>
            <a:r>
              <a:rPr sz="2025" b="0">
                <a:solidFill>
                  <a:srgbClr val="152C3A"/>
                </a:solidFill>
                <a:latin typeface="Helvetica Neue"/>
                <a:ea typeface="Helvetica Neue"/>
                <a:cs typeface="Helvetica Neue"/>
              </a:rPr>
              <a:t>Report class balance, confusion counts and fold variability.</a:t>
            </a:r>
          </a:p>
        </p:txBody>
      </p:sp>
      <p:sp>
        <p:nvSpPr>
          <p:cNvPr id="5" name="">
            <a:extLst xmlns:a="http://schemas.openxmlformats.org/drawingml/2006/main">
              <a:ext uri="{FF2B5EF4-FFF2-40B4-BE49-F238E27FC236}">
                <a16:creationId xmlns:a16="http://schemas.microsoft.com/office/drawing/2014/main" id="{D8BAC7BB-67C8-447D-82C0-13308E3B119B}"/>
              </a:ext>
            </a:extLst>
          </p:cNvPr>
          <p:cNvSpPr>
            <a:spLocks xmlns:a="http://schemas.openxmlformats.org/drawingml/2006/main" noGrp="1"/>
          </p:cNvSpPr>
          <p:nvPr/>
        </p:nvSpPr>
        <p:spPr>
          <a:xfrm xmlns:a="http://schemas.openxmlformats.org/drawingml/2006/main">
            <a:off x="714375" y="352425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52C3A"/>
                </a:solidFill>
                <a:latin typeface="Helvetica Neue"/>
                <a:ea typeface="Helvetica Neue"/>
                <a:cs typeface="Helvetica Neue"/>
              </a:defRPr>
            </a:pPr>
            <a:r>
              <a:rPr sz="2025" b="0">
                <a:solidFill>
                  <a:srgbClr val="152C3A"/>
                </a:solidFill>
                <a:latin typeface="Helvetica Neue"/>
                <a:ea typeface="Helvetica Neue"/>
                <a:cs typeface="Helvetica Neue"/>
              </a:rPr>
              <a:t>Holdout signal share 78.1%. Isolation Forest flags 18 of 228 windows.</a:t>
            </a:r>
          </a:p>
        </p:txBody>
      </p:sp>
      <p:sp>
        <p:nvSpPr>
          <p:cNvPr id="6" name="">
            <a:extLst xmlns:a="http://schemas.openxmlformats.org/drawingml/2006/main">
              <a:ext uri="{FF2B5EF4-FFF2-40B4-BE49-F238E27FC236}">
                <a16:creationId xmlns:a16="http://schemas.microsoft.com/office/drawing/2014/main" id="{1B42840A-2F52-402D-B4D1-4166AC350411}"/>
              </a:ext>
            </a:extLst>
          </p:cNvPr>
          <p:cNvSpPr>
            <a:spLocks xmlns:a="http://schemas.openxmlformats.org/drawingml/2006/main" noGrp="1"/>
          </p:cNvSpPr>
          <p:nvPr/>
        </p:nvSpPr>
        <p:spPr>
          <a:xfrm xmlns:a="http://schemas.openxmlformats.org/drawingml/2006/main">
            <a:off x="714375" y="447675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52C3A"/>
                </a:solidFill>
                <a:latin typeface="Helvetica Neue"/>
                <a:ea typeface="Helvetica Neue"/>
                <a:cs typeface="Helvetica Neue"/>
              </a:defRPr>
            </a:pPr>
            <a:r>
              <a:rPr sz="2025" b="0">
                <a:solidFill>
                  <a:srgbClr val="152C3A"/>
                </a:solidFill>
                <a:latin typeface="Helvetica Neue"/>
                <a:ea typeface="Helvetica Neue"/>
                <a:cs typeface="Helvetica Neue"/>
              </a:rPr>
              <a:t>Forecast horizon, calendar and evaluation origins define each score.</a:t>
            </a:r>
          </a:p>
        </p:txBody>
      </p:sp>
    </p:spTree>
    <p:extLst>
      <p:ext uri="{BB962C8B-B14F-4D97-AF65-F5344CB8AC3E}">
        <p14:creationId xmlns:p14="http://schemas.microsoft.com/office/powerpoint/2010/main" val="1073366732"/>
      </p:ext>
    </p:extLst>
  </p:cSld>
</p:sld>
</file>

<file path=ppt/slides/slide16.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E5786AC-302E-42E0-88EE-A5F546E548CB}"/>
              </a:ext>
            </a:extLst>
          </p:cNvPr>
          <p:cNvSpPr>
            <a:spLocks xmlns:a="http://schemas.openxmlformats.org/drawingml/2006/main" noGrp="1"/>
          </p:cNvSpPr>
          <p:nvPr/>
        </p:nvSpPr>
        <p:spPr>
          <a:xfrm xmlns:a="http://schemas.openxmlformats.org/drawingml/2006/main">
            <a:off x="666750" y="47625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152C3A"/>
                </a:solidFill>
                <a:latin typeface="Helvetica Neue"/>
                <a:ea typeface="Helvetica Neue"/>
                <a:cs typeface="Helvetica Neue"/>
              </a:defRPr>
            </a:pPr>
            <a:r>
              <a:rPr sz="3150" b="1">
                <a:solidFill>
                  <a:srgbClr val="152C3A"/>
                </a:solidFill>
                <a:latin typeface="Helvetica Neue"/>
                <a:ea typeface="Helvetica Neue"/>
                <a:cs typeface="Helvetica Neue"/>
              </a:rPr>
              <a:t>Appendix D   Deployment and monitoring</a:t>
            </a:r>
          </a:p>
        </p:txBody>
      </p:sp>
      <p:sp>
        <p:nvSpPr>
          <p:cNvPr id="2" name="">
            <a:extLst xmlns:a="http://schemas.openxmlformats.org/drawingml/2006/main">
              <a:ext uri="{FF2B5EF4-FFF2-40B4-BE49-F238E27FC236}">
                <a16:creationId xmlns:a16="http://schemas.microsoft.com/office/drawing/2014/main" id="{AA63F5C2-28D3-480F-9900-22F4491BAB71}"/>
              </a:ext>
            </a:extLst>
          </p:cNvPr>
          <p:cNvSpPr>
            <a:spLocks xmlns:a="http://schemas.openxmlformats.org/drawingml/2006/main" noGrp="1"/>
          </p:cNvSpPr>
          <p:nvPr/>
        </p:nvSpPr>
        <p:spPr>
          <a:xfrm xmlns:a="http://schemas.openxmlformats.org/drawingml/2006/main">
            <a:off x="11239500" y="633412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874"/>
                </a:solidFill>
                <a:latin typeface="Helvetica Neue"/>
                <a:ea typeface="Helvetica Neue"/>
                <a:cs typeface="Helvetica Neue"/>
              </a:defRPr>
            </a:pPr>
            <a:r>
              <a:rPr sz="1350" b="0">
                <a:solidFill>
                  <a:srgbClr val="526874"/>
                </a:solidFill>
                <a:latin typeface="Helvetica Neue"/>
                <a:ea typeface="Helvetica Neue"/>
                <a:cs typeface="Helvetica Neue"/>
              </a:rPr>
              <a:t>16</a:t>
            </a:r>
          </a:p>
        </p:txBody>
      </p:sp>
      <p:sp>
        <p:nvSpPr>
          <p:cNvPr id="3" name="">
            <a:extLst xmlns:a="http://schemas.openxmlformats.org/drawingml/2006/main">
              <a:ext uri="{FF2B5EF4-FFF2-40B4-BE49-F238E27FC236}">
                <a16:creationId xmlns:a16="http://schemas.microsoft.com/office/drawing/2014/main" id="{3B9140CB-5F6B-4B48-A748-FDAC8350DC22}"/>
              </a:ext>
            </a:extLst>
          </p:cNvPr>
          <p:cNvSpPr>
            <a:spLocks xmlns:a="http://schemas.openxmlformats.org/drawingml/2006/main" noGrp="1"/>
          </p:cNvSpPr>
          <p:nvPr/>
        </p:nvSpPr>
        <p:spPr>
          <a:xfrm xmlns:a="http://schemas.openxmlformats.org/drawingml/2006/main">
            <a:off x="714375" y="171450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C3A"/>
                </a:solidFill>
                <a:latin typeface="Helvetica Neue"/>
                <a:ea typeface="Helvetica Neue"/>
                <a:cs typeface="Helvetica Neue"/>
              </a:defRPr>
            </a:pPr>
            <a:r>
              <a:rPr sz="2175" b="0">
                <a:solidFill>
                  <a:srgbClr val="152C3A"/>
                </a:solidFill>
                <a:latin typeface="Helvetica Neue"/>
                <a:ea typeface="Helvetica Neue"/>
                <a:cs typeface="Helvetica Neue"/>
              </a:rPr>
              <a:t>1   Validate approved data and stable feature definitions.</a:t>
            </a:r>
          </a:p>
        </p:txBody>
      </p:sp>
      <p:sp>
        <p:nvSpPr>
          <p:cNvPr id="4" name="">
            <a:extLst xmlns:a="http://schemas.openxmlformats.org/drawingml/2006/main">
              <a:ext uri="{FF2B5EF4-FFF2-40B4-BE49-F238E27FC236}">
                <a16:creationId xmlns:a16="http://schemas.microsoft.com/office/drawing/2014/main" id="{51C17A80-28CF-4D62-AD15-095D6A1F62DD}"/>
              </a:ext>
            </a:extLst>
          </p:cNvPr>
          <p:cNvSpPr>
            <a:spLocks xmlns:a="http://schemas.openxmlformats.org/drawingml/2006/main" noGrp="1"/>
          </p:cNvSpPr>
          <p:nvPr/>
        </p:nvSpPr>
        <p:spPr>
          <a:xfrm xmlns:a="http://schemas.openxmlformats.org/drawingml/2006/main">
            <a:off x="714375" y="266700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C3A"/>
                </a:solidFill>
                <a:latin typeface="Helvetica Neue"/>
                <a:ea typeface="Helvetica Neue"/>
                <a:cs typeface="Helvetica Neue"/>
              </a:defRPr>
            </a:pPr>
            <a:r>
              <a:rPr sz="2175" b="0">
                <a:solidFill>
                  <a:srgbClr val="152C3A"/>
                </a:solidFill>
                <a:latin typeface="Helvetica Neue"/>
                <a:ea typeface="Helvetica Neue"/>
                <a:cs typeface="Helvetica Neue"/>
              </a:rPr>
              <a:t>2   Version the candidate, compare later dates and approve promotion.</a:t>
            </a:r>
          </a:p>
        </p:txBody>
      </p:sp>
      <p:sp>
        <p:nvSpPr>
          <p:cNvPr id="5" name="">
            <a:extLst xmlns:a="http://schemas.openxmlformats.org/drawingml/2006/main">
              <a:ext uri="{FF2B5EF4-FFF2-40B4-BE49-F238E27FC236}">
                <a16:creationId xmlns:a16="http://schemas.microsoft.com/office/drawing/2014/main" id="{720C49B3-51D2-48EF-A288-DE4825F4E5F3}"/>
              </a:ext>
            </a:extLst>
          </p:cNvPr>
          <p:cNvSpPr>
            <a:spLocks xmlns:a="http://schemas.openxmlformats.org/drawingml/2006/main" noGrp="1"/>
          </p:cNvSpPr>
          <p:nvPr/>
        </p:nvSpPr>
        <p:spPr>
          <a:xfrm xmlns:a="http://schemas.openxmlformats.org/drawingml/2006/main">
            <a:off x="714375" y="361950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C3A"/>
                </a:solidFill>
                <a:latin typeface="Helvetica Neue"/>
                <a:ea typeface="Helvetica Neue"/>
                <a:cs typeface="Helvetica Neue"/>
              </a:defRPr>
            </a:pPr>
            <a:r>
              <a:rPr sz="2175" b="0">
                <a:solidFill>
                  <a:srgbClr val="152C3A"/>
                </a:solidFill>
                <a:latin typeface="Helvetica Neue"/>
                <a:ea typeface="Helvetica Neue"/>
                <a:cs typeface="Helvetica Neue"/>
              </a:rPr>
              <a:t>3   Schedule scoring, retain predictions and match actual outcomes.</a:t>
            </a:r>
          </a:p>
        </p:txBody>
      </p:sp>
      <p:sp>
        <p:nvSpPr>
          <p:cNvPr id="6" name="">
            <a:extLst xmlns:a="http://schemas.openxmlformats.org/drawingml/2006/main">
              <a:ext uri="{FF2B5EF4-FFF2-40B4-BE49-F238E27FC236}">
                <a16:creationId xmlns:a16="http://schemas.microsoft.com/office/drawing/2014/main" id="{90F498AD-E042-426E-8D30-0E99664828B3}"/>
              </a:ext>
            </a:extLst>
          </p:cNvPr>
          <p:cNvSpPr>
            <a:spLocks xmlns:a="http://schemas.openxmlformats.org/drawingml/2006/main" noGrp="1"/>
          </p:cNvSpPr>
          <p:nvPr/>
        </p:nvSpPr>
        <p:spPr>
          <a:xfrm xmlns:a="http://schemas.openxmlformats.org/drawingml/2006/main">
            <a:off x="714375" y="457200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C3A"/>
                </a:solidFill>
                <a:latin typeface="Helvetica Neue"/>
                <a:ea typeface="Helvetica Neue"/>
                <a:cs typeface="Helvetica Neue"/>
              </a:defRPr>
            </a:pPr>
            <a:r>
              <a:rPr sz="2175" b="0">
                <a:solidFill>
                  <a:srgbClr val="152C3A"/>
                </a:solidFill>
                <a:latin typeface="Helvetica Neue"/>
                <a:ea typeface="Helvetica Neue"/>
                <a:cs typeface="Helvetica Neue"/>
              </a:rPr>
              <a:t>4   Review drift, retrain when justified and retain rollback.</a:t>
            </a:r>
          </a:p>
        </p:txBody>
      </p:sp>
    </p:spTree>
    <p:extLst>
      <p:ext uri="{BB962C8B-B14F-4D97-AF65-F5344CB8AC3E}">
        <p14:creationId xmlns:p14="http://schemas.microsoft.com/office/powerpoint/2010/main" val="1685555368"/>
      </p:ext>
    </p:extLst>
  </p:cSld>
</p:sld>
</file>

<file path=ppt/slides/slide17.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3506D826-69E5-4387-8047-722EF9940E90}"/>
              </a:ext>
            </a:extLst>
          </p:cNvPr>
          <p:cNvSpPr>
            <a:spLocks xmlns:a="http://schemas.openxmlformats.org/drawingml/2006/main" noGrp="1"/>
          </p:cNvSpPr>
          <p:nvPr/>
        </p:nvSpPr>
        <p:spPr>
          <a:xfrm xmlns:a="http://schemas.openxmlformats.org/drawingml/2006/main">
            <a:off x="666750" y="47625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152C3A"/>
                </a:solidFill>
                <a:latin typeface="Helvetica Neue"/>
                <a:ea typeface="Helvetica Neue"/>
                <a:cs typeface="Helvetica Neue"/>
              </a:defRPr>
            </a:pPr>
            <a:r>
              <a:rPr sz="3150" b="1">
                <a:solidFill>
                  <a:srgbClr val="152C3A"/>
                </a:solidFill>
                <a:latin typeface="Helvetica Neue"/>
                <a:ea typeface="Helvetica Neue"/>
                <a:cs typeface="Helvetica Neue"/>
              </a:rPr>
              <a:t>Appendix E   Scope and boundaries</a:t>
            </a:r>
          </a:p>
        </p:txBody>
      </p:sp>
      <p:sp>
        <p:nvSpPr>
          <p:cNvPr id="2" name="">
            <a:extLst xmlns:a="http://schemas.openxmlformats.org/drawingml/2006/main">
              <a:ext uri="{FF2B5EF4-FFF2-40B4-BE49-F238E27FC236}">
                <a16:creationId xmlns:a16="http://schemas.microsoft.com/office/drawing/2014/main" id="{70B2A99C-C975-496B-9137-64973265841F}"/>
              </a:ext>
            </a:extLst>
          </p:cNvPr>
          <p:cNvSpPr>
            <a:spLocks xmlns:a="http://schemas.openxmlformats.org/drawingml/2006/main" noGrp="1"/>
          </p:cNvSpPr>
          <p:nvPr/>
        </p:nvSpPr>
        <p:spPr>
          <a:xfrm xmlns:a="http://schemas.openxmlformats.org/drawingml/2006/main">
            <a:off x="11239500" y="633412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874"/>
                </a:solidFill>
                <a:latin typeface="Helvetica Neue"/>
                <a:ea typeface="Helvetica Neue"/>
                <a:cs typeface="Helvetica Neue"/>
              </a:defRPr>
            </a:pPr>
            <a:r>
              <a:rPr sz="1350" b="0">
                <a:solidFill>
                  <a:srgbClr val="526874"/>
                </a:solidFill>
                <a:latin typeface="Helvetica Neue"/>
                <a:ea typeface="Helvetica Neue"/>
                <a:cs typeface="Helvetica Neue"/>
              </a:rPr>
              <a:t>17</a:t>
            </a:r>
          </a:p>
        </p:txBody>
      </p:sp>
      <p:graphicFrame>
        <p:nvGraphicFramePr>
          <p:cNvPr id="6" name=""/>
          <p:cNvGraphicFramePr/>
          <p:nvPr/>
        </p:nvGraphicFramePr>
        <p:xfrm>
          <a:off xmlns:a="http://schemas.openxmlformats.org/drawingml/2006/main" x="714375" y="1666875"/>
          <a:ext xmlns:a="http://schemas.openxmlformats.org/drawingml/2006/main" cx="10763250" cy="3314700"/>
        </p:xfrm>
        <a:graphic xmlns:a="http://schemas.openxmlformats.org/drawingml/2006/main">
          <a:graphicData uri="http://schemas.openxmlformats.org/drawingml/2006/table">
            <a:tbl>
              <a:tblPr/>
              <a:tblGrid>
                <a:gridCol w="5095875"/>
                <a:gridCol w="5667375"/>
              </a:tblGrid>
              <a:tr h="552450">
                <a:tc>
                  <a:txBody>
                    <a:bodyPr/>
                    <a:lstStyle/>
                    <a:p>
                      <a:r>
                        <a:rPr sz="1725" b="1">
                          <a:solidFill>
                            <a:srgbClr val="FFFFFF"/>
                          </a:solidFill>
                          <a:latin typeface="Helvetica Neue"/>
                          <a:ea typeface="Helvetica Neue"/>
                          <a:cs typeface="Helvetica Neue"/>
                        </a:rPr>
                        <a:t>Demonstrates</a:t>
                      </a:r>
                    </a:p>
                  </a:txBody>
                  <a:tcPr marL="91440" marR="91440" marT="45720" marB="45720">
                    <a:solidFill>
                      <a:srgbClr val="152C3A"/>
                    </a:solidFill>
                  </a:tcPr>
                </a:tc>
                <a:tc>
                  <a:txBody>
                    <a:bodyPr/>
                    <a:lstStyle/>
                    <a:p>
                      <a:r>
                        <a:rPr sz="1725" b="1">
                          <a:solidFill>
                            <a:srgbClr val="FFFFFF"/>
                          </a:solidFill>
                          <a:latin typeface="Helvetica Neue"/>
                          <a:ea typeface="Helvetica Neue"/>
                          <a:cs typeface="Helvetica Neue"/>
                        </a:rPr>
                        <a:t>Requires a separate pilot</a:t>
                      </a:r>
                    </a:p>
                  </a:txBody>
                  <a:tcPr marL="91440" marR="91440" marT="45720" marB="45720">
                    <a:solidFill>
                      <a:srgbClr val="152C3A"/>
                    </a:solidFill>
                  </a:tcPr>
                </a:tc>
              </a:tr>
              <a:tr h="552450">
                <a:tc>
                  <a:txBody>
                    <a:bodyPr/>
                    <a:lstStyle/>
                    <a:p>
                      <a:r>
                        <a:rPr sz="1725" b="0">
                          <a:solidFill>
                            <a:srgbClr val="152C3A"/>
                          </a:solidFill>
                          <a:latin typeface="Helvetica Neue"/>
                          <a:ea typeface="Helvetica Neue"/>
                          <a:cs typeface="Helvetica Neue"/>
                        </a:rPr>
                        <a:t>Synthetic pipeline and recorded model comparisons</a:t>
                      </a:r>
                    </a:p>
                  </a:txBody>
                  <a:tcPr marL="91440" marR="91440" marT="45720" marB="45720">
                    <a:solidFill>
                      <a:srgbClr val="FFFFFF"/>
                    </a:solidFill>
                  </a:tcPr>
                </a:tc>
                <a:tc>
                  <a:txBody>
                    <a:bodyPr/>
                    <a:lstStyle/>
                    <a:p>
                      <a:r>
                        <a:rPr sz="1725" b="0">
                          <a:solidFill>
                            <a:srgbClr val="152C3A"/>
                          </a:solidFill>
                          <a:latin typeface="Helvetica Neue"/>
                          <a:ea typeface="Helvetica Neue"/>
                          <a:cs typeface="Helvetica Neue"/>
                        </a:rPr>
                        <a:t>Representative approved operational data</a:t>
                      </a:r>
                    </a:p>
                  </a:txBody>
                  <a:tcPr marL="91440" marR="91440" marT="45720" marB="45720">
                    <a:solidFill>
                      <a:srgbClr val="FFFFFF"/>
                    </a:solidFill>
                  </a:tcPr>
                </a:tc>
              </a:tr>
              <a:tr h="552450">
                <a:tc>
                  <a:txBody>
                    <a:bodyPr/>
                    <a:lstStyle/>
                    <a:p>
                      <a:r>
                        <a:rPr sz="1725" b="0">
                          <a:solidFill>
                            <a:srgbClr val="152C3A"/>
                          </a:solidFill>
                          <a:latin typeface="Helvetica Neue"/>
                          <a:ea typeface="Helvetica Neue"/>
                          <a:cs typeface="Helvetica Neue"/>
                        </a:rPr>
                        <a:t>Rule signals and anomaly scores</a:t>
                      </a:r>
                    </a:p>
                  </a:txBody>
                  <a:tcPr marL="91440" marR="91440" marT="45720" marB="45720">
                    <a:solidFill>
                      <a:srgbClr val="EAF0F0"/>
                    </a:solidFill>
                  </a:tcPr>
                </a:tc>
                <a:tc>
                  <a:txBody>
                    <a:bodyPr/>
                    <a:lstStyle/>
                    <a:p>
                      <a:r>
                        <a:rPr sz="1725" b="0">
                          <a:solidFill>
                            <a:srgbClr val="152C3A"/>
                          </a:solidFill>
                          <a:latin typeface="Helvetica Neue"/>
                          <a:ea typeface="Helvetica Neue"/>
                          <a:cs typeface="Helvetica Neue"/>
                        </a:rPr>
                        <a:t>Validated incidents and calibrated review burden</a:t>
                      </a:r>
                    </a:p>
                  </a:txBody>
                  <a:tcPr marL="91440" marR="91440" marT="45720" marB="45720">
                    <a:solidFill>
                      <a:srgbClr val="EAF0F0"/>
                    </a:solidFill>
                  </a:tcPr>
                </a:tc>
              </a:tr>
              <a:tr h="552450">
                <a:tc>
                  <a:txBody>
                    <a:bodyPr/>
                    <a:lstStyle/>
                    <a:p>
                      <a:r>
                        <a:rPr sz="1725" b="0">
                          <a:solidFill>
                            <a:srgbClr val="152C3A"/>
                          </a:solidFill>
                          <a:latin typeface="Helvetica Neue"/>
                          <a:ea typeface="Helvetica Neue"/>
                          <a:cs typeface="Helvetica Neue"/>
                        </a:rPr>
                        <a:t>Local saved-model reuse</a:t>
                      </a:r>
                    </a:p>
                  </a:txBody>
                  <a:tcPr marL="91440" marR="91440" marT="45720" marB="45720">
                    <a:solidFill>
                      <a:srgbClr val="FFFFFF"/>
                    </a:solidFill>
                  </a:tcPr>
                </a:tc>
                <a:tc>
                  <a:txBody>
                    <a:bodyPr/>
                    <a:lstStyle/>
                    <a:p>
                      <a:r>
                        <a:rPr sz="1725" b="0">
                          <a:solidFill>
                            <a:srgbClr val="152C3A"/>
                          </a:solidFill>
                          <a:latin typeface="Helvetica Neue"/>
                          <a:ea typeface="Helvetica Neue"/>
                          <a:cs typeface="Helvetica Neue"/>
                        </a:rPr>
                        <a:t>Governed platform deployment and access</a:t>
                      </a:r>
                    </a:p>
                  </a:txBody>
                  <a:tcPr marL="91440" marR="91440" marT="45720" marB="45720">
                    <a:solidFill>
                      <a:srgbClr val="FFFFFF"/>
                    </a:solidFill>
                  </a:tcPr>
                </a:tc>
              </a:tr>
              <a:tr h="552450">
                <a:tc>
                  <a:txBody>
                    <a:bodyPr/>
                    <a:lstStyle/>
                    <a:p>
                      <a:r>
                        <a:rPr sz="1725" b="0">
                          <a:solidFill>
                            <a:srgbClr val="152C3A"/>
                          </a:solidFill>
                          <a:latin typeface="Helvetica Neue"/>
                          <a:ea typeface="Helvetica Neue"/>
                          <a:cs typeface="Helvetica Neue"/>
                        </a:rPr>
                        <a:t>Prepared review and monitoring exercises</a:t>
                      </a:r>
                    </a:p>
                  </a:txBody>
                  <a:tcPr marL="91440" marR="91440" marT="45720" marB="45720">
                    <a:solidFill>
                      <a:srgbClr val="EAF0F0"/>
                    </a:solidFill>
                  </a:tcPr>
                </a:tc>
                <a:tc>
                  <a:txBody>
                    <a:bodyPr/>
                    <a:lstStyle/>
                    <a:p>
                      <a:r>
                        <a:rPr sz="1725" b="0">
                          <a:solidFill>
                            <a:srgbClr val="152C3A"/>
                          </a:solidFill>
                          <a:latin typeface="Helvetica Neue"/>
                          <a:ea typeface="Helvetica Neue"/>
                          <a:cs typeface="Helvetica Neue"/>
                        </a:rPr>
                        <a:t>Real human dispositions and durable alert delivery</a:t>
                      </a:r>
                    </a:p>
                  </a:txBody>
                  <a:tcPr marL="91440" marR="91440" marT="45720" marB="45720">
                    <a:solidFill>
                      <a:srgbClr val="EAF0F0"/>
                    </a:solidFill>
                  </a:tcPr>
                </a:tc>
              </a:tr>
              <a:tr h="552450">
                <a:tc>
                  <a:txBody>
                    <a:bodyPr/>
                    <a:lstStyle/>
                    <a:p>
                      <a:r>
                        <a:rPr sz="1725" b="0">
                          <a:solidFill>
                            <a:srgbClr val="152C3A"/>
                          </a:solidFill>
                          <a:latin typeface="Helvetica Neue"/>
                          <a:ea typeface="Helvetica Neue"/>
                          <a:cs typeface="Helvetica Neue"/>
                        </a:rPr>
                        <a:t>Forecast errors on synthetic observations</a:t>
                      </a:r>
                    </a:p>
                  </a:txBody>
                  <a:tcPr marL="91440" marR="91440" marT="45720" marB="45720">
                    <a:solidFill>
                      <a:srgbClr val="FFFFFF"/>
                    </a:solidFill>
                  </a:tcPr>
                </a:tc>
                <a:tc>
                  <a:txBody>
                    <a:bodyPr/>
                    <a:lstStyle/>
                    <a:p>
                      <a:r>
                        <a:rPr sz="1725" b="0">
                          <a:solidFill>
                            <a:srgbClr val="152C3A"/>
                          </a:solidFill>
                          <a:latin typeface="Helvetica Neue"/>
                          <a:ea typeface="Helvetica Neue"/>
                          <a:cs typeface="Helvetica Neue"/>
                        </a:rPr>
                        <a:t>Prospective operational performance</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2098278173"/>
      </p:ext>
    </p:extLst>
  </p:cSld>
</p:sld>
</file>

<file path=ppt/slides/slide18.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E741A7D-3C3C-4811-A88E-C129E3599F11}"/>
              </a:ext>
            </a:extLst>
          </p:cNvPr>
          <p:cNvSpPr>
            <a:spLocks xmlns:a="http://schemas.openxmlformats.org/drawingml/2006/main" noGrp="1"/>
          </p:cNvSpPr>
          <p:nvPr/>
        </p:nvSpPr>
        <p:spPr>
          <a:xfrm xmlns:a="http://schemas.openxmlformats.org/drawingml/2006/main">
            <a:off x="666750" y="47625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152C3A"/>
                </a:solidFill>
                <a:latin typeface="Helvetica Neue"/>
                <a:ea typeface="Helvetica Neue"/>
                <a:cs typeface="Helvetica Neue"/>
              </a:defRPr>
            </a:pPr>
            <a:r>
              <a:rPr sz="3150" b="1">
                <a:solidFill>
                  <a:srgbClr val="152C3A"/>
                </a:solidFill>
                <a:latin typeface="Helvetica Neue"/>
                <a:ea typeface="Helvetica Neue"/>
                <a:cs typeface="Helvetica Neue"/>
              </a:rPr>
              <a:t>Appendix F   Presenter handoff</a:t>
            </a:r>
          </a:p>
        </p:txBody>
      </p:sp>
      <p:sp>
        <p:nvSpPr>
          <p:cNvPr id="2" name="">
            <a:extLst xmlns:a="http://schemas.openxmlformats.org/drawingml/2006/main">
              <a:ext uri="{FF2B5EF4-FFF2-40B4-BE49-F238E27FC236}">
                <a16:creationId xmlns:a16="http://schemas.microsoft.com/office/drawing/2014/main" id="{47F7A829-E19F-4710-9F2F-43A1FBADCB00}"/>
              </a:ext>
            </a:extLst>
          </p:cNvPr>
          <p:cNvSpPr>
            <a:spLocks xmlns:a="http://schemas.openxmlformats.org/drawingml/2006/main" noGrp="1"/>
          </p:cNvSpPr>
          <p:nvPr/>
        </p:nvSpPr>
        <p:spPr>
          <a:xfrm xmlns:a="http://schemas.openxmlformats.org/drawingml/2006/main">
            <a:off x="11239500" y="633412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874"/>
                </a:solidFill>
                <a:latin typeface="Helvetica Neue"/>
                <a:ea typeface="Helvetica Neue"/>
                <a:cs typeface="Helvetica Neue"/>
              </a:defRPr>
            </a:pPr>
            <a:r>
              <a:rPr sz="1350" b="0">
                <a:solidFill>
                  <a:srgbClr val="526874"/>
                </a:solidFill>
                <a:latin typeface="Helvetica Neue"/>
                <a:ea typeface="Helvetica Neue"/>
                <a:cs typeface="Helvetica Neue"/>
              </a:rPr>
              <a:t>18</a:t>
            </a:r>
          </a:p>
        </p:txBody>
      </p:sp>
      <p:sp>
        <p:nvSpPr>
          <p:cNvPr id="3" name="">
            <a:extLst xmlns:a="http://schemas.openxmlformats.org/drawingml/2006/main">
              <a:ext uri="{FF2B5EF4-FFF2-40B4-BE49-F238E27FC236}">
                <a16:creationId xmlns:a16="http://schemas.microsoft.com/office/drawing/2014/main" id="{837599A3-3BB6-4B24-8DB3-CFE889874EDD}"/>
              </a:ext>
            </a:extLst>
          </p:cNvPr>
          <p:cNvSpPr>
            <a:spLocks xmlns:a="http://schemas.openxmlformats.org/drawingml/2006/main" noGrp="1"/>
          </p:cNvSpPr>
          <p:nvPr/>
        </p:nvSpPr>
        <p:spPr>
          <a:xfrm xmlns:a="http://schemas.openxmlformats.org/drawingml/2006/main">
            <a:off x="714375" y="171450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C3A"/>
                </a:solidFill>
                <a:latin typeface="Helvetica Neue"/>
                <a:ea typeface="Helvetica Neue"/>
                <a:cs typeface="Helvetica Neue"/>
              </a:defRPr>
            </a:pPr>
            <a:r>
              <a:rPr sz="2175" b="0">
                <a:solidFill>
                  <a:srgbClr val="152C3A"/>
                </a:solidFill>
                <a:latin typeface="Helvetica Neue"/>
                <a:ea typeface="Helvetica Neue"/>
                <a:cs typeface="Helvetica Neue"/>
              </a:rPr>
              <a:t>Main route: slides 1–12, then selected appendix answers.</a:t>
            </a:r>
          </a:p>
        </p:txBody>
      </p:sp>
      <p:sp>
        <p:nvSpPr>
          <p:cNvPr id="4" name="">
            <a:extLst xmlns:a="http://schemas.openxmlformats.org/drawingml/2006/main">
              <a:ext uri="{FF2B5EF4-FFF2-40B4-BE49-F238E27FC236}">
                <a16:creationId xmlns:a16="http://schemas.microsoft.com/office/drawing/2014/main" id="{3F6DCDB5-FB82-4FC0-B774-179501999915}"/>
              </a:ext>
            </a:extLst>
          </p:cNvPr>
          <p:cNvSpPr>
            <a:spLocks xmlns:a="http://schemas.openxmlformats.org/drawingml/2006/main" noGrp="1"/>
          </p:cNvSpPr>
          <p:nvPr/>
        </p:nvSpPr>
        <p:spPr>
          <a:xfrm xmlns:a="http://schemas.openxmlformats.org/drawingml/2006/main">
            <a:off x="714375" y="266700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C3A"/>
                </a:solidFill>
                <a:latin typeface="Helvetica Neue"/>
                <a:ea typeface="Helvetica Neue"/>
                <a:cs typeface="Helvetica Neue"/>
              </a:defRPr>
            </a:pPr>
            <a:r>
              <a:rPr sz="2175" b="0">
                <a:solidFill>
                  <a:srgbClr val="152C3A"/>
                </a:solidFill>
                <a:latin typeface="Helvetica Neue"/>
                <a:ea typeface="Helvetica Neue"/>
                <a:cs typeface="Helvetica Neue"/>
              </a:rPr>
              <a:t>Live evidence: counts, signal episode, comparison, forecast, reuse, drift.</a:t>
            </a:r>
          </a:p>
        </p:txBody>
      </p:sp>
      <p:sp>
        <p:nvSpPr>
          <p:cNvPr id="5" name="">
            <a:extLst xmlns:a="http://schemas.openxmlformats.org/drawingml/2006/main">
              <a:ext uri="{FF2B5EF4-FFF2-40B4-BE49-F238E27FC236}">
                <a16:creationId xmlns:a16="http://schemas.microsoft.com/office/drawing/2014/main" id="{94FF93EF-A160-44DC-95EB-7B4417329114}"/>
              </a:ext>
            </a:extLst>
          </p:cNvPr>
          <p:cNvSpPr>
            <a:spLocks xmlns:a="http://schemas.openxmlformats.org/drawingml/2006/main" noGrp="1"/>
          </p:cNvSpPr>
          <p:nvPr/>
        </p:nvSpPr>
        <p:spPr>
          <a:xfrm xmlns:a="http://schemas.openxmlformats.org/drawingml/2006/main">
            <a:off x="714375" y="361950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C3A"/>
                </a:solidFill>
                <a:latin typeface="Helvetica Neue"/>
                <a:ea typeface="Helvetica Neue"/>
                <a:cs typeface="Helvetica Neue"/>
              </a:defRPr>
            </a:pPr>
            <a:r>
              <a:rPr sz="2175" b="0">
                <a:solidFill>
                  <a:srgbClr val="152C3A"/>
                </a:solidFill>
                <a:latin typeface="Helvetica Neue"/>
                <a:ea typeface="Helvetica Neue"/>
                <a:cs typeface="Helvetica Neue"/>
              </a:rPr>
              <a:t>Fallback: use this deck and the final saved notebook outputs.</a:t>
            </a:r>
          </a:p>
        </p:txBody>
      </p:sp>
      <p:sp>
        <p:nvSpPr>
          <p:cNvPr id="6" name="">
            <a:extLst xmlns:a="http://schemas.openxmlformats.org/drawingml/2006/main">
              <a:ext uri="{FF2B5EF4-FFF2-40B4-BE49-F238E27FC236}">
                <a16:creationId xmlns:a16="http://schemas.microsoft.com/office/drawing/2014/main" id="{FB60BF5A-3FDC-4BC4-B56A-BCDEAB5B1B43}"/>
              </a:ext>
            </a:extLst>
          </p:cNvPr>
          <p:cNvSpPr>
            <a:spLocks xmlns:a="http://schemas.openxmlformats.org/drawingml/2006/main" noGrp="1"/>
          </p:cNvSpPr>
          <p:nvPr/>
        </p:nvSpPr>
        <p:spPr>
          <a:xfrm xmlns:a="http://schemas.openxmlformats.org/drawingml/2006/main">
            <a:off x="714375" y="457200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C3A"/>
                </a:solidFill>
                <a:latin typeface="Helvetica Neue"/>
                <a:ea typeface="Helvetica Neue"/>
                <a:cs typeface="Helvetica Neue"/>
              </a:defRPr>
            </a:pPr>
            <a:r>
              <a:rPr sz="2175" b="0">
                <a:solidFill>
                  <a:srgbClr val="152C3A"/>
                </a:solidFill>
                <a:latin typeface="Helvetica Neue"/>
                <a:ea typeface="Helvetica Neue"/>
                <a:cs typeface="Helvetica Neue"/>
              </a:rPr>
              <a:t>Exact operating steps: docs/presentation-runbook.md</a:t>
            </a:r>
          </a:p>
        </p:txBody>
      </p:sp>
    </p:spTree>
    <p:extLst>
      <p:ext uri="{BB962C8B-B14F-4D97-AF65-F5344CB8AC3E}">
        <p14:creationId xmlns:p14="http://schemas.microsoft.com/office/powerpoint/2010/main" val="56057867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2026-09-23T23:06:08.7240000Z</dcterms:created>
  <dcterms:modified xsi:type="dcterms:W3CDTF">2026-09-23T23:06:08.7240000Z</dcterms:modified>
</coreProperties>
</file>