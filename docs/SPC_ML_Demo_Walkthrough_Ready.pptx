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ad638f8301e4294" /><Relationship Type="http://schemas.openxmlformats.org/officeDocument/2006/relationships/extended-properties" Target="/docProps/app.xml" Id="R7434ffee668d4ee1" /><Relationship Type="http://schemas.openxmlformats.org/officeDocument/2006/relationships/officeDocument" Target="/ppt/presentation.xml" Id="Rcb75cde981e24667" /></Relationships>
</file>

<file path=ppt/presentation.xml><?xml version="1.0" encoding="utf-8"?>
<p:presentation xmlns:p="http://schemas.openxmlformats.org/presentationml/2006/main">
  <p:sldMasterIdLst>
    <p:sldMasterId xmlns:r="http://schemas.openxmlformats.org/officeDocument/2006/relationships" id="2147483648" r:id="R776a3a026e8b496a"/>
  </p:sldMasterIdLst>
  <p:notesMasterIdLst>
    <p:notesMasterId xmlns:r="http://schemas.openxmlformats.org/officeDocument/2006/relationships" r:id="Rb0fb56bd5b414761"/>
  </p:notesMasterIdLst>
  <p:sldIdLst>
    <p:sldId xmlns:r="http://schemas.openxmlformats.org/officeDocument/2006/relationships" id="256" r:id="Reecaf2b13cf9454c"/>
    <p:sldId xmlns:r="http://schemas.openxmlformats.org/officeDocument/2006/relationships" id="257" r:id="Rbfdc01744701414c"/>
    <p:sldId xmlns:r="http://schemas.openxmlformats.org/officeDocument/2006/relationships" id="258" r:id="Ra09ba13d372a4943"/>
    <p:sldId xmlns:r="http://schemas.openxmlformats.org/officeDocument/2006/relationships" id="259" r:id="R08cbb9d212454191"/>
    <p:sldId xmlns:r="http://schemas.openxmlformats.org/officeDocument/2006/relationships" id="260" r:id="R05c29574fd024aa6"/>
    <p:sldId xmlns:r="http://schemas.openxmlformats.org/officeDocument/2006/relationships" id="261" r:id="Re5209ade26b241f7"/>
    <p:sldId xmlns:r="http://schemas.openxmlformats.org/officeDocument/2006/relationships" id="262" r:id="R64fe8a9a304643d2"/>
    <p:sldId xmlns:r="http://schemas.openxmlformats.org/officeDocument/2006/relationships" id="263" r:id="R889b219a9ca9423d"/>
    <p:sldId xmlns:r="http://schemas.openxmlformats.org/officeDocument/2006/relationships" id="264" r:id="Rf153db9ac5114b24"/>
    <p:sldId xmlns:r="http://schemas.openxmlformats.org/officeDocument/2006/relationships" id="265" r:id="R687eff03d7534aa0"/>
    <p:sldId xmlns:r="http://schemas.openxmlformats.org/officeDocument/2006/relationships" id="266" r:id="R09ccef39055244bf"/>
    <p:sldId xmlns:r="http://schemas.openxmlformats.org/officeDocument/2006/relationships" id="267" r:id="Rd2340f970a834d6b"/>
    <p:sldId xmlns:r="http://schemas.openxmlformats.org/officeDocument/2006/relationships" id="268" r:id="R664bddaee9504a5f"/>
    <p:sldId xmlns:r="http://schemas.openxmlformats.org/officeDocument/2006/relationships" id="269" r:id="Rb486d90aea5b43c4"/>
    <p:sldId xmlns:r="http://schemas.openxmlformats.org/officeDocument/2006/relationships" id="270" r:id="R5388cfeb96954330"/>
    <p:sldId xmlns:r="http://schemas.openxmlformats.org/officeDocument/2006/relationships" id="271" r:id="R184accdf67d14583"/>
    <p:sldId xmlns:r="http://schemas.openxmlformats.org/officeDocument/2006/relationships" id="272" r:id="R1cc4b0deccaa458e"/>
    <p:sldId xmlns:r="http://schemas.openxmlformats.org/officeDocument/2006/relationships" id="273" r:id="Rb18c132e861d4a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bc504c281b48c0" /><Relationship Type="http://schemas.openxmlformats.org/officeDocument/2006/relationships/slideMaster" Target="/ppt/slideMasters/slideMaster1.xml" Id="R776a3a026e8b496a" /><Relationship Type="http://schemas.openxmlformats.org/officeDocument/2006/relationships/notesMaster" Target="/ppt/notesMasters/notesMaster1.xml" Id="Rb0fb56bd5b414761" /><Relationship Type="http://schemas.openxmlformats.org/officeDocument/2006/relationships/presProps" Target="/ppt/presProps.xml" Id="Rcb287266b1c94a59" /><Relationship Type="http://schemas.openxmlformats.org/officeDocument/2006/relationships/tableStyles" Target="/ppt/tableStyles.xml" Id="R1e2abf0fb5bc4994" /><Relationship Type="http://schemas.openxmlformats.org/officeDocument/2006/relationships/slide" Target="/ppt/slides/slide1.xml" Id="Reecaf2b13cf9454c" /><Relationship Type="http://schemas.openxmlformats.org/officeDocument/2006/relationships/slide" Target="/ppt/slides/slide2.xml" Id="Rbfdc01744701414c" /><Relationship Type="http://schemas.openxmlformats.org/officeDocument/2006/relationships/slide" Target="/ppt/slides/slide3.xml" Id="Ra09ba13d372a4943" /><Relationship Type="http://schemas.openxmlformats.org/officeDocument/2006/relationships/slide" Target="/ppt/slides/slide4.xml" Id="R08cbb9d212454191" /><Relationship Type="http://schemas.openxmlformats.org/officeDocument/2006/relationships/slide" Target="/ppt/slides/slide5.xml" Id="R05c29574fd024aa6" /><Relationship Type="http://schemas.openxmlformats.org/officeDocument/2006/relationships/slide" Target="/ppt/slides/slide6.xml" Id="Re5209ade26b241f7" /><Relationship Type="http://schemas.openxmlformats.org/officeDocument/2006/relationships/slide" Target="/ppt/slides/slide7.xml" Id="R64fe8a9a304643d2" /><Relationship Type="http://schemas.openxmlformats.org/officeDocument/2006/relationships/slide" Target="/ppt/slides/slide8.xml" Id="R889b219a9ca9423d" /><Relationship Type="http://schemas.openxmlformats.org/officeDocument/2006/relationships/slide" Target="/ppt/slides/slide9.xml" Id="Rf153db9ac5114b24" /><Relationship Type="http://schemas.openxmlformats.org/officeDocument/2006/relationships/slide" Target="/ppt/slides/slide10.xml" Id="R687eff03d7534aa0" /><Relationship Type="http://schemas.openxmlformats.org/officeDocument/2006/relationships/slide" Target="/ppt/slides/slide11.xml" Id="R09ccef39055244bf" /><Relationship Type="http://schemas.openxmlformats.org/officeDocument/2006/relationships/slide" Target="/ppt/slides/slide12.xml" Id="Rd2340f970a834d6b" /><Relationship Type="http://schemas.openxmlformats.org/officeDocument/2006/relationships/slide" Target="/ppt/slides/slide13.xml" Id="R664bddaee9504a5f" /><Relationship Type="http://schemas.openxmlformats.org/officeDocument/2006/relationships/slide" Target="/ppt/slides/slide14.xml" Id="Rb486d90aea5b43c4" /><Relationship Type="http://schemas.openxmlformats.org/officeDocument/2006/relationships/slide" Target="/ppt/slides/slide15.xml" Id="R5388cfeb96954330" /><Relationship Type="http://schemas.openxmlformats.org/officeDocument/2006/relationships/slide" Target="/ppt/slides/slide16.xml" Id="R184accdf67d14583" /><Relationship Type="http://schemas.openxmlformats.org/officeDocument/2006/relationships/slide" Target="/ppt/slides/slide17.xml" Id="R1cc4b0deccaa458e" /><Relationship Type="http://schemas.openxmlformats.org/officeDocument/2006/relationships/slide" Target="/ppt/slides/slide18.xml" Id="Rb18c132e861d4a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848f85e63f4c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c836420b914e23" /><Relationship Type="http://schemas.openxmlformats.org/officeDocument/2006/relationships/notesMaster" Target="/ppt/notesMasters/notesMaster1.xml" Id="Rf3aea83b355946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3fab1b8a86413f" /><Relationship Type="http://schemas.openxmlformats.org/officeDocument/2006/relationships/notesMaster" Target="/ppt/notesMasters/notesMaster1.xml" Id="Rc0bab81e9d3448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10257ec5d648a5" /><Relationship Type="http://schemas.openxmlformats.org/officeDocument/2006/relationships/notesMaster" Target="/ppt/notesMasters/notesMaster1.xml" Id="R49726e1855e342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c0eacf422b475f" /><Relationship Type="http://schemas.openxmlformats.org/officeDocument/2006/relationships/notesMaster" Target="/ppt/notesMasters/notesMaster1.xml" Id="R769b1ff4426245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baec5fab7b42c5" /><Relationship Type="http://schemas.openxmlformats.org/officeDocument/2006/relationships/notesMaster" Target="/ppt/notesMasters/notesMaster1.xml" Id="Rc5e45bba83bf44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4fdeaa80a44ec1" /><Relationship Type="http://schemas.openxmlformats.org/officeDocument/2006/relationships/notesMaster" Target="/ppt/notesMasters/notesMaster1.xml" Id="R1a5f40c5556848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60c23b7aea4181" /><Relationship Type="http://schemas.openxmlformats.org/officeDocument/2006/relationships/notesMaster" Target="/ppt/notesMasters/notesMaster1.xml" Id="Rc94e7524362c45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9931fdf1f240d1" /><Relationship Type="http://schemas.openxmlformats.org/officeDocument/2006/relationships/notesMaster" Target="/ppt/notesMasters/notesMaster1.xml" Id="R47a3c3cba67845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d904568b83b40ba" /><Relationship Type="http://schemas.openxmlformats.org/officeDocument/2006/relationships/notesMaster" Target="/ppt/notesMasters/notesMaster1.xml" Id="R2def055c2f7840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64353181214bb0" /><Relationship Type="http://schemas.openxmlformats.org/officeDocument/2006/relationships/notesMaster" Target="/ppt/notesMasters/notesMaster1.xml" Id="Re3a3f8271f1e44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b8b94212c504efe" /><Relationship Type="http://schemas.openxmlformats.org/officeDocument/2006/relationships/notesMaster" Target="/ppt/notesMasters/notesMaster1.xml" Id="Ra208cc9903ea4b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1818eaa53714768" /><Relationship Type="http://schemas.openxmlformats.org/officeDocument/2006/relationships/notesMaster" Target="/ppt/notesMasters/notesMaster1.xml" Id="R198460a5773745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c7c8dcc9211462f" /><Relationship Type="http://schemas.openxmlformats.org/officeDocument/2006/relationships/notesMaster" Target="/ppt/notesMasters/notesMaster1.xml" Id="R78dbc83a95364ce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5d111e1bdf846eb" /><Relationship Type="http://schemas.openxmlformats.org/officeDocument/2006/relationships/notesMaster" Target="/ppt/notesMasters/notesMaster1.xml" Id="R1892dd26ffbb4bc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644db65841d4c80" /><Relationship Type="http://schemas.openxmlformats.org/officeDocument/2006/relationships/notesMaster" Target="/ppt/notesMasters/notesMaster1.xml" Id="R5025a80d8b7443e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aef7e1fdd884432" /><Relationship Type="http://schemas.openxmlformats.org/officeDocument/2006/relationships/notesMaster" Target="/ppt/notesMasters/notesMaster1.xml" Id="R2b7b7e0f9f8343d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c22397ae3454752" /><Relationship Type="http://schemas.openxmlformats.org/officeDocument/2006/relationships/notesMaster" Target="/ppt/notesMasters/notesMaster1.xml" Id="Raf46c54b733d4d1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aa6494f77dc4382" /><Relationship Type="http://schemas.openxmlformats.org/officeDocument/2006/relationships/notesMaster" Target="/ppt/notesMasters/notesMaster1.xml" Id="R740ab16841754d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This is a synthetic USCIS-related workload demonstration. Daily receipts and completions represent aggregate operational counts. We look for unusual patterns, route them to an analyst, and separately estimate future volume. No applicant decisions or agency performance claims follow from this demonstration.</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workflow without model terminology first. A workload owner wants to know which recent volume changes deserve attention. A reviewer checks source completeness, calendar effects, workload changes and operational context. The disposition belongs to a human. Future workload planning is a different question.</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attainx_applications_v3_seed42. 1,179,830 synthetic event rows aggregate to 1,260 daily observations across 3 series and 420 business dates. Over a million event rows do not mean over a million independent training examples. The models train on daily-series feature windows. Calendar and generation settings come from the executed notebook. The chart labels Receipts A and Receipts B map to notebook series_id Intake A and Intake B. Completions A retains the same name. There are no applicant records. Do not describe these counts as historical USCIS outcomes.</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SPC compares recent observations with a historical reference. XmR checks large deviations. CUSUM accumulates small departures. EWMA smooths observations to expose shifts. Their OR forms the classifier label. Separate severity zones add point and run rules. Control limits characterize reference variation. They do not establish mission targets or explain causes. Show the notebook rule flags, contributing daily rows and one review episode.</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distinction explicit. SPC is direct deterministic logic. The classifier learns a proxy label generated by that logic. Isolation Forest learns unusual feature patterns without incident labels. Regression and statistical time-series methods estimate future counts. None determines a root cause or authorizes action. SPC label construction finishes in notebook Cell 4 and machine learning first appears in Cell 5; each notebook cell names its method type.</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measurement features before describing algorithms. During fit, the random forest grows decision trees on sampled training rows and feature subsets. Each tree learns split thresholds that separate the rule labels. Voting across trees gives a class and a vote-based score. The regressor averages tree predictions for counts. A saved model retains those learned splits for inference. Each classification row summarizes a prior window. The label is the OR of explicit rule flags. Chronological splitting prevents later dates from training earlier predictions. A 25-business-day separation prevents overlap of 25-day measurement windows. Earlier 90-day references can overlap. This is not independent incident validation.</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executed synthetic-run results. The classification target is the rule label, not a confirmed incident. Each experiment reports its always-signal constant beside the models, on the same metric. The rolling-fold comparison is a separate experiment from the single holdout. Do not assume that a more complex algorithm wins.</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regressor predicts the next business-day count using history available at forecast time. The five-day comparison evaluates statistical models over multiple origins. Lower mean absolute error is better. Horizons and samples differ, so do not rank one-day and five-day methods against each other. Candidate selection uses earlier origins, with a final origin held aside.</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one episode and its lineage, source freshness and possible operational events. An automatically proposed hypothesis is a prompt to investigate. The notebook replay contains simulated dispositions and a prepared outbox. It does not send messages or establish real human review. A production reviewer can acknowledge, investigate, request data correction or close with evidence.</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training versus inference. Training learns parameters from the permitted earlier history. A persisted artifact stores the model. Loading it later and calling predict reuses those parameters without fitting again. The scorer replays saved, already engineered inputs; a feature pipeline for new days is separate work. Demonstrated local persistence and target-platform MLflow logging are separate proof levels.</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drift means feature distributions changed. Performance drift means error changes after actual outcomes arrive. Either can motivate investigation. Neither proves the cause. Demonstration thresholds are illustrative: input change above 0.5 training standard deviations prompts investigation, and two consecutive 25-day windows above 1.25 times the reference MAE, each with at least 20 actuals, request review. A controlled exercise perturbs outcomes while retaining predictions to show watch and review states. No automatic retraining or deployment occurs.</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separating runnable demonstration capability from production acceptance. We can demonstrate the pipeline and decision records on synthetic data. A pilot needs approved representative data, a workload owner, outcome definitions and operating thresholds. Run it prospectively in shadow mode before promoting a model. No labor savings, real-world accuracy or historical agency outcomes are established.</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reference. The daily table contains aggregate synthetic workload counts. Subgroup rows must reconcile to their parent. A rolling measurement row is not a daily-count row. Preserve time semantics across daily counts, features, episodes and forecasts.</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settings here match the notebook. The holdout and rolling-fold random forests share one configuration; the folds are a separate later-period experiment. Logistic regression standardizes inputs. Isolation Forest does not train on incident labels and its training-derived contamination heuristic does not reveal a true incident rate. ARIMA and Holt-Winters refit at each forecast origin.</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limitations before generalizing results. Synthetic labels and generation patterns are simplified. Chronological tests support ordering but do not establish broad external validity. Class imbalance makes accuracy insufficient. The illustrative limits flag most windows; calibrating them against confirmed outcomes is pilot work. Prediction intervals and calibration require separate assessment where absent. Five-day subgroup forecasts are independent and need not reconcile to the aggregate.</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the intended production lifecycle, not verified live deployment. Daily jobs score new data with a versioned approved model, write appendable predictions, and wait for actual outcomes. Dashboards read persisted tables. An owner reviews alert burden and model performance. Data correction precedes retraining when appropriate.</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consistently. This is an aggregate workload demonstration, not case adjudication. It detects statistical patterns without proving operational cause. Synthetic experiments cannot demonstrate agency accuracy or labor savings. Local checks do not prove a scheduled Databricks job, delivered alert, live registry promotion or real operator acceptance.</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Alternate presenter: use slides 1–12 for the main narrative. Open the notebook before the session. Prefer the saved executed outputs if compute is unavailable. Demonstrate daily data, one SPC episode, classification comparison, forecasting, artifact reload and drift in that order. Keep the dashboard filtered to the same workload. Use the runbook for exact cells. Never silently substitute old result numbers.</a:t>
            </a:r>
          </a:p>
          <a:p xmlns:a="http://schemas.openxmlformats.org/drawingml/2006/main">
            <a:r>
              <a:t>Source: notebooks/SPC_ML_Demo.py and final executed synthetic-run evidence. Counts and outcomes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bc222ec0f844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3790e2b41444fc" /><Relationship Type="http://schemas.openxmlformats.org/officeDocument/2006/relationships/slideLayout" Target="/ppt/slideLayouts/slideLayout1.xml" Id="R36bea75a9e4145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bea75a9e4145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a2cadaa577419a" /><Relationship Type="http://schemas.openxmlformats.org/officeDocument/2006/relationships/notesSlide" Target="/ppt/notesSlides/notesSlide1.xml" Id="R34c4ee83a8b843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e8d431354d4998" /><Relationship Type="http://schemas.openxmlformats.org/officeDocument/2006/relationships/notesSlide" Target="/ppt/notesSlides/notesSlide2.xml" Id="R61982a97fb1047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beeaa498654060" /><Relationship Type="http://schemas.openxmlformats.org/officeDocument/2006/relationships/chart" Target="/ppt/slides/charts/chart1.xml" Id="R4e90ef2d7f8841b2" /><Relationship Type="http://schemas.openxmlformats.org/officeDocument/2006/relationships/notesSlide" Target="/ppt/notesSlides/notesSlide3.xml" Id="R4d608ddfacb94c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9ebfd6a8b44627" /><Relationship Type="http://schemas.openxmlformats.org/officeDocument/2006/relationships/notesSlide" Target="/ppt/notesSlides/notesSlide4.xml" Id="Rc22794238f5a4e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f4635393044769" /><Relationship Type="http://schemas.openxmlformats.org/officeDocument/2006/relationships/notesSlide" Target="/ppt/notesSlides/notesSlide5.xml" Id="R00f75fd15a864d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5a44f9f0014179" /><Relationship Type="http://schemas.openxmlformats.org/officeDocument/2006/relationships/notesSlide" Target="/ppt/notesSlides/notesSlide6.xml" Id="R08c1d807c26043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4e6658381d24d1d" /><Relationship Type="http://schemas.openxmlformats.org/officeDocument/2006/relationships/notesSlide" Target="/ppt/notesSlides/notesSlide7.xml" Id="R5ffdc0b0eec540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8a4d2b3d7334843" /><Relationship Type="http://schemas.openxmlformats.org/officeDocument/2006/relationships/notesSlide" Target="/ppt/notesSlides/notesSlide8.xml" Id="R3ea542e9678d40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59d5aea6a834802" /><Relationship Type="http://schemas.openxmlformats.org/officeDocument/2006/relationships/notesSlide" Target="/ppt/notesSlides/notesSlide9.xml" Id="R504ef4fb4be14f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5430a791264bc3" /><Relationship Type="http://schemas.openxmlformats.org/officeDocument/2006/relationships/notesSlide" Target="/ppt/notesSlides/notesSlide10.xml" Id="R0595401fef0c431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c59dd570d464833" /><Relationship Type="http://schemas.openxmlformats.org/officeDocument/2006/relationships/notesSlide" Target="/ppt/notesSlides/notesSlide11.xml" Id="R50d3b73c814948a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89119cc09894e62" /><Relationship Type="http://schemas.openxmlformats.org/officeDocument/2006/relationships/notesSlide" Target="/ppt/notesSlides/notesSlide12.xml" Id="R520badb67e2244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d076dad015a4b39" /><Relationship Type="http://schemas.openxmlformats.org/officeDocument/2006/relationships/notesSlide" Target="/ppt/notesSlides/notesSlide13.xml" Id="R820480d363904f9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40af8b4aab7429e" /><Relationship Type="http://schemas.openxmlformats.org/officeDocument/2006/relationships/notesSlide" Target="/ppt/notesSlides/notesSlide14.xml" Id="Rf3c3b92b71f54a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20c50a6ed0b40a4" /><Relationship Type="http://schemas.openxmlformats.org/officeDocument/2006/relationships/notesSlide" Target="/ppt/notesSlides/notesSlide15.xml" Id="R7eec2344660c496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96345f57d484ec4" /><Relationship Type="http://schemas.openxmlformats.org/officeDocument/2006/relationships/notesSlide" Target="/ppt/notesSlides/notesSlide16.xml" Id="R6efc7dbac19e488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12f217847cc4451" /><Relationship Type="http://schemas.openxmlformats.org/officeDocument/2006/relationships/notesSlide" Target="/ppt/notesSlides/notesSlide17.xml" Id="R81184f78650d4ed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b85d2b1e32741c5" /><Relationship Type="http://schemas.openxmlformats.org/officeDocument/2006/relationships/notesSlide" Target="/ppt/notesSlides/notesSlide18.xml" Id="R591959fa887a440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Receipts A</c:v>
          </c:tx>
          <c:spPr>
            <a:ln xmlns:a="http://schemas.openxmlformats.org/drawingml/2006/main" w="28575">
              <a:solidFill>
                <a:srgbClr val="007C83"/>
              </a:solidFill>
            </a:ln>
          </c:spPr>
          <c:marker>
            <c:symbol val="none"/>
          </c:marker>
          <c:cat>
            <c:numRef>
              <c:f>'Chart Data'!$A$2:$A$31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Data'!$B$2:$B$31</c:f>
              <c:numCache>
                <c:formatCode>0</c:formatCode>
                <c:ptCount val="30"/>
                <c:pt idx="0">
                  <c:v>850</c:v>
                </c:pt>
                <c:pt idx="1">
                  <c:v>1130</c:v>
                </c:pt>
                <c:pt idx="2">
                  <c:v>1070</c:v>
                </c:pt>
                <c:pt idx="3">
                  <c:v>1130</c:v>
                </c:pt>
                <c:pt idx="4">
                  <c:v>1150</c:v>
                </c:pt>
                <c:pt idx="5">
                  <c:v>1120</c:v>
                </c:pt>
                <c:pt idx="6">
                  <c:v>1210</c:v>
                </c:pt>
                <c:pt idx="7">
                  <c:v>1140</c:v>
                </c:pt>
                <c:pt idx="8">
                  <c:v>1140</c:v>
                </c:pt>
                <c:pt idx="9">
                  <c:v>990</c:v>
                </c:pt>
                <c:pt idx="10">
                  <c:v>1080</c:v>
                </c:pt>
                <c:pt idx="11">
                  <c:v>1150</c:v>
                </c:pt>
                <c:pt idx="12">
                  <c:v>1210</c:v>
                </c:pt>
                <c:pt idx="13">
                  <c:v>1040</c:v>
                </c:pt>
                <c:pt idx="14">
                  <c:v>1130</c:v>
                </c:pt>
                <c:pt idx="15">
                  <c:v>1070</c:v>
                </c:pt>
                <c:pt idx="16">
                  <c:v>1120</c:v>
                </c:pt>
                <c:pt idx="17">
                  <c:v>1210</c:v>
                </c:pt>
                <c:pt idx="18">
                  <c:v>860</c:v>
                </c:pt>
                <c:pt idx="19">
                  <c:v>930</c:v>
                </c:pt>
                <c:pt idx="20">
                  <c:v>940</c:v>
                </c:pt>
                <c:pt idx="21">
                  <c:v>870</c:v>
                </c:pt>
                <c:pt idx="22">
                  <c:v>1040</c:v>
                </c:pt>
                <c:pt idx="23">
                  <c:v>1160</c:v>
                </c:pt>
                <c:pt idx="24">
                  <c:v>1040</c:v>
                </c:pt>
                <c:pt idx="25">
                  <c:v>1120</c:v>
                </c:pt>
                <c:pt idx="26">
                  <c:v>1250</c:v>
                </c:pt>
                <c:pt idx="27">
                  <c:v>1260</c:v>
                </c:pt>
                <c:pt idx="28">
                  <c:v>1070</c:v>
                </c:pt>
                <c:pt idx="29">
                  <c:v>1220</c:v>
                </c:pt>
              </c:numCache>
            </c:numRef>
          </c:val>
        </c:ser>
        <c:ser>
          <c:idx val="1"/>
          <c:order val="1"/>
          <c:tx>
            <c:v>Receipts B</c:v>
          </c:tx>
          <c:spPr>
            <a:ln xmlns:a="http://schemas.openxmlformats.org/drawingml/2006/main" w="28575">
              <a:solidFill>
                <a:srgbClr val="BC6C25"/>
              </a:solidFill>
            </a:ln>
          </c:spPr>
          <c:marker>
            <c:symbol val="none"/>
          </c:marker>
          <c:cat>
            <c:numRef>
              <c:f>'Chart Data'!$C$2:$C$31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Data'!$D$2:$D$31</c:f>
              <c:numCache>
                <c:formatCode>0</c:formatCode>
                <c:ptCount val="30"/>
                <c:pt idx="0">
                  <c:v>700</c:v>
                </c:pt>
                <c:pt idx="1">
                  <c:v>680</c:v>
                </c:pt>
                <c:pt idx="2">
                  <c:v>660</c:v>
                </c:pt>
                <c:pt idx="3">
                  <c:v>740</c:v>
                </c:pt>
                <c:pt idx="4">
                  <c:v>750</c:v>
                </c:pt>
                <c:pt idx="5">
                  <c:v>680</c:v>
                </c:pt>
                <c:pt idx="6">
                  <c:v>780</c:v>
                </c:pt>
                <c:pt idx="7">
                  <c:v>820</c:v>
                </c:pt>
                <c:pt idx="8">
                  <c:v>790</c:v>
                </c:pt>
                <c:pt idx="9">
                  <c:v>860</c:v>
                </c:pt>
                <c:pt idx="10">
                  <c:v>860</c:v>
                </c:pt>
                <c:pt idx="11">
                  <c:v>690</c:v>
                </c:pt>
                <c:pt idx="12">
                  <c:v>920</c:v>
                </c:pt>
                <c:pt idx="13">
                  <c:v>680</c:v>
                </c:pt>
                <c:pt idx="14">
                  <c:v>820</c:v>
                </c:pt>
                <c:pt idx="15">
                  <c:v>760</c:v>
                </c:pt>
                <c:pt idx="16">
                  <c:v>740</c:v>
                </c:pt>
                <c:pt idx="17">
                  <c:v>600</c:v>
                </c:pt>
                <c:pt idx="18">
                  <c:v>720</c:v>
                </c:pt>
                <c:pt idx="19">
                  <c:v>580</c:v>
                </c:pt>
                <c:pt idx="20">
                  <c:v>840</c:v>
                </c:pt>
                <c:pt idx="21">
                  <c:v>920</c:v>
                </c:pt>
                <c:pt idx="22">
                  <c:v>700</c:v>
                </c:pt>
                <c:pt idx="23">
                  <c:v>760</c:v>
                </c:pt>
                <c:pt idx="24">
                  <c:v>660</c:v>
                </c:pt>
                <c:pt idx="25">
                  <c:v>690</c:v>
                </c:pt>
                <c:pt idx="26">
                  <c:v>850</c:v>
                </c:pt>
                <c:pt idx="27">
                  <c:v>760</c:v>
                </c:pt>
                <c:pt idx="28">
                  <c:v>890</c:v>
                </c:pt>
                <c:pt idx="29">
                  <c:v>680</c:v>
                </c:pt>
              </c:numCache>
            </c:numRef>
          </c:val>
        </c:ser>
        <c:ser>
          <c:idx val="2"/>
          <c:order val="2"/>
          <c:tx>
            <c:v>Completions A</c:v>
          </c:tx>
          <c:spPr>
            <a:ln xmlns:a="http://schemas.openxmlformats.org/drawingml/2006/main" w="28575">
              <a:solidFill>
                <a:srgbClr val="315B9B"/>
              </a:solidFill>
            </a:ln>
          </c:spPr>
          <c:marker>
            <c:symbol val="none"/>
          </c:marker>
          <c:cat>
            <c:numRef>
              <c:f>'Chart Data'!$E$2:$E$31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Data'!$F$2:$F$31</c:f>
              <c:numCache>
                <c:formatCode>0</c:formatCode>
                <c:ptCount val="30"/>
                <c:pt idx="0">
                  <c:v>920</c:v>
                </c:pt>
                <c:pt idx="1">
                  <c:v>910</c:v>
                </c:pt>
                <c:pt idx="2">
                  <c:v>980</c:v>
                </c:pt>
                <c:pt idx="3">
                  <c:v>870</c:v>
                </c:pt>
                <c:pt idx="4">
                  <c:v>850</c:v>
                </c:pt>
                <c:pt idx="5">
                  <c:v>970</c:v>
                </c:pt>
                <c:pt idx="6">
                  <c:v>930</c:v>
                </c:pt>
                <c:pt idx="7">
                  <c:v>980</c:v>
                </c:pt>
                <c:pt idx="8">
                  <c:v>950</c:v>
                </c:pt>
                <c:pt idx="9">
                  <c:v>800</c:v>
                </c:pt>
                <c:pt idx="10">
                  <c:v>890</c:v>
                </c:pt>
                <c:pt idx="11">
                  <c:v>1110</c:v>
                </c:pt>
                <c:pt idx="12">
                  <c:v>840</c:v>
                </c:pt>
                <c:pt idx="13">
                  <c:v>710</c:v>
                </c:pt>
                <c:pt idx="14">
                  <c:v>730</c:v>
                </c:pt>
                <c:pt idx="15">
                  <c:v>940</c:v>
                </c:pt>
                <c:pt idx="16">
                  <c:v>970</c:v>
                </c:pt>
                <c:pt idx="17">
                  <c:v>950</c:v>
                </c:pt>
                <c:pt idx="18">
                  <c:v>1040</c:v>
                </c:pt>
                <c:pt idx="19">
                  <c:v>640</c:v>
                </c:pt>
                <c:pt idx="20">
                  <c:v>980</c:v>
                </c:pt>
                <c:pt idx="21">
                  <c:v>1120</c:v>
                </c:pt>
                <c:pt idx="22">
                  <c:v>840</c:v>
                </c:pt>
                <c:pt idx="23">
                  <c:v>880</c:v>
                </c:pt>
                <c:pt idx="24">
                  <c:v>840</c:v>
                </c:pt>
                <c:pt idx="25">
                  <c:v>850</c:v>
                </c:pt>
                <c:pt idx="26">
                  <c:v>940</c:v>
                </c:pt>
                <c:pt idx="27">
                  <c:v>1100</c:v>
                </c:pt>
                <c:pt idx="28">
                  <c:v>1110</c:v>
                </c:pt>
                <c:pt idx="29">
                  <c:v>880</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Business days (latest observations)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Daily application count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C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8414CF-9F8A-4224-B64F-6A0455E0C95E}"/>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Daily application volumes</a:t>
            </a:r>
          </a:p>
          <a:p xmlns:a="http://schemas.openxmlformats.org/drawingml/2006/main">
            <a:pPr>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SPC and machine learning</a:t>
            </a:r>
          </a:p>
        </p:txBody>
      </p:sp>
      <p:sp>
        <p:nvSpPr>
          <p:cNvPr id="2" name="">
            <a:extLst xmlns:a="http://schemas.openxmlformats.org/drawingml/2006/main">
              <a:ext uri="{FF2B5EF4-FFF2-40B4-BE49-F238E27FC236}">
                <a16:creationId xmlns:a16="http://schemas.microsoft.com/office/drawing/2014/main" id="{5C60A983-89C0-45A0-A2EF-A99590C229C4}"/>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C7DBDE"/>
                </a:solidFill>
                <a:latin typeface="Helvetica Neue"/>
                <a:ea typeface="Helvetica Neue"/>
                <a:cs typeface="Helvetica Neue"/>
              </a:defRPr>
            </a:pPr>
            <a:r>
              <a:rPr sz="1350" b="0">
                <a:solidFill>
                  <a:srgbClr val="C7DBDE"/>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AB81A02A-7E79-4487-84B7-1B0A34BC826D}"/>
              </a:ext>
            </a:extLst>
          </p:cNvPr>
          <p:cNvSpPr>
            <a:spLocks xmlns:a="http://schemas.openxmlformats.org/drawingml/2006/main" noGrp="1"/>
          </p:cNvSpPr>
          <p:nvPr/>
        </p:nvSpPr>
        <p:spPr>
          <a:xfrm xmlns:a="http://schemas.openxmlformats.org/drawingml/2006/main">
            <a:off x="714375" y="30003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8EDCDA"/>
                </a:solidFill>
                <a:latin typeface="Helvetica Neue"/>
                <a:ea typeface="Helvetica Neue"/>
                <a:cs typeface="Helvetica Neue"/>
              </a:defRPr>
            </a:pPr>
            <a:r>
              <a:rPr sz="2550" b="0">
                <a:solidFill>
                  <a:srgbClr val="8EDCDA"/>
                </a:solidFill>
                <a:latin typeface="Helvetica Neue"/>
                <a:ea typeface="Helvetica Neue"/>
                <a:cs typeface="Helvetica Neue"/>
              </a:rPr>
              <a:t>An unusual pattern starts an analyst review</a:t>
            </a:r>
          </a:p>
        </p:txBody>
      </p:sp>
      <p:sp>
        <p:nvSpPr>
          <p:cNvPr id="4" name="">
            <a:extLst xmlns:a="http://schemas.openxmlformats.org/drawingml/2006/main">
              <a:ext uri="{FF2B5EF4-FFF2-40B4-BE49-F238E27FC236}">
                <a16:creationId xmlns:a16="http://schemas.microsoft.com/office/drawing/2014/main" id="{8900166D-2075-4181-B188-72D62119E321}"/>
              </a:ext>
            </a:extLst>
          </p:cNvPr>
          <p:cNvSpPr>
            <a:spLocks xmlns:a="http://schemas.openxmlformats.org/drawingml/2006/main" noGrp="1"/>
          </p:cNvSpPr>
          <p:nvPr/>
        </p:nvSpPr>
        <p:spPr>
          <a:xfrm xmlns:a="http://schemas.openxmlformats.org/drawingml/2006/main">
            <a:off x="714375" y="4667250"/>
            <a:ext cx="1009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Synthetic receipts and completions</a:t>
            </a:r>
          </a:p>
          <a:p xmlns:a="http://schemas.openxmlformats.org/drawingml/2006/main">
            <a:pPr>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A reproducible Databricks demonstration</a:t>
            </a:r>
          </a:p>
        </p:txBody>
      </p:sp>
    </p:spTree>
    <p:extLst>
      <p:ext uri="{BB962C8B-B14F-4D97-AF65-F5344CB8AC3E}">
        <p14:creationId xmlns:p14="http://schemas.microsoft.com/office/powerpoint/2010/main" val="1015003483"/>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6D0D02-EB54-4EA6-8254-991CA768EB60}"/>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The operational question</a:t>
            </a:r>
          </a:p>
        </p:txBody>
      </p:sp>
      <p:sp>
        <p:nvSpPr>
          <p:cNvPr id="2" name="">
            <a:extLst xmlns:a="http://schemas.openxmlformats.org/drawingml/2006/main">
              <a:ext uri="{FF2B5EF4-FFF2-40B4-BE49-F238E27FC236}">
                <a16:creationId xmlns:a16="http://schemas.microsoft.com/office/drawing/2014/main" id="{D80F4C4F-7271-4AAD-8434-AEFC1A1A3561}"/>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84F47168-301E-46BD-B2B0-12E0BCD674A5}"/>
              </a:ext>
            </a:extLst>
          </p:cNvPr>
          <p:cNvSpPr>
            <a:spLocks xmlns:a="http://schemas.openxmlformats.org/drawingml/2006/main" noGrp="1"/>
          </p:cNvSpPr>
          <p:nvPr/>
        </p:nvSpPr>
        <p:spPr>
          <a:xfrm xmlns:a="http://schemas.openxmlformats.org/drawingml/2006/main">
            <a:off x="714375" y="1714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Daily counts arrive for receipts and completions.</a:t>
            </a:r>
          </a:p>
        </p:txBody>
      </p:sp>
      <p:sp>
        <p:nvSpPr>
          <p:cNvPr id="4" name="">
            <a:extLst xmlns:a="http://schemas.openxmlformats.org/drawingml/2006/main">
              <a:ext uri="{FF2B5EF4-FFF2-40B4-BE49-F238E27FC236}">
                <a16:creationId xmlns:a16="http://schemas.microsoft.com/office/drawing/2014/main" id="{54C0B579-793E-438B-97F9-58540306CF04}"/>
              </a:ext>
            </a:extLst>
          </p:cNvPr>
          <p:cNvSpPr>
            <a:spLocks xmlns:a="http://schemas.openxmlformats.org/drawingml/2006/main" noGrp="1"/>
          </p:cNvSpPr>
          <p:nvPr/>
        </p:nvSpPr>
        <p:spPr>
          <a:xfrm xmlns:a="http://schemas.openxmlformats.org/drawingml/2006/main">
            <a:off x="714375" y="2667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A change may reflect workload, an operating change or a data issue.</a:t>
            </a:r>
          </a:p>
        </p:txBody>
      </p:sp>
      <p:sp>
        <p:nvSpPr>
          <p:cNvPr id="5" name="">
            <a:extLst xmlns:a="http://schemas.openxmlformats.org/drawingml/2006/main">
              <a:ext uri="{FF2B5EF4-FFF2-40B4-BE49-F238E27FC236}">
                <a16:creationId xmlns:a16="http://schemas.microsoft.com/office/drawing/2014/main" id="{4EF8EC88-11BE-446C-B24E-343B16F571F1}"/>
              </a:ext>
            </a:extLst>
          </p:cNvPr>
          <p:cNvSpPr>
            <a:spLocks xmlns:a="http://schemas.openxmlformats.org/drawingml/2006/main" noGrp="1"/>
          </p:cNvSpPr>
          <p:nvPr/>
        </p:nvSpPr>
        <p:spPr>
          <a:xfrm xmlns:a="http://schemas.openxmlformats.org/drawingml/2006/main">
            <a:off x="714375" y="3619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An analyst checks the evidence and records a disposition.</a:t>
            </a:r>
          </a:p>
        </p:txBody>
      </p:sp>
      <p:sp>
        <p:nvSpPr>
          <p:cNvPr id="6" name="">
            <a:extLst xmlns:a="http://schemas.openxmlformats.org/drawingml/2006/main">
              <a:ext uri="{FF2B5EF4-FFF2-40B4-BE49-F238E27FC236}">
                <a16:creationId xmlns:a16="http://schemas.microsoft.com/office/drawing/2014/main" id="{1337C6A4-2AEA-494C-903F-1C1F16996D05}"/>
              </a:ext>
            </a:extLst>
          </p:cNvPr>
          <p:cNvSpPr>
            <a:spLocks xmlns:a="http://schemas.openxmlformats.org/drawingml/2006/main" noGrp="1"/>
          </p:cNvSpPr>
          <p:nvPr/>
        </p:nvSpPr>
        <p:spPr>
          <a:xfrm xmlns:a="http://schemas.openxmlformats.org/drawingml/2006/main">
            <a:off x="714375" y="4572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Future-volume estimates support a separate planning discussion.</a:t>
            </a:r>
          </a:p>
        </p:txBody>
      </p:sp>
    </p:spTree>
    <p:extLst>
      <p:ext uri="{BB962C8B-B14F-4D97-AF65-F5344CB8AC3E}">
        <p14:creationId xmlns:p14="http://schemas.microsoft.com/office/powerpoint/2010/main" val="38971648"/>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08A529-66CA-4E66-907A-F6D4B58F7965}"/>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Synthetic daily counts</a:t>
            </a:r>
          </a:p>
        </p:txBody>
      </p:sp>
      <p:sp>
        <p:nvSpPr>
          <p:cNvPr id="2" name="">
            <a:extLst xmlns:a="http://schemas.openxmlformats.org/drawingml/2006/main">
              <a:ext uri="{FF2B5EF4-FFF2-40B4-BE49-F238E27FC236}">
                <a16:creationId xmlns:a16="http://schemas.microsoft.com/office/drawing/2014/main" id="{EA2DC96D-6FC5-455D-9D80-6D81738332FC}"/>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03</a:t>
            </a:r>
          </a:p>
        </p:txBody>
      </p:sp>
      <p:graphicFrame>
        <p:nvGraphicFramePr>
          <p:cNvPr id="7" name="Chart"/>
          <p:cNvGraphicFramePr/>
          <p:nvPr/>
        </p:nvGraphicFramePr>
        <p:xfrm>
          <a:off xmlns:a="http://schemas.openxmlformats.org/drawingml/2006/main" x="714375" y="1666875"/>
          <a:ext xmlns:a="http://schemas.openxmlformats.org/drawingml/2006/main" cx="10668000" cy="3667125"/>
        </p:xfrm>
        <a:graphic xmlns:a="http://schemas.openxmlformats.org/drawingml/2006/main">
          <a:graphicData uri="http://schemas.openxmlformats.org/drawingml/2006/chart">
            <c:chart xmlns:r="http://schemas.openxmlformats.org/officeDocument/2006/relationships" xmlns:c="http://schemas.openxmlformats.org/drawingml/2006/chart" r:id="R4e90ef2d7f8841b2"/>
          </a:graphicData>
        </a:graphic>
      </p:graphicFrame>
      <p:sp>
        <p:nvSpPr>
          <p:cNvPr id="4" name="">
            <a:extLst xmlns:a="http://schemas.openxmlformats.org/drawingml/2006/main">
              <a:ext uri="{FF2B5EF4-FFF2-40B4-BE49-F238E27FC236}">
                <a16:creationId xmlns:a16="http://schemas.microsoft.com/office/drawing/2014/main" id="{5B6F1F1B-66E8-4977-843E-F21511B268EE}"/>
              </a:ext>
            </a:extLst>
          </p:cNvPr>
          <p:cNvSpPr>
            <a:spLocks xmlns:a="http://schemas.openxmlformats.org/drawingml/2006/main" noGrp="1"/>
          </p:cNvSpPr>
          <p:nvPr/>
        </p:nvSpPr>
        <p:spPr>
          <a:xfrm xmlns:a="http://schemas.openxmlformats.org/drawingml/2006/main">
            <a:off x="714375" y="5619750"/>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874"/>
                </a:solidFill>
                <a:latin typeface="Helvetica Neue"/>
                <a:ea typeface="Helvetica Neue"/>
                <a:cs typeface="Helvetica Neue"/>
              </a:defRPr>
            </a:pPr>
            <a:r>
              <a:rPr sz="1800" b="0">
                <a:solidFill>
                  <a:srgbClr val="526874"/>
                </a:solidFill>
                <a:latin typeface="Helvetica Neue"/>
                <a:ea typeface="Helvetica Neue"/>
                <a:cs typeface="Helvetica Neue"/>
              </a:rPr>
              <a:t>1,179,830 synthetic event rows aggregate to 1,260 daily observations across 3 series and 420 business dates.</a:t>
            </a:r>
          </a:p>
        </p:txBody>
      </p:sp>
    </p:spTree>
    <p:extLst>
      <p:ext uri="{BB962C8B-B14F-4D97-AF65-F5344CB8AC3E}">
        <p14:creationId xmlns:p14="http://schemas.microsoft.com/office/powerpoint/2010/main" val="1476096466"/>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39DCE0-50F4-476F-97C3-AB27A2ED980B}"/>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Statistical process control (SPC)</a:t>
            </a:r>
          </a:p>
        </p:txBody>
      </p:sp>
      <p:sp>
        <p:nvSpPr>
          <p:cNvPr id="2" name="">
            <a:extLst xmlns:a="http://schemas.openxmlformats.org/drawingml/2006/main">
              <a:ext uri="{FF2B5EF4-FFF2-40B4-BE49-F238E27FC236}">
                <a16:creationId xmlns:a16="http://schemas.microsoft.com/office/drawing/2014/main" id="{A11BAFD0-3A39-4BBE-A466-7DD727CEC94F}"/>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12298653-9E2C-413C-BC93-7C83D1899561}"/>
              </a:ext>
            </a:extLst>
          </p:cNvPr>
          <p:cNvSpPr>
            <a:spLocks xmlns:a="http://schemas.openxmlformats.org/drawingml/2006/main" noGrp="1"/>
          </p:cNvSpPr>
          <p:nvPr/>
        </p:nvSpPr>
        <p:spPr>
          <a:xfrm xmlns:a="http://schemas.openxmlformats.org/drawingml/2006/main">
            <a:off x="714375" y="1714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1   Measure recent counts against a historical reference.</a:t>
            </a:r>
          </a:p>
        </p:txBody>
      </p:sp>
      <p:sp>
        <p:nvSpPr>
          <p:cNvPr id="4" name="">
            <a:extLst xmlns:a="http://schemas.openxmlformats.org/drawingml/2006/main">
              <a:ext uri="{FF2B5EF4-FFF2-40B4-BE49-F238E27FC236}">
                <a16:creationId xmlns:a16="http://schemas.microsoft.com/office/drawing/2014/main" id="{C595B899-FAD2-4B89-883D-3A2A9CDFCFD3}"/>
              </a:ext>
            </a:extLst>
          </p:cNvPr>
          <p:cNvSpPr>
            <a:spLocks xmlns:a="http://schemas.openxmlformats.org/drawingml/2006/main" noGrp="1"/>
          </p:cNvSpPr>
          <p:nvPr/>
        </p:nvSpPr>
        <p:spPr>
          <a:xfrm xmlns:a="http://schemas.openxmlformats.org/drawingml/2006/main">
            <a:off x="714375" y="2667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2   Apply explicit SPC rules and retain the contributing rows.</a:t>
            </a:r>
          </a:p>
        </p:txBody>
      </p:sp>
      <p:sp>
        <p:nvSpPr>
          <p:cNvPr id="5" name="">
            <a:extLst xmlns:a="http://schemas.openxmlformats.org/drawingml/2006/main">
              <a:ext uri="{FF2B5EF4-FFF2-40B4-BE49-F238E27FC236}">
                <a16:creationId xmlns:a16="http://schemas.microsoft.com/office/drawing/2014/main" id="{D8D1E4B1-9A04-40F8-8E14-795DB59E331A}"/>
              </a:ext>
            </a:extLst>
          </p:cNvPr>
          <p:cNvSpPr>
            <a:spLocks xmlns:a="http://schemas.openxmlformats.org/drawingml/2006/main" noGrp="1"/>
          </p:cNvSpPr>
          <p:nvPr/>
        </p:nvSpPr>
        <p:spPr>
          <a:xfrm xmlns:a="http://schemas.openxmlformats.org/drawingml/2006/main">
            <a:off x="714375" y="3619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3   Group repeated signals into an episode for review.</a:t>
            </a:r>
          </a:p>
        </p:txBody>
      </p:sp>
      <p:sp>
        <p:nvSpPr>
          <p:cNvPr id="6" name="">
            <a:extLst xmlns:a="http://schemas.openxmlformats.org/drawingml/2006/main">
              <a:ext uri="{FF2B5EF4-FFF2-40B4-BE49-F238E27FC236}">
                <a16:creationId xmlns:a16="http://schemas.microsoft.com/office/drawing/2014/main" id="{6188ED6F-6CA5-44C6-B743-88D667498B4E}"/>
              </a:ext>
            </a:extLst>
          </p:cNvPr>
          <p:cNvSpPr>
            <a:spLocks xmlns:a="http://schemas.openxmlformats.org/drawingml/2006/main" noGrp="1"/>
          </p:cNvSpPr>
          <p:nvPr/>
        </p:nvSpPr>
        <p:spPr>
          <a:xfrm xmlns:a="http://schemas.openxmlformats.org/drawingml/2006/main">
            <a:off x="714375" y="4572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4   Check source quality and context before deciding what to do.</a:t>
            </a:r>
          </a:p>
        </p:txBody>
      </p:sp>
    </p:spTree>
    <p:extLst>
      <p:ext uri="{BB962C8B-B14F-4D97-AF65-F5344CB8AC3E}">
        <p14:creationId xmlns:p14="http://schemas.microsoft.com/office/powerpoint/2010/main" val="683774714"/>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C606BB8-E0EF-468E-9E72-648A04D0F4FC}"/>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Each method answers a different question</a:t>
            </a:r>
          </a:p>
        </p:txBody>
      </p:sp>
      <p:sp>
        <p:nvSpPr>
          <p:cNvPr id="2" name="">
            <a:extLst xmlns:a="http://schemas.openxmlformats.org/drawingml/2006/main">
              <a:ext uri="{FF2B5EF4-FFF2-40B4-BE49-F238E27FC236}">
                <a16:creationId xmlns:a16="http://schemas.microsoft.com/office/drawing/2014/main" id="{2C63D559-C62B-4C96-8B40-CA95E434B585}"/>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05</a:t>
            </a:r>
          </a:p>
        </p:txBody>
      </p:sp>
      <p:graphicFrame>
        <p:nvGraphicFramePr>
          <p:cNvPr id="6" name=""/>
          <p:cNvGraphicFramePr/>
          <p:nvPr/>
        </p:nvGraphicFramePr>
        <p:xfrm>
          <a:off xmlns:a="http://schemas.openxmlformats.org/drawingml/2006/main" x="714375" y="1666875"/>
          <a:ext xmlns:a="http://schemas.openxmlformats.org/drawingml/2006/main" cx="10763250" cy="3314700"/>
        </p:xfrm>
        <a:graphic xmlns:a="http://schemas.openxmlformats.org/drawingml/2006/main">
          <a:graphicData uri="http://schemas.openxmlformats.org/drawingml/2006/table">
            <a:tbl>
              <a:tblPr/>
              <a:tblGrid>
                <a:gridCol w="4095750"/>
                <a:gridCol w="6667500"/>
              </a:tblGrid>
              <a:tr h="552450">
                <a:tc>
                  <a:txBody>
                    <a:bodyPr/>
                    <a:lstStyle/>
                    <a:p>
                      <a:r>
                        <a:rPr sz="1725" b="1">
                          <a:solidFill>
                            <a:srgbClr val="FFFFFF"/>
                          </a:solidFill>
                          <a:latin typeface="Helvetica Neue"/>
                          <a:ea typeface="Helvetica Neue"/>
                          <a:cs typeface="Helvetica Neue"/>
                        </a:rPr>
                        <a:t>Method</a:t>
                      </a:r>
                    </a:p>
                  </a:txBody>
                  <a:tcPr marL="91440" marR="91440" marT="45720" marB="45720">
                    <a:solidFill>
                      <a:srgbClr val="152C3A"/>
                    </a:solidFill>
                  </a:tcPr>
                </a:tc>
                <a:tc>
                  <a:txBody>
                    <a:bodyPr/>
                    <a:lstStyle/>
                    <a:p>
                      <a:r>
                        <a:rPr sz="1725" b="1">
                          <a:solidFill>
                            <a:srgbClr val="FFFFFF"/>
                          </a:solidFill>
                          <a:latin typeface="Helvetica Neue"/>
                          <a:ea typeface="Helvetica Neue"/>
                          <a:cs typeface="Helvetica Neue"/>
                        </a:rPr>
                        <a:t>Question</a:t>
                      </a:r>
                    </a:p>
                  </a:txBody>
                  <a:tcPr marL="91440" marR="91440" marT="45720" marB="45720">
                    <a:solidFill>
                      <a:srgbClr val="152C3A"/>
                    </a:solidFill>
                  </a:tcPr>
                </a:tc>
              </a:tr>
              <a:tr h="552450">
                <a:tc>
                  <a:txBody>
                    <a:bodyPr/>
                    <a:lstStyle/>
                    <a:p>
                      <a:r>
                        <a:rPr sz="1725" b="0">
                          <a:solidFill>
                            <a:srgbClr val="152C3A"/>
                          </a:solidFill>
                          <a:latin typeface="Helvetica Neue"/>
                          <a:ea typeface="Helvetica Neue"/>
                          <a:cs typeface="Helvetica Neue"/>
                        </a:rPr>
                        <a:t>Statistics: SPC rules</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Did a defined control rule fire?</a:t>
                      </a:r>
                    </a:p>
                  </a:txBody>
                  <a:tcPr marL="91440" marR="91440" marT="45720" marB="45720">
                    <a:solidFill>
                      <a:srgbClr val="FFFFFF"/>
                    </a:solidFill>
                  </a:tcPr>
                </a:tc>
              </a:tr>
              <a:tr h="552450">
                <a:tc>
                  <a:txBody>
                    <a:bodyPr/>
                    <a:lstStyle/>
                    <a:p>
                      <a:r>
                        <a:rPr sz="1725" b="0">
                          <a:solidFill>
                            <a:srgbClr val="152C3A"/>
                          </a:solidFill>
                          <a:latin typeface="Helvetica Neue"/>
                          <a:ea typeface="Helvetica Neue"/>
                          <a:cs typeface="Helvetica Neue"/>
                        </a:rPr>
                        <a:t>ML: random forest / logistic classifier</a:t>
                      </a:r>
                    </a:p>
                  </a:txBody>
                  <a:tcPr marL="91440" marR="91440" marT="45720" marB="45720">
                    <a:solidFill>
                      <a:srgbClr val="EAF0F0"/>
                    </a:solidFill>
                  </a:tcPr>
                </a:tc>
                <a:tc>
                  <a:txBody>
                    <a:bodyPr/>
                    <a:lstStyle/>
                    <a:p>
                      <a:r>
                        <a:rPr sz="1725" b="0">
                          <a:solidFill>
                            <a:srgbClr val="152C3A"/>
                          </a:solidFill>
                          <a:latin typeface="Helvetica Neue"/>
                          <a:ea typeface="Helvetica Neue"/>
                          <a:cs typeface="Helvetica Neue"/>
                        </a:rPr>
                        <a:t>Can learned features reproduce the rule label?</a:t>
                      </a:r>
                    </a:p>
                  </a:txBody>
                  <a:tcPr marL="91440" marR="91440" marT="45720" marB="45720">
                    <a:solidFill>
                      <a:srgbClr val="EAF0F0"/>
                    </a:solidFill>
                  </a:tcPr>
                </a:tc>
              </a:tr>
              <a:tr h="552450">
                <a:tc>
                  <a:txBody>
                    <a:bodyPr/>
                    <a:lstStyle/>
                    <a:p>
                      <a:r>
                        <a:rPr sz="1725" b="0">
                          <a:solidFill>
                            <a:srgbClr val="152C3A"/>
                          </a:solidFill>
                          <a:latin typeface="Helvetica Neue"/>
                          <a:ea typeface="Helvetica Neue"/>
                          <a:cs typeface="Helvetica Neue"/>
                        </a:rPr>
                        <a:t>ML: Isolation Forest</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Does this pattern differ from training history?</a:t>
                      </a:r>
                    </a:p>
                  </a:txBody>
                  <a:tcPr marL="91440" marR="91440" marT="45720" marB="45720">
                    <a:solidFill>
                      <a:srgbClr val="FFFFFF"/>
                    </a:solidFill>
                  </a:tcPr>
                </a:tc>
              </a:tr>
              <a:tr h="552450">
                <a:tc>
                  <a:txBody>
                    <a:bodyPr/>
                    <a:lstStyle/>
                    <a:p>
                      <a:r>
                        <a:rPr sz="1725" b="0">
                          <a:solidFill>
                            <a:srgbClr val="152C3A"/>
                          </a:solidFill>
                          <a:latin typeface="Helvetica Neue"/>
                          <a:ea typeface="Helvetica Neue"/>
                          <a:cs typeface="Helvetica Neue"/>
                        </a:rPr>
                        <a:t>ML: random forest regression</a:t>
                      </a:r>
                    </a:p>
                  </a:txBody>
                  <a:tcPr marL="91440" marR="91440" marT="45720" marB="45720">
                    <a:solidFill>
                      <a:srgbClr val="EAF0F0"/>
                    </a:solidFill>
                  </a:tcPr>
                </a:tc>
                <a:tc>
                  <a:txBody>
                    <a:bodyPr/>
                    <a:lstStyle/>
                    <a:p>
                      <a:r>
                        <a:rPr sz="1725" b="0">
                          <a:solidFill>
                            <a:srgbClr val="152C3A"/>
                          </a:solidFill>
                          <a:latin typeface="Helvetica Neue"/>
                          <a:ea typeface="Helvetica Neue"/>
                          <a:cs typeface="Helvetica Neue"/>
                        </a:rPr>
                        <a:t>What count may occur next business day?</a:t>
                      </a:r>
                    </a:p>
                  </a:txBody>
                  <a:tcPr marL="91440" marR="91440" marT="45720" marB="45720">
                    <a:solidFill>
                      <a:srgbClr val="EAF0F0"/>
                    </a:solidFill>
                  </a:tcPr>
                </a:tc>
              </a:tr>
              <a:tr h="552450">
                <a:tc>
                  <a:txBody>
                    <a:bodyPr/>
                    <a:lstStyle/>
                    <a:p>
                      <a:r>
                        <a:rPr sz="1725" b="0">
                          <a:solidFill>
                            <a:srgbClr val="152C3A"/>
                          </a:solidFill>
                          <a:latin typeface="Helvetica Neue"/>
                          <a:ea typeface="Helvetica Neue"/>
                          <a:cs typeface="Helvetica Neue"/>
                        </a:rPr>
                        <a:t>Statistics: ARIMA / Holt-Winters</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What counts may occur over the next five days?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932689175"/>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34AF39-4962-48A9-AAA8-F984031CF41F}"/>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Training uses earlier dates</a:t>
            </a:r>
          </a:p>
        </p:txBody>
      </p:sp>
      <p:sp>
        <p:nvSpPr>
          <p:cNvPr id="2" name="">
            <a:extLst xmlns:a="http://schemas.openxmlformats.org/drawingml/2006/main">
              <a:ext uri="{FF2B5EF4-FFF2-40B4-BE49-F238E27FC236}">
                <a16:creationId xmlns:a16="http://schemas.microsoft.com/office/drawing/2014/main" id="{6D0EB3BF-EE38-4117-A465-0F04F94A6481}"/>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AC1D57C6-FB24-4381-9785-A7F524484867}"/>
              </a:ext>
            </a:extLst>
          </p:cNvPr>
          <p:cNvSpPr>
            <a:spLocks xmlns:a="http://schemas.openxmlformats.org/drawingml/2006/main" noGrp="1"/>
          </p:cNvSpPr>
          <p:nvPr/>
        </p:nvSpPr>
        <p:spPr>
          <a:xfrm xmlns:a="http://schemas.openxmlformats.org/drawingml/2006/main">
            <a:off x="714375" y="1714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Classifier: 615 training windows, 228 later test windows, with a 25-business-day separation.</a:t>
            </a:r>
          </a:p>
        </p:txBody>
      </p:sp>
      <p:sp>
        <p:nvSpPr>
          <p:cNvPr id="4" name="">
            <a:extLst xmlns:a="http://schemas.openxmlformats.org/drawingml/2006/main">
              <a:ext uri="{FF2B5EF4-FFF2-40B4-BE49-F238E27FC236}">
                <a16:creationId xmlns:a16="http://schemas.microsoft.com/office/drawing/2014/main" id="{04FAA352-22FA-4F8B-BF81-A5709967B0C1}"/>
              </a:ext>
            </a:extLst>
          </p:cNvPr>
          <p:cNvSpPr>
            <a:spLocks xmlns:a="http://schemas.openxmlformats.org/drawingml/2006/main" noGrp="1"/>
          </p:cNvSpPr>
          <p:nvPr/>
        </p:nvSpPr>
        <p:spPr>
          <a:xfrm xmlns:a="http://schemas.openxmlformats.org/drawingml/2006/main">
            <a:off x="714375" y="2667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Inputs describe level, spread, recent movement and reference deviation.</a:t>
            </a:r>
          </a:p>
        </p:txBody>
      </p:sp>
      <p:sp>
        <p:nvSpPr>
          <p:cNvPr id="5" name="">
            <a:extLst xmlns:a="http://schemas.openxmlformats.org/drawingml/2006/main">
              <a:ext uri="{FF2B5EF4-FFF2-40B4-BE49-F238E27FC236}">
                <a16:creationId xmlns:a16="http://schemas.microsoft.com/office/drawing/2014/main" id="{BABB2E1F-2C57-4B72-9BC3-4448B01A0B06}"/>
              </a:ext>
            </a:extLst>
          </p:cNvPr>
          <p:cNvSpPr>
            <a:spLocks xmlns:a="http://schemas.openxmlformats.org/drawingml/2006/main" noGrp="1"/>
          </p:cNvSpPr>
          <p:nvPr/>
        </p:nvSpPr>
        <p:spPr>
          <a:xfrm xmlns:a="http://schemas.openxmlformats.org/drawingml/2006/main">
            <a:off x="714375" y="3619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Target: whether the direct SPC rules flagged that window.</a:t>
            </a:r>
          </a:p>
        </p:txBody>
      </p:sp>
      <p:sp>
        <p:nvSpPr>
          <p:cNvPr id="6" name="">
            <a:extLst xmlns:a="http://schemas.openxmlformats.org/drawingml/2006/main">
              <a:ext uri="{FF2B5EF4-FFF2-40B4-BE49-F238E27FC236}">
                <a16:creationId xmlns:a16="http://schemas.microsoft.com/office/drawing/2014/main" id="{14E8311F-76F2-4307-B3BA-F5751F4EF137}"/>
              </a:ext>
            </a:extLst>
          </p:cNvPr>
          <p:cNvSpPr>
            <a:spLocks xmlns:a="http://schemas.openxmlformats.org/drawingml/2006/main" noGrp="1"/>
          </p:cNvSpPr>
          <p:nvPr/>
        </p:nvSpPr>
        <p:spPr>
          <a:xfrm xmlns:a="http://schemas.openxmlformats.org/drawingml/2006/main">
            <a:off x="714375" y="4572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Later unseen dates test reproduction of those rules.</a:t>
            </a:r>
          </a:p>
        </p:txBody>
      </p:sp>
    </p:spTree>
    <p:extLst>
      <p:ext uri="{BB962C8B-B14F-4D97-AF65-F5344CB8AC3E}">
        <p14:creationId xmlns:p14="http://schemas.microsoft.com/office/powerpoint/2010/main" val="1936485712"/>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B4474F-2125-42DC-A85D-FCAB1B38A508}"/>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The comparison determines the conclusion</a:t>
            </a:r>
          </a:p>
        </p:txBody>
      </p:sp>
      <p:sp>
        <p:nvSpPr>
          <p:cNvPr id="2" name="">
            <a:extLst xmlns:a="http://schemas.openxmlformats.org/drawingml/2006/main">
              <a:ext uri="{FF2B5EF4-FFF2-40B4-BE49-F238E27FC236}">
                <a16:creationId xmlns:a16="http://schemas.microsoft.com/office/drawing/2014/main" id="{466DCE50-EE62-4FEA-A1C0-DE529EC26E51}"/>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07</a:t>
            </a:r>
          </a:p>
        </p:txBody>
      </p:sp>
      <p:graphicFrame>
        <p:nvGraphicFramePr>
          <p:cNvPr id="7" name=""/>
          <p:cNvGraphicFramePr/>
          <p:nvPr/>
        </p:nvGraphicFramePr>
        <p:xfrm>
          <a:off xmlns:a="http://schemas.openxmlformats.org/drawingml/2006/main" x="714375" y="1762125"/>
          <a:ext xmlns:a="http://schemas.openxmlformats.org/drawingml/2006/main" cx="10763250" cy="3314700"/>
        </p:xfrm>
        <a:graphic xmlns:a="http://schemas.openxmlformats.org/drawingml/2006/main">
          <a:graphicData uri="http://schemas.openxmlformats.org/drawingml/2006/table">
            <a:tbl>
              <a:tblPr/>
              <a:tblGrid>
                <a:gridCol w="3524250"/>
                <a:gridCol w="4476750"/>
                <a:gridCol w="2762250"/>
              </a:tblGrid>
              <a:tr h="552450">
                <a:tc>
                  <a:txBody>
                    <a:bodyPr/>
                    <a:lstStyle/>
                    <a:p>
                      <a:r>
                        <a:rPr sz="1725" b="1">
                          <a:solidFill>
                            <a:srgbClr val="FFFFFF"/>
                          </a:solidFill>
                          <a:latin typeface="Helvetica Neue"/>
                          <a:ea typeface="Helvetica Neue"/>
                          <a:cs typeface="Helvetica Neue"/>
                        </a:rPr>
                        <a:t>Experiment</a:t>
                      </a:r>
                    </a:p>
                  </a:txBody>
                  <a:tcPr marL="91440" marR="91440" marT="45720" marB="45720">
                    <a:solidFill>
                      <a:srgbClr val="152C3A"/>
                    </a:solidFill>
                  </a:tcPr>
                </a:tc>
                <a:tc>
                  <a:txBody>
                    <a:bodyPr/>
                    <a:lstStyle/>
                    <a:p>
                      <a:r>
                        <a:rPr sz="1725" b="1">
                          <a:solidFill>
                            <a:srgbClr val="FFFFFF"/>
                          </a:solidFill>
                          <a:latin typeface="Helvetica Neue"/>
                          <a:ea typeface="Helvetica Neue"/>
                          <a:cs typeface="Helvetica Neue"/>
                        </a:rPr>
                        <a:t>Model / reference</a:t>
                      </a:r>
                    </a:p>
                  </a:txBody>
                  <a:tcPr marL="91440" marR="91440" marT="45720" marB="45720">
                    <a:solidFill>
                      <a:srgbClr val="152C3A"/>
                    </a:solidFill>
                  </a:tcPr>
                </a:tc>
                <a:tc>
                  <a:txBody>
                    <a:bodyPr/>
                    <a:lstStyle/>
                    <a:p>
                      <a:r>
                        <a:rPr sz="1725" b="1">
                          <a:solidFill>
                            <a:srgbClr val="FFFFFF"/>
                          </a:solidFill>
                          <a:latin typeface="Helvetica Neue"/>
                          <a:ea typeface="Helvetica Neue"/>
                          <a:cs typeface="Helvetica Neue"/>
                        </a:rPr>
                        <a:t>Score</a:t>
                      </a:r>
                    </a:p>
                  </a:txBody>
                  <a:tcPr marL="91440" marR="91440" marT="45720" marB="45720">
                    <a:solidFill>
                      <a:srgbClr val="152C3A"/>
                    </a:solidFill>
                  </a:tcPr>
                </a:tc>
              </a:tr>
              <a:tr h="552450">
                <a:tc>
                  <a:txBody>
                    <a:bodyPr/>
                    <a:lstStyle/>
                    <a:p>
                      <a:r>
                        <a:rPr sz="1725" b="0">
                          <a:solidFill>
                            <a:srgbClr val="152C3A"/>
                          </a:solidFill>
                          <a:latin typeface="Helvetica Neue"/>
                          <a:ea typeface="Helvetica Neue"/>
                          <a:cs typeface="Helvetica Neue"/>
                        </a:rPr>
                        <a:t>Holdout accuracy</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Random forest / always signal</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75.0% / 78.1%</a:t>
                      </a:r>
                    </a:p>
                  </a:txBody>
                  <a:tcPr marL="91440" marR="91440" marT="45720" marB="45720">
                    <a:solidFill>
                      <a:srgbClr val="FFFFFF"/>
                    </a:solidFill>
                  </a:tcPr>
                </a:tc>
              </a:tr>
              <a:tr h="552450">
                <a:tc>
                  <a:txBody>
                    <a:bodyPr/>
                    <a:lstStyle/>
                    <a:p>
                      <a:r>
                        <a:rPr sz="1725" b="0">
                          <a:solidFill>
                            <a:srgbClr val="152C3A"/>
                          </a:solidFill>
                          <a:latin typeface="Helvetica Neue"/>
                          <a:ea typeface="Helvetica Neue"/>
                          <a:cs typeface="Helvetica Neue"/>
                        </a:rPr>
                        <a:t>Holdout F1</a:t>
                      </a:r>
                    </a:p>
                  </a:txBody>
                  <a:tcPr marL="91440" marR="91440" marT="45720" marB="45720">
                    <a:solidFill>
                      <a:srgbClr val="EAF0F0"/>
                    </a:solidFill>
                  </a:tcPr>
                </a:tc>
                <a:tc>
                  <a:txBody>
                    <a:bodyPr/>
                    <a:lstStyle/>
                    <a:p>
                      <a:r>
                        <a:rPr sz="1725" b="0">
                          <a:solidFill>
                            <a:srgbClr val="152C3A"/>
                          </a:solidFill>
                          <a:latin typeface="Helvetica Neue"/>
                          <a:ea typeface="Helvetica Neue"/>
                          <a:cs typeface="Helvetica Neue"/>
                        </a:rPr>
                        <a:t>Random forest / always signal</a:t>
                      </a:r>
                    </a:p>
                  </a:txBody>
                  <a:tcPr marL="91440" marR="91440" marT="45720" marB="45720">
                    <a:solidFill>
                      <a:srgbClr val="EAF0F0"/>
                    </a:solidFill>
                  </a:tcPr>
                </a:tc>
                <a:tc>
                  <a:txBody>
                    <a:bodyPr/>
                    <a:lstStyle/>
                    <a:p>
                      <a:r>
                        <a:rPr sz="1725" b="0">
                          <a:solidFill>
                            <a:srgbClr val="152C3A"/>
                          </a:solidFill>
                          <a:latin typeface="Helvetica Neue"/>
                          <a:ea typeface="Helvetica Neue"/>
                          <a:cs typeface="Helvetica Neue"/>
                        </a:rPr>
                        <a:t>0.814 / 0.877</a:t>
                      </a:r>
                    </a:p>
                  </a:txBody>
                  <a:tcPr marL="91440" marR="91440" marT="45720" marB="45720">
                    <a:solidFill>
                      <a:srgbClr val="EAF0F0"/>
                    </a:solidFill>
                  </a:tcPr>
                </a:tc>
              </a:tr>
              <a:tr h="552450">
                <a:tc>
                  <a:txBody>
                    <a:bodyPr/>
                    <a:lstStyle/>
                    <a:p>
                      <a:r>
                        <a:rPr sz="1725" b="0">
                          <a:solidFill>
                            <a:srgbClr val="152C3A"/>
                          </a:solidFill>
                          <a:latin typeface="Helvetica Neue"/>
                          <a:ea typeface="Helvetica Neue"/>
                          <a:cs typeface="Helvetica Neue"/>
                        </a:rPr>
                        <a:t>Holdout precision / recall</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Random forest</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96.9% / 70.2%</a:t>
                      </a:r>
                    </a:p>
                  </a:txBody>
                  <a:tcPr marL="91440" marR="91440" marT="45720" marB="45720">
                    <a:solidFill>
                      <a:srgbClr val="FFFFFF"/>
                    </a:solidFill>
                  </a:tcPr>
                </a:tc>
              </a:tr>
              <a:tr h="552450">
                <a:tc>
                  <a:txBody>
                    <a:bodyPr/>
                    <a:lstStyle/>
                    <a:p>
                      <a:r>
                        <a:rPr sz="1725" b="0">
                          <a:solidFill>
                            <a:srgbClr val="152C3A"/>
                          </a:solidFill>
                          <a:latin typeface="Helvetica Neue"/>
                          <a:ea typeface="Helvetica Neue"/>
                          <a:cs typeface="Helvetica Neue"/>
                        </a:rPr>
                        <a:t>Five-fold mean F1</a:t>
                      </a:r>
                    </a:p>
                  </a:txBody>
                  <a:tcPr marL="91440" marR="91440" marT="45720" marB="45720">
                    <a:solidFill>
                      <a:srgbClr val="EAF0F0"/>
                    </a:solidFill>
                  </a:tcPr>
                </a:tc>
                <a:tc>
                  <a:txBody>
                    <a:bodyPr/>
                    <a:lstStyle/>
                    <a:p>
                      <a:r>
                        <a:rPr sz="1725" b="0">
                          <a:solidFill>
                            <a:srgbClr val="152C3A"/>
                          </a:solidFill>
                          <a:latin typeface="Helvetica Neue"/>
                          <a:ea typeface="Helvetica Neue"/>
                          <a:cs typeface="Helvetica Neue"/>
                        </a:rPr>
                        <a:t>Random forest / logistic</a:t>
                      </a:r>
                    </a:p>
                  </a:txBody>
                  <a:tcPr marL="91440" marR="91440" marT="45720" marB="45720">
                    <a:solidFill>
                      <a:srgbClr val="EAF0F0"/>
                    </a:solidFill>
                  </a:tcPr>
                </a:tc>
                <a:tc>
                  <a:txBody>
                    <a:bodyPr/>
                    <a:lstStyle/>
                    <a:p>
                      <a:r>
                        <a:rPr sz="1725" b="0">
                          <a:solidFill>
                            <a:srgbClr val="152C3A"/>
                          </a:solidFill>
                          <a:latin typeface="Helvetica Neue"/>
                          <a:ea typeface="Helvetica Neue"/>
                          <a:cs typeface="Helvetica Neue"/>
                        </a:rPr>
                        <a:t>0.592 / 0.628</a:t>
                      </a:r>
                    </a:p>
                  </a:txBody>
                  <a:tcPr marL="91440" marR="91440" marT="45720" marB="45720">
                    <a:solidFill>
                      <a:srgbClr val="EAF0F0"/>
                    </a:solidFill>
                  </a:tcPr>
                </a:tc>
              </a:tr>
              <a:tr h="552450">
                <a:tc>
                  <a:txBody>
                    <a:bodyPr/>
                    <a:lstStyle/>
                    <a:p>
                      <a:r>
                        <a:rPr sz="1725" b="0">
                          <a:solidFill>
                            <a:srgbClr val="152C3A"/>
                          </a:solidFill>
                          <a:latin typeface="Helvetica Neue"/>
                          <a:ea typeface="Helvetica Neue"/>
                          <a:cs typeface="Helvetica Neue"/>
                        </a:rPr>
                        <a:t>Five-fold mean F1</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Always signal</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0.721</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0E9235C-CBE5-4361-89E8-AB4A6D28D196}"/>
              </a:ext>
            </a:extLst>
          </p:cNvPr>
          <p:cNvSpPr>
            <a:spLocks xmlns:a="http://schemas.openxmlformats.org/drawingml/2006/main" noGrp="1"/>
          </p:cNvSpPr>
          <p:nvPr/>
        </p:nvSpPr>
        <p:spPr>
          <a:xfrm xmlns:a="http://schemas.openxmlformats.org/drawingml/2006/main">
            <a:off x="714375" y="52387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C83"/>
                </a:solidFill>
                <a:latin typeface="Helvetica Neue"/>
                <a:ea typeface="Helvetica Neue"/>
                <a:cs typeface="Helvetica Neue"/>
              </a:defRPr>
            </a:pPr>
            <a:r>
              <a:rPr sz="2100" b="1">
                <a:solidFill>
                  <a:srgbClr val="007C83"/>
                </a:solidFill>
                <a:latin typeface="Helvetica Neue"/>
                <a:ea typeface="Helvetica Neue"/>
                <a:cs typeface="Helvetica Neue"/>
              </a:rPr>
              <a:t>Neither classifier beats always-signal on F1. Keep the direct rules for this label.</a:t>
            </a:r>
          </a:p>
        </p:txBody>
      </p:sp>
    </p:spTree>
    <p:extLst>
      <p:ext uri="{BB962C8B-B14F-4D97-AF65-F5344CB8AC3E}">
        <p14:creationId xmlns:p14="http://schemas.microsoft.com/office/powerpoint/2010/main" val="1338249118"/>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95E3FE-CF74-401E-906F-F97A35852346}"/>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Forecasting has a separate target</a:t>
            </a:r>
          </a:p>
        </p:txBody>
      </p:sp>
      <p:sp>
        <p:nvSpPr>
          <p:cNvPr id="2" name="">
            <a:extLst xmlns:a="http://schemas.openxmlformats.org/drawingml/2006/main">
              <a:ext uri="{FF2B5EF4-FFF2-40B4-BE49-F238E27FC236}">
                <a16:creationId xmlns:a16="http://schemas.microsoft.com/office/drawing/2014/main" id="{5A82D939-341C-4349-8746-32FB0031A91B}"/>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08</a:t>
            </a:r>
          </a:p>
        </p:txBody>
      </p:sp>
      <p:graphicFrame>
        <p:nvGraphicFramePr>
          <p:cNvPr id="7" name=""/>
          <p:cNvGraphicFramePr/>
          <p:nvPr/>
        </p:nvGraphicFramePr>
        <p:xfrm>
          <a:off xmlns:a="http://schemas.openxmlformats.org/drawingml/2006/main" x="714375" y="1666875"/>
          <a:ext xmlns:a="http://schemas.openxmlformats.org/drawingml/2006/main" cx="10763250" cy="3333750"/>
        </p:xfrm>
        <a:graphic xmlns:a="http://schemas.openxmlformats.org/drawingml/2006/main">
          <a:graphicData uri="http://schemas.openxmlformats.org/drawingml/2006/table">
            <a:tbl>
              <a:tblPr/>
              <a:tblGrid>
                <a:gridCol w="4667250"/>
                <a:gridCol w="2952750"/>
                <a:gridCol w="3143250"/>
              </a:tblGrid>
              <a:tr h="476250">
                <a:tc>
                  <a:txBody>
                    <a:bodyPr/>
                    <a:lstStyle/>
                    <a:p>
                      <a:r>
                        <a:rPr sz="1725" b="1">
                          <a:solidFill>
                            <a:srgbClr val="FFFFFF"/>
                          </a:solidFill>
                          <a:latin typeface="Helvetica Neue"/>
                          <a:ea typeface="Helvetica Neue"/>
                          <a:cs typeface="Helvetica Neue"/>
                        </a:rPr>
                        <a:t>Horizon / sample</a:t>
                      </a:r>
                    </a:p>
                  </a:txBody>
                  <a:tcPr marL="91440" marR="91440" marT="45720" marB="45720">
                    <a:solidFill>
                      <a:srgbClr val="152C3A"/>
                    </a:solidFill>
                  </a:tcPr>
                </a:tc>
                <a:tc>
                  <a:txBody>
                    <a:bodyPr/>
                    <a:lstStyle/>
                    <a:p>
                      <a:r>
                        <a:rPr sz="1725" b="1">
                          <a:solidFill>
                            <a:srgbClr val="FFFFFF"/>
                          </a:solidFill>
                          <a:latin typeface="Helvetica Neue"/>
                          <a:ea typeface="Helvetica Neue"/>
                          <a:cs typeface="Helvetica Neue"/>
                        </a:rPr>
                        <a:t>Method</a:t>
                      </a:r>
                    </a:p>
                  </a:txBody>
                  <a:tcPr marL="91440" marR="91440" marT="45720" marB="45720">
                    <a:solidFill>
                      <a:srgbClr val="152C3A"/>
                    </a:solidFill>
                  </a:tcPr>
                </a:tc>
                <a:tc>
                  <a:txBody>
                    <a:bodyPr/>
                    <a:lstStyle/>
                    <a:p>
                      <a:r>
                        <a:rPr sz="1725" b="1">
                          <a:solidFill>
                            <a:srgbClr val="FFFFFF"/>
                          </a:solidFill>
                          <a:latin typeface="Helvetica Neue"/>
                          <a:ea typeface="Helvetica Neue"/>
                          <a:cs typeface="Helvetica Neue"/>
                        </a:rPr>
                        <a:t>MAE (counts)</a:t>
                      </a:r>
                    </a:p>
                  </a:txBody>
                  <a:tcPr marL="91440" marR="91440" marT="45720" marB="45720">
                    <a:solidFill>
                      <a:srgbClr val="152C3A"/>
                    </a:solidFill>
                  </a:tcPr>
                </a:tc>
              </a:tr>
              <a:tr h="476250">
                <a:tc>
                  <a:txBody>
                    <a:bodyPr/>
                    <a:lstStyle/>
                    <a:p>
                      <a:r>
                        <a:rPr sz="1725" b="0">
                          <a:solidFill>
                            <a:srgbClr val="152C3A"/>
                          </a:solidFill>
                          <a:latin typeface="Helvetica Neue"/>
                          <a:ea typeface="Helvetica Neue"/>
                          <a:cs typeface="Helvetica Neue"/>
                        </a:rPr>
                        <a:t>Next day, 225 rows</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Random forest</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90.01</a:t>
                      </a:r>
                    </a:p>
                  </a:txBody>
                  <a:tcPr marL="91440" marR="91440" marT="45720" marB="45720">
                    <a:solidFill>
                      <a:srgbClr val="FFFFFF"/>
                    </a:solidFill>
                  </a:tcPr>
                </a:tc>
              </a:tr>
              <a:tr h="476250">
                <a:tc>
                  <a:txBody>
                    <a:bodyPr/>
                    <a:lstStyle/>
                    <a:p>
                      <a:r>
                        <a:rPr sz="1725" b="0">
                          <a:solidFill>
                            <a:srgbClr val="152C3A"/>
                          </a:solidFill>
                          <a:latin typeface="Helvetica Neue"/>
                          <a:ea typeface="Helvetica Neue"/>
                          <a:cs typeface="Helvetica Neue"/>
                        </a:rPr>
                        <a:t>Next day, 225 rows</a:t>
                      </a:r>
                    </a:p>
                  </a:txBody>
                  <a:tcPr marL="91440" marR="91440" marT="45720" marB="45720">
                    <a:solidFill>
                      <a:srgbClr val="EAF0F0"/>
                    </a:solidFill>
                  </a:tcPr>
                </a:tc>
                <a:tc>
                  <a:txBody>
                    <a:bodyPr/>
                    <a:lstStyle/>
                    <a:p>
                      <a:r>
                        <a:rPr sz="1725" b="0">
                          <a:solidFill>
                            <a:srgbClr val="152C3A"/>
                          </a:solidFill>
                          <a:latin typeface="Helvetica Neue"/>
                          <a:ea typeface="Helvetica Neue"/>
                          <a:cs typeface="Helvetica Neue"/>
                        </a:rPr>
                        <a:t>Previous count</a:t>
                      </a:r>
                    </a:p>
                  </a:txBody>
                  <a:tcPr marL="91440" marR="91440" marT="45720" marB="45720">
                    <a:solidFill>
                      <a:srgbClr val="EAF0F0"/>
                    </a:solidFill>
                  </a:tcPr>
                </a:tc>
                <a:tc>
                  <a:txBody>
                    <a:bodyPr/>
                    <a:lstStyle/>
                    <a:p>
                      <a:r>
                        <a:rPr sz="1725" b="0">
                          <a:solidFill>
                            <a:srgbClr val="152C3A"/>
                          </a:solidFill>
                          <a:latin typeface="Helvetica Neue"/>
                          <a:ea typeface="Helvetica Neue"/>
                          <a:cs typeface="Helvetica Neue"/>
                        </a:rPr>
                        <a:t>109.87</a:t>
                      </a:r>
                    </a:p>
                  </a:txBody>
                  <a:tcPr marL="91440" marR="91440" marT="45720" marB="45720">
                    <a:solidFill>
                      <a:srgbClr val="EAF0F0"/>
                    </a:solidFill>
                  </a:tcPr>
                </a:tc>
              </a:tr>
              <a:tr h="476250">
                <a:tc>
                  <a:txBody>
                    <a:bodyPr/>
                    <a:lstStyle/>
                    <a:p>
                      <a:r>
                        <a:rPr sz="1725" b="0">
                          <a:solidFill>
                            <a:srgbClr val="152C3A"/>
                          </a:solidFill>
                          <a:latin typeface="Helvetica Neue"/>
                          <a:ea typeface="Helvetica Neue"/>
                          <a:cs typeface="Helvetica Neue"/>
                        </a:rPr>
                        <a:t>Next day, 225 rows</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Trailing mean</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97.26</a:t>
                      </a:r>
                    </a:p>
                  </a:txBody>
                  <a:tcPr marL="91440" marR="91440" marT="45720" marB="45720">
                    <a:solidFill>
                      <a:srgbClr val="FFFFFF"/>
                    </a:solidFill>
                  </a:tcPr>
                </a:tc>
              </a:tr>
              <a:tr h="476250">
                <a:tc>
                  <a:txBody>
                    <a:bodyPr/>
                    <a:lstStyle/>
                    <a:p>
                      <a:r>
                        <a:rPr sz="1725" b="0">
                          <a:solidFill>
                            <a:srgbClr val="152C3A"/>
                          </a:solidFill>
                          <a:latin typeface="Helvetica Neue"/>
                          <a:ea typeface="Helvetica Neue"/>
                          <a:cs typeface="Helvetica Neue"/>
                        </a:rPr>
                        <a:t>Five days, 90 rows</a:t>
                      </a:r>
                    </a:p>
                  </a:txBody>
                  <a:tcPr marL="91440" marR="91440" marT="45720" marB="45720">
                    <a:solidFill>
                      <a:srgbClr val="EAF0F0"/>
                    </a:solidFill>
                  </a:tcPr>
                </a:tc>
                <a:tc>
                  <a:txBody>
                    <a:bodyPr/>
                    <a:lstStyle/>
                    <a:p>
                      <a:r>
                        <a:rPr sz="1725" b="0">
                          <a:solidFill>
                            <a:srgbClr val="152C3A"/>
                          </a:solidFill>
                          <a:latin typeface="Helvetica Neue"/>
                          <a:ea typeface="Helvetica Neue"/>
                          <a:cs typeface="Helvetica Neue"/>
                        </a:rPr>
                        <a:t>ARIMA</a:t>
                      </a:r>
                    </a:p>
                  </a:txBody>
                  <a:tcPr marL="91440" marR="91440" marT="45720" marB="45720">
                    <a:solidFill>
                      <a:srgbClr val="EAF0F0"/>
                    </a:solidFill>
                  </a:tcPr>
                </a:tc>
                <a:tc>
                  <a:txBody>
                    <a:bodyPr/>
                    <a:lstStyle/>
                    <a:p>
                      <a:r>
                        <a:rPr sz="1725" b="0">
                          <a:solidFill>
                            <a:srgbClr val="152C3A"/>
                          </a:solidFill>
                          <a:latin typeface="Helvetica Neue"/>
                          <a:ea typeface="Helvetica Neue"/>
                          <a:cs typeface="Helvetica Neue"/>
                        </a:rPr>
                        <a:t>101.54</a:t>
                      </a:r>
                    </a:p>
                  </a:txBody>
                  <a:tcPr marL="91440" marR="91440" marT="45720" marB="45720">
                    <a:solidFill>
                      <a:srgbClr val="EAF0F0"/>
                    </a:solidFill>
                  </a:tcPr>
                </a:tc>
              </a:tr>
              <a:tr h="476250">
                <a:tc>
                  <a:txBody>
                    <a:bodyPr/>
                    <a:lstStyle/>
                    <a:p>
                      <a:r>
                        <a:rPr sz="1725" b="0">
                          <a:solidFill>
                            <a:srgbClr val="152C3A"/>
                          </a:solidFill>
                          <a:latin typeface="Helvetica Neue"/>
                          <a:ea typeface="Helvetica Neue"/>
                          <a:cs typeface="Helvetica Neue"/>
                        </a:rPr>
                        <a:t>Five days, 90 rows</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Holt-Winters</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104.00</a:t>
                      </a:r>
                    </a:p>
                  </a:txBody>
                  <a:tcPr marL="91440" marR="91440" marT="45720" marB="45720">
                    <a:solidFill>
                      <a:srgbClr val="FFFFFF"/>
                    </a:solidFill>
                  </a:tcPr>
                </a:tc>
              </a:tr>
              <a:tr h="476250">
                <a:tc>
                  <a:txBody>
                    <a:bodyPr/>
                    <a:lstStyle/>
                    <a:p>
                      <a:r>
                        <a:rPr sz="1725" b="0">
                          <a:solidFill>
                            <a:srgbClr val="152C3A"/>
                          </a:solidFill>
                          <a:latin typeface="Helvetica Neue"/>
                          <a:ea typeface="Helvetica Neue"/>
                          <a:cs typeface="Helvetica Neue"/>
                        </a:rPr>
                        <a:t>Five days, 90 rows</a:t>
                      </a:r>
                    </a:p>
                  </a:txBody>
                  <a:tcPr marL="91440" marR="91440" marT="45720" marB="45720">
                    <a:solidFill>
                      <a:srgbClr val="EAF0F0"/>
                    </a:solidFill>
                  </a:tcPr>
                </a:tc>
                <a:tc>
                  <a:txBody>
                    <a:bodyPr/>
                    <a:lstStyle/>
                    <a:p>
                      <a:r>
                        <a:rPr sz="1725" b="0">
                          <a:solidFill>
                            <a:srgbClr val="152C3A"/>
                          </a:solidFill>
                          <a:latin typeface="Helvetica Neue"/>
                          <a:ea typeface="Helvetica Neue"/>
                          <a:cs typeface="Helvetica Neue"/>
                        </a:rPr>
                        <a:t>Seasonal naive</a:t>
                      </a:r>
                    </a:p>
                  </a:txBody>
                  <a:tcPr marL="91440" marR="91440" marT="45720" marB="45720">
                    <a:solidFill>
                      <a:srgbClr val="EAF0F0"/>
                    </a:solidFill>
                  </a:tcPr>
                </a:tc>
                <a:tc>
                  <a:txBody>
                    <a:bodyPr/>
                    <a:lstStyle/>
                    <a:p>
                      <a:r>
                        <a:rPr sz="1725" b="0">
                          <a:solidFill>
                            <a:srgbClr val="152C3A"/>
                          </a:solidFill>
                          <a:latin typeface="Helvetica Neue"/>
                          <a:ea typeface="Helvetica Neue"/>
                          <a:cs typeface="Helvetica Neue"/>
                        </a:rPr>
                        <a:t>129.22</a:t>
                      </a:r>
                    </a:p>
                  </a:txBody>
                  <a:tcPr marL="91440" marR="91440" marT="45720" marB="45720">
                    <a:solidFill>
                      <a:srgbClr val="EAF0F0"/>
                    </a:solidFill>
                  </a:tcPr>
                </a:tc>
              </a:tr>
            </a:tbl>
          </a:graphicData>
        </a:graphic>
      </p:graphicFrame>
      <p:sp>
        <p:nvSpPr>
          <p:cNvPr id="4" name="">
            <a:extLst xmlns:a="http://schemas.openxmlformats.org/drawingml/2006/main">
              <a:ext uri="{FF2B5EF4-FFF2-40B4-BE49-F238E27FC236}">
                <a16:creationId xmlns:a16="http://schemas.microsoft.com/office/drawing/2014/main" id="{73C7C4FC-97DE-4638-B387-B195157E628C}"/>
              </a:ext>
            </a:extLst>
          </p:cNvPr>
          <p:cNvSpPr>
            <a:spLocks xmlns:a="http://schemas.openxmlformats.org/drawingml/2006/main" noGrp="1"/>
          </p:cNvSpPr>
          <p:nvPr/>
        </p:nvSpPr>
        <p:spPr>
          <a:xfrm xmlns:a="http://schemas.openxmlformats.org/drawingml/2006/main">
            <a:off x="714375" y="5429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7C83"/>
                </a:solidFill>
                <a:latin typeface="Helvetica Neue"/>
                <a:ea typeface="Helvetica Neue"/>
                <a:cs typeface="Helvetica Neue"/>
              </a:defRPr>
            </a:pPr>
            <a:r>
              <a:rPr sz="1950" b="1">
                <a:solidFill>
                  <a:srgbClr val="007C83"/>
                </a:solidFill>
                <a:latin typeface="Helvetica Neue"/>
                <a:ea typeface="Helvetica Neue"/>
                <a:cs typeface="Helvetica Neue"/>
              </a:rPr>
              <a:t>Lower MAE is better. Five-day values pool six origins and are descriptive.</a:t>
            </a:r>
          </a:p>
        </p:txBody>
      </p:sp>
    </p:spTree>
    <p:extLst>
      <p:ext uri="{BB962C8B-B14F-4D97-AF65-F5344CB8AC3E}">
        <p14:creationId xmlns:p14="http://schemas.microsoft.com/office/powerpoint/2010/main" val="1622200247"/>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377C50-84C5-4A25-9B9C-C25C70414055}"/>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An analyst owns the disposition</a:t>
            </a:r>
          </a:p>
        </p:txBody>
      </p:sp>
      <p:sp>
        <p:nvSpPr>
          <p:cNvPr id="2" name="">
            <a:extLst xmlns:a="http://schemas.openxmlformats.org/drawingml/2006/main">
              <a:ext uri="{FF2B5EF4-FFF2-40B4-BE49-F238E27FC236}">
                <a16:creationId xmlns:a16="http://schemas.microsoft.com/office/drawing/2014/main" id="{F7B3D04F-D36E-4135-A5C0-A63B39E5D7D1}"/>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5BE6C3AE-8342-4361-A373-17ABB2E68F50}"/>
              </a:ext>
            </a:extLst>
          </p:cNvPr>
          <p:cNvSpPr>
            <a:spLocks xmlns:a="http://schemas.openxmlformats.org/drawingml/2006/main" noGrp="1"/>
          </p:cNvSpPr>
          <p:nvPr/>
        </p:nvSpPr>
        <p:spPr>
          <a:xfrm xmlns:a="http://schemas.openxmlformats.org/drawingml/2006/main">
            <a:off x="714375" y="1714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Review the signal and contributing counts.</a:t>
            </a:r>
          </a:p>
        </p:txBody>
      </p:sp>
      <p:sp>
        <p:nvSpPr>
          <p:cNvPr id="4" name="">
            <a:extLst xmlns:a="http://schemas.openxmlformats.org/drawingml/2006/main">
              <a:ext uri="{FF2B5EF4-FFF2-40B4-BE49-F238E27FC236}">
                <a16:creationId xmlns:a16="http://schemas.microsoft.com/office/drawing/2014/main" id="{3A25B7B5-E97C-46A2-8CDA-C4123C560E70}"/>
              </a:ext>
            </a:extLst>
          </p:cNvPr>
          <p:cNvSpPr>
            <a:spLocks xmlns:a="http://schemas.openxmlformats.org/drawingml/2006/main" noGrp="1"/>
          </p:cNvSpPr>
          <p:nvPr/>
        </p:nvSpPr>
        <p:spPr>
          <a:xfrm xmlns:a="http://schemas.openxmlformats.org/drawingml/2006/main">
            <a:off x="714375" y="2667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Check completeness, timing and upstream dependencies.</a:t>
            </a:r>
          </a:p>
        </p:txBody>
      </p:sp>
      <p:sp>
        <p:nvSpPr>
          <p:cNvPr id="5" name="">
            <a:extLst xmlns:a="http://schemas.openxmlformats.org/drawingml/2006/main">
              <a:ext uri="{FF2B5EF4-FFF2-40B4-BE49-F238E27FC236}">
                <a16:creationId xmlns:a16="http://schemas.microsoft.com/office/drawing/2014/main" id="{BFA3870B-4C7A-45FA-ABF7-619C82BE4A95}"/>
              </a:ext>
            </a:extLst>
          </p:cNvPr>
          <p:cNvSpPr>
            <a:spLocks xmlns:a="http://schemas.openxmlformats.org/drawingml/2006/main" noGrp="1"/>
          </p:cNvSpPr>
          <p:nvPr/>
        </p:nvSpPr>
        <p:spPr>
          <a:xfrm xmlns:a="http://schemas.openxmlformats.org/drawingml/2006/main">
            <a:off x="714375" y="3619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Record a supported explanation or leave the cause unresolved.</a:t>
            </a:r>
          </a:p>
        </p:txBody>
      </p:sp>
      <p:sp>
        <p:nvSpPr>
          <p:cNvPr id="6" name="">
            <a:extLst xmlns:a="http://schemas.openxmlformats.org/drawingml/2006/main">
              <a:ext uri="{FF2B5EF4-FFF2-40B4-BE49-F238E27FC236}">
                <a16:creationId xmlns:a16="http://schemas.microsoft.com/office/drawing/2014/main" id="{F03BE677-20FE-4E7A-8E0A-7D17D43048CD}"/>
              </a:ext>
            </a:extLst>
          </p:cNvPr>
          <p:cNvSpPr>
            <a:spLocks xmlns:a="http://schemas.openxmlformats.org/drawingml/2006/main" noGrp="1"/>
          </p:cNvSpPr>
          <p:nvPr/>
        </p:nvSpPr>
        <p:spPr>
          <a:xfrm xmlns:a="http://schemas.openxmlformats.org/drawingml/2006/main">
            <a:off x="714375" y="4572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Assign follow-up, then retain the decision and evidence.</a:t>
            </a:r>
          </a:p>
        </p:txBody>
      </p:sp>
    </p:spTree>
    <p:extLst>
      <p:ext uri="{BB962C8B-B14F-4D97-AF65-F5344CB8AC3E}">
        <p14:creationId xmlns:p14="http://schemas.microsoft.com/office/powerpoint/2010/main" val="1411228150"/>
      </p:ext>
    </p:extLst>
  </p:cSld>
</p:sld>
</file>

<file path=ppt/slides/slide1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E4F440-889B-4E61-A17C-4F62E645B10A}"/>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A saved model is reused without retraining</a:t>
            </a:r>
          </a:p>
        </p:txBody>
      </p:sp>
      <p:sp>
        <p:nvSpPr>
          <p:cNvPr id="2" name="">
            <a:extLst xmlns:a="http://schemas.openxmlformats.org/drawingml/2006/main">
              <a:ext uri="{FF2B5EF4-FFF2-40B4-BE49-F238E27FC236}">
                <a16:creationId xmlns:a16="http://schemas.microsoft.com/office/drawing/2014/main" id="{BD957091-D639-4B8F-9C65-C6169BA06B1C}"/>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71B36D50-423D-455E-B7C6-A1CB499A31B6}"/>
              </a:ext>
            </a:extLst>
          </p:cNvPr>
          <p:cNvSpPr>
            <a:spLocks xmlns:a="http://schemas.openxmlformats.org/drawingml/2006/main" noGrp="1"/>
          </p:cNvSpPr>
          <p:nvPr/>
        </p:nvSpPr>
        <p:spPr>
          <a:xfrm xmlns:a="http://schemas.openxmlformats.org/drawingml/2006/main">
            <a:off x="714375" y="1714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Fresh processes reload joblib and local MLflow models with matching predictions.</a:t>
            </a:r>
          </a:p>
        </p:txBody>
      </p:sp>
      <p:sp>
        <p:nvSpPr>
          <p:cNvPr id="4" name="">
            <a:extLst xmlns:a="http://schemas.openxmlformats.org/drawingml/2006/main">
              <a:ext uri="{FF2B5EF4-FFF2-40B4-BE49-F238E27FC236}">
                <a16:creationId xmlns:a16="http://schemas.microsoft.com/office/drawing/2014/main" id="{E5BFCA6A-E521-44BC-BCFD-873E2EBA4A5B}"/>
              </a:ext>
            </a:extLst>
          </p:cNvPr>
          <p:cNvSpPr>
            <a:spLocks xmlns:a="http://schemas.openxmlformats.org/drawingml/2006/main" noGrp="1"/>
          </p:cNvSpPr>
          <p:nvPr/>
        </p:nvSpPr>
        <p:spPr>
          <a:xfrm xmlns:a="http://schemas.openxmlformats.org/drawingml/2006/main">
            <a:off x="714375" y="2667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The feature contract and model version travel with the artifact.</a:t>
            </a:r>
          </a:p>
        </p:txBody>
      </p:sp>
      <p:sp>
        <p:nvSpPr>
          <p:cNvPr id="5" name="">
            <a:extLst xmlns:a="http://schemas.openxmlformats.org/drawingml/2006/main">
              <a:ext uri="{FF2B5EF4-FFF2-40B4-BE49-F238E27FC236}">
                <a16:creationId xmlns:a16="http://schemas.microsoft.com/office/drawing/2014/main" id="{4C352E9E-B1FB-42D3-881E-A26940769B88}"/>
              </a:ext>
            </a:extLst>
          </p:cNvPr>
          <p:cNvSpPr>
            <a:spLocks xmlns:a="http://schemas.openxmlformats.org/drawingml/2006/main" noGrp="1"/>
          </p:cNvSpPr>
          <p:nvPr/>
        </p:nvSpPr>
        <p:spPr>
          <a:xfrm xmlns:a="http://schemas.openxmlformats.org/drawingml/2006/main">
            <a:off x="714375" y="3619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A later scoring run loads the model and predicts without refitting.</a:t>
            </a:r>
          </a:p>
        </p:txBody>
      </p:sp>
      <p:sp>
        <p:nvSpPr>
          <p:cNvPr id="6" name="">
            <a:extLst xmlns:a="http://schemas.openxmlformats.org/drawingml/2006/main">
              <a:ext uri="{FF2B5EF4-FFF2-40B4-BE49-F238E27FC236}">
                <a16:creationId xmlns:a16="http://schemas.microsoft.com/office/drawing/2014/main" id="{ABF21283-C728-40A2-8A54-5DCF63ADFF6A}"/>
              </a:ext>
            </a:extLst>
          </p:cNvPr>
          <p:cNvSpPr>
            <a:spLocks xmlns:a="http://schemas.openxmlformats.org/drawingml/2006/main" noGrp="1"/>
          </p:cNvSpPr>
          <p:nvPr/>
        </p:nvSpPr>
        <p:spPr>
          <a:xfrm xmlns:a="http://schemas.openxmlformats.org/drawingml/2006/main">
            <a:off x="714375" y="4572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Production promotion requires validation, approval and rollback.</a:t>
            </a:r>
          </a:p>
        </p:txBody>
      </p:sp>
    </p:spTree>
    <p:extLst>
      <p:ext uri="{BB962C8B-B14F-4D97-AF65-F5344CB8AC3E}">
        <p14:creationId xmlns:p14="http://schemas.microsoft.com/office/powerpoint/2010/main" val="662775334"/>
      </p:ext>
    </p:extLst>
  </p:cSld>
</p:sld>
</file>

<file path=ppt/slides/slide1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7EF375-9987-45B5-A31B-6CF6799572C4}"/>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Monitoring supports retraining review</a:t>
            </a:r>
          </a:p>
        </p:txBody>
      </p:sp>
      <p:sp>
        <p:nvSpPr>
          <p:cNvPr id="2" name="">
            <a:extLst xmlns:a="http://schemas.openxmlformats.org/drawingml/2006/main">
              <a:ext uri="{FF2B5EF4-FFF2-40B4-BE49-F238E27FC236}">
                <a16:creationId xmlns:a16="http://schemas.microsoft.com/office/drawing/2014/main" id="{910D0298-5DDA-4B9E-A96A-C5B6F71D50C4}"/>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8DAAEB2D-02ED-4360-9B9A-30D9BA904858}"/>
              </a:ext>
            </a:extLst>
          </p:cNvPr>
          <p:cNvSpPr>
            <a:spLocks xmlns:a="http://schemas.openxmlformats.org/drawingml/2006/main" noGrp="1"/>
          </p:cNvSpPr>
          <p:nvPr/>
        </p:nvSpPr>
        <p:spPr>
          <a:xfrm xmlns:a="http://schemas.openxmlformats.org/drawingml/2006/main">
            <a:off x="714375" y="1714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Monitor inputs and data quality before outcomes arrive.</a:t>
            </a:r>
          </a:p>
        </p:txBody>
      </p:sp>
      <p:sp>
        <p:nvSpPr>
          <p:cNvPr id="4" name="">
            <a:extLst xmlns:a="http://schemas.openxmlformats.org/drawingml/2006/main">
              <a:ext uri="{FF2B5EF4-FFF2-40B4-BE49-F238E27FC236}">
                <a16:creationId xmlns:a16="http://schemas.microsoft.com/office/drawing/2014/main" id="{545270F2-84DC-4037-9DEC-64936BD21E69}"/>
              </a:ext>
            </a:extLst>
          </p:cNvPr>
          <p:cNvSpPr>
            <a:spLocks xmlns:a="http://schemas.openxmlformats.org/drawingml/2006/main" noGrp="1"/>
          </p:cNvSpPr>
          <p:nvPr/>
        </p:nvSpPr>
        <p:spPr>
          <a:xfrm xmlns:a="http://schemas.openxmlformats.org/drawingml/2006/main">
            <a:off x="714375" y="2667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Match predictions to mature actuals and compare baseline error.</a:t>
            </a:r>
          </a:p>
        </p:txBody>
      </p:sp>
      <p:sp>
        <p:nvSpPr>
          <p:cNvPr id="5" name="">
            <a:extLst xmlns:a="http://schemas.openxmlformats.org/drawingml/2006/main">
              <a:ext uri="{FF2B5EF4-FFF2-40B4-BE49-F238E27FC236}">
                <a16:creationId xmlns:a16="http://schemas.microsoft.com/office/drawing/2014/main" id="{A089B3DE-6B88-45B9-8FDE-91F4E7EA8F6B}"/>
              </a:ext>
            </a:extLst>
          </p:cNvPr>
          <p:cNvSpPr>
            <a:spLocks xmlns:a="http://schemas.openxmlformats.org/drawingml/2006/main" noGrp="1"/>
          </p:cNvSpPr>
          <p:nvPr/>
        </p:nvSpPr>
        <p:spPr>
          <a:xfrm xmlns:a="http://schemas.openxmlformats.org/drawingml/2006/main">
            <a:off x="714375" y="3619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Controlled outcome shift: one worse window triggers watch, two trigger review.</a:t>
            </a:r>
          </a:p>
        </p:txBody>
      </p:sp>
      <p:sp>
        <p:nvSpPr>
          <p:cNvPr id="6" name="">
            <a:extLst xmlns:a="http://schemas.openxmlformats.org/drawingml/2006/main">
              <a:ext uri="{FF2B5EF4-FFF2-40B4-BE49-F238E27FC236}">
                <a16:creationId xmlns:a16="http://schemas.microsoft.com/office/drawing/2014/main" id="{02FDC424-84EA-4950-BEA8-BFF35912C6DB}"/>
              </a:ext>
            </a:extLst>
          </p:cNvPr>
          <p:cNvSpPr>
            <a:spLocks xmlns:a="http://schemas.openxmlformats.org/drawingml/2006/main" noGrp="1"/>
          </p:cNvSpPr>
          <p:nvPr/>
        </p:nvSpPr>
        <p:spPr>
          <a:xfrm xmlns:a="http://schemas.openxmlformats.org/drawingml/2006/main">
            <a:off x="714375" y="4572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Investigate first. Compare a candidate on later dates before promotion.</a:t>
            </a:r>
          </a:p>
        </p:txBody>
      </p:sp>
    </p:spTree>
    <p:extLst>
      <p:ext uri="{BB962C8B-B14F-4D97-AF65-F5344CB8AC3E}">
        <p14:creationId xmlns:p14="http://schemas.microsoft.com/office/powerpoint/2010/main" val="1351220037"/>
      </p:ext>
    </p:extLst>
  </p:cSld>
</p:sld>
</file>

<file path=ppt/slides/slide1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2D3DF6-804F-45D9-B55C-5EB56035E862}"/>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What this demonstration establishes</a:t>
            </a:r>
          </a:p>
        </p:txBody>
      </p:sp>
      <p:sp>
        <p:nvSpPr>
          <p:cNvPr id="2" name="">
            <a:extLst xmlns:a="http://schemas.openxmlformats.org/drawingml/2006/main">
              <a:ext uri="{FF2B5EF4-FFF2-40B4-BE49-F238E27FC236}">
                <a16:creationId xmlns:a16="http://schemas.microsoft.com/office/drawing/2014/main" id="{1D9EF24A-4B96-4C36-A94B-5F698060EEA2}"/>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D42B624E-B199-4632-9F39-CA886281107B}"/>
              </a:ext>
            </a:extLst>
          </p:cNvPr>
          <p:cNvSpPr>
            <a:spLocks xmlns:a="http://schemas.openxmlformats.org/drawingml/2006/main" noGrp="1"/>
          </p:cNvSpPr>
          <p:nvPr/>
        </p:nvSpPr>
        <p:spPr>
          <a:xfrm xmlns:a="http://schemas.openxmlformats.org/drawingml/2006/main">
            <a:off x="714375" y="1714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A reproducible path from daily counts to evidence for review.</a:t>
            </a:r>
          </a:p>
        </p:txBody>
      </p:sp>
      <p:sp>
        <p:nvSpPr>
          <p:cNvPr id="4" name="">
            <a:extLst xmlns:a="http://schemas.openxmlformats.org/drawingml/2006/main">
              <a:ext uri="{FF2B5EF4-FFF2-40B4-BE49-F238E27FC236}">
                <a16:creationId xmlns:a16="http://schemas.microsoft.com/office/drawing/2014/main" id="{8406DFE5-6FB0-4D74-8DC0-0439D8B51418}"/>
              </a:ext>
            </a:extLst>
          </p:cNvPr>
          <p:cNvSpPr>
            <a:spLocks xmlns:a="http://schemas.openxmlformats.org/drawingml/2006/main" noGrp="1"/>
          </p:cNvSpPr>
          <p:nvPr/>
        </p:nvSpPr>
        <p:spPr>
          <a:xfrm xmlns:a="http://schemas.openxmlformats.org/drawingml/2006/main">
            <a:off x="714375" y="2667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Measured model comparisons and a saved-model scoring example.</a:t>
            </a:r>
          </a:p>
        </p:txBody>
      </p:sp>
      <p:sp>
        <p:nvSpPr>
          <p:cNvPr id="5" name="">
            <a:extLst xmlns:a="http://schemas.openxmlformats.org/drawingml/2006/main">
              <a:ext uri="{FF2B5EF4-FFF2-40B4-BE49-F238E27FC236}">
                <a16:creationId xmlns:a16="http://schemas.microsoft.com/office/drawing/2014/main" id="{9F17EFE8-517B-44E7-A8E6-CBF04ED41A53}"/>
              </a:ext>
            </a:extLst>
          </p:cNvPr>
          <p:cNvSpPr>
            <a:spLocks xmlns:a="http://schemas.openxmlformats.org/drawingml/2006/main" noGrp="1"/>
          </p:cNvSpPr>
          <p:nvPr/>
        </p:nvSpPr>
        <p:spPr>
          <a:xfrm xmlns:a="http://schemas.openxmlformats.org/drawingml/2006/main">
            <a:off x="714375" y="3619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A pilot still needs representative data and agreed success criteria.</a:t>
            </a:r>
          </a:p>
        </p:txBody>
      </p:sp>
      <p:sp>
        <p:nvSpPr>
          <p:cNvPr id="6" name="">
            <a:extLst xmlns:a="http://schemas.openxmlformats.org/drawingml/2006/main">
              <a:ext uri="{FF2B5EF4-FFF2-40B4-BE49-F238E27FC236}">
                <a16:creationId xmlns:a16="http://schemas.microsoft.com/office/drawing/2014/main" id="{EC9B1DB4-545E-4B82-A10B-C67A8D2646BB}"/>
              </a:ext>
            </a:extLst>
          </p:cNvPr>
          <p:cNvSpPr>
            <a:spLocks xmlns:a="http://schemas.openxmlformats.org/drawingml/2006/main" noGrp="1"/>
          </p:cNvSpPr>
          <p:nvPr/>
        </p:nvSpPr>
        <p:spPr>
          <a:xfrm xmlns:a="http://schemas.openxmlformats.org/drawingml/2006/main">
            <a:off x="714375" y="4572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Human approval controls operational decisions and model promotion.</a:t>
            </a:r>
          </a:p>
        </p:txBody>
      </p:sp>
    </p:spTree>
    <p:extLst>
      <p:ext uri="{BB962C8B-B14F-4D97-AF65-F5344CB8AC3E}">
        <p14:creationId xmlns:p14="http://schemas.microsoft.com/office/powerpoint/2010/main" val="34747114"/>
      </p:ext>
    </p:extLst>
  </p:cSld>
</p:sld>
</file>

<file path=ppt/slides/slide1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F3B4D8-FBF9-406C-8957-C1589669A965}"/>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Appendix A   Data and feature contract</a:t>
            </a:r>
          </a:p>
        </p:txBody>
      </p:sp>
      <p:sp>
        <p:nvSpPr>
          <p:cNvPr id="2" name="">
            <a:extLst xmlns:a="http://schemas.openxmlformats.org/drawingml/2006/main">
              <a:ext uri="{FF2B5EF4-FFF2-40B4-BE49-F238E27FC236}">
                <a16:creationId xmlns:a16="http://schemas.microsoft.com/office/drawing/2014/main" id="{9A0C99FC-23CA-4FAC-A60C-998BB7CB07F8}"/>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DADD0DB5-21B1-4FE0-9C50-184F3B00CE33}"/>
              </a:ext>
            </a:extLst>
          </p:cNvPr>
          <p:cNvSpPr>
            <a:spLocks xmlns:a="http://schemas.openxmlformats.org/drawingml/2006/main" noGrp="1"/>
          </p:cNvSpPr>
          <p:nvPr/>
        </p:nvSpPr>
        <p:spPr>
          <a:xfrm xmlns:a="http://schemas.openxmlformats.org/drawingml/2006/main">
            <a:off x="714375" y="161925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C3A"/>
                </a:solidFill>
                <a:latin typeface="Helvetica Neue"/>
                <a:ea typeface="Helvetica Neue"/>
                <a:cs typeface="Helvetica Neue"/>
              </a:defRPr>
            </a:pPr>
            <a:r>
              <a:rPr sz="1950" b="0">
                <a:solidFill>
                  <a:srgbClr val="152C3A"/>
                </a:solidFill>
                <a:latin typeface="Helvetica Neue"/>
                <a:ea typeface="Helvetica Neue"/>
                <a:cs typeface="Helvetica Neue"/>
              </a:rPr>
              <a:t>1,179,830 synthetic event rows aggregate to 1,260 daily observations across 3 series and 420 business dates.</a:t>
            </a:r>
          </a:p>
        </p:txBody>
      </p:sp>
      <p:sp>
        <p:nvSpPr>
          <p:cNvPr id="4" name="">
            <a:extLst xmlns:a="http://schemas.openxmlformats.org/drawingml/2006/main">
              <a:ext uri="{FF2B5EF4-FFF2-40B4-BE49-F238E27FC236}">
                <a16:creationId xmlns:a16="http://schemas.microsoft.com/office/drawing/2014/main" id="{6D5AC4E2-FC8F-4B19-BC26-AAE04C8D3EC7}"/>
              </a:ext>
            </a:extLst>
          </p:cNvPr>
          <p:cNvSpPr>
            <a:spLocks xmlns:a="http://schemas.openxmlformats.org/drawingml/2006/main" noGrp="1"/>
          </p:cNvSpPr>
          <p:nvPr/>
        </p:nvSpPr>
        <p:spPr>
          <a:xfrm xmlns:a="http://schemas.openxmlformats.org/drawingml/2006/main">
            <a:off x="714375" y="257175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C3A"/>
                </a:solidFill>
                <a:latin typeface="Helvetica Neue"/>
                <a:ea typeface="Helvetica Neue"/>
                <a:cs typeface="Helvetica Neue"/>
              </a:defRPr>
            </a:pPr>
            <a:r>
              <a:rPr sz="1950" b="0">
                <a:solidFill>
                  <a:srgbClr val="152C3A"/>
                </a:solidFill>
                <a:latin typeface="Helvetica Neue"/>
                <a:ea typeface="Helvetica Neue"/>
                <a:cs typeface="Helvetica Neue"/>
              </a:rPr>
              <a:t>12 classifier features: window level and spread, moving range, latest value, recent mean and spread, trend, reference level and spread, two deviations.</a:t>
            </a:r>
          </a:p>
        </p:txBody>
      </p:sp>
      <p:sp>
        <p:nvSpPr>
          <p:cNvPr id="5" name="">
            <a:extLst xmlns:a="http://schemas.openxmlformats.org/drawingml/2006/main">
              <a:ext uri="{FF2B5EF4-FFF2-40B4-BE49-F238E27FC236}">
                <a16:creationId xmlns:a16="http://schemas.microsoft.com/office/drawing/2014/main" id="{924A6C26-EE50-4A44-B6F5-E1112ABBDEF2}"/>
              </a:ext>
            </a:extLst>
          </p:cNvPr>
          <p:cNvSpPr>
            <a:spLocks xmlns:a="http://schemas.openxmlformats.org/drawingml/2006/main" noGrp="1"/>
          </p:cNvSpPr>
          <p:nvPr/>
        </p:nvSpPr>
        <p:spPr>
          <a:xfrm xmlns:a="http://schemas.openxmlformats.org/drawingml/2006/main">
            <a:off x="714375" y="352425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C3A"/>
                </a:solidFill>
                <a:latin typeface="Helvetica Neue"/>
                <a:ea typeface="Helvetica Neue"/>
                <a:cs typeface="Helvetica Neue"/>
              </a:defRPr>
            </a:pPr>
            <a:r>
              <a:rPr sz="1950" b="0">
                <a:solidFill>
                  <a:srgbClr val="152C3A"/>
                </a:solidFill>
                <a:latin typeface="Helvetica Neue"/>
                <a:ea typeface="Helvetica Neue"/>
                <a:cs typeface="Helvetica Neue"/>
              </a:rPr>
              <a:t>25-day measurement windows and 90-day reference histories.</a:t>
            </a:r>
          </a:p>
        </p:txBody>
      </p:sp>
      <p:sp>
        <p:nvSpPr>
          <p:cNvPr id="6" name="">
            <a:extLst xmlns:a="http://schemas.openxmlformats.org/drawingml/2006/main">
              <a:ext uri="{FF2B5EF4-FFF2-40B4-BE49-F238E27FC236}">
                <a16:creationId xmlns:a16="http://schemas.microsoft.com/office/drawing/2014/main" id="{2676AA1F-F727-4DB8-90F3-505A32C6B704}"/>
              </a:ext>
            </a:extLst>
          </p:cNvPr>
          <p:cNvSpPr>
            <a:spLocks xmlns:a="http://schemas.openxmlformats.org/drawingml/2006/main" noGrp="1"/>
          </p:cNvSpPr>
          <p:nvPr/>
        </p:nvSpPr>
        <p:spPr>
          <a:xfrm xmlns:a="http://schemas.openxmlformats.org/drawingml/2006/main">
            <a:off x="714375" y="447675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C3A"/>
                </a:solidFill>
                <a:latin typeface="Helvetica Neue"/>
                <a:ea typeface="Helvetica Neue"/>
                <a:cs typeface="Helvetica Neue"/>
              </a:defRPr>
            </a:pPr>
            <a:r>
              <a:rPr sz="1950" b="0">
                <a:solidFill>
                  <a:srgbClr val="152C3A"/>
                </a:solidFill>
                <a:latin typeface="Helvetica Neue"/>
                <a:ea typeface="Helvetica Neue"/>
                <a:cs typeface="Helvetica Neue"/>
              </a:rPr>
              <a:t>Destination schema: ml_statistical_process_controls.demo_schema</a:t>
            </a:r>
          </a:p>
        </p:txBody>
      </p:sp>
    </p:spTree>
    <p:extLst>
      <p:ext uri="{BB962C8B-B14F-4D97-AF65-F5344CB8AC3E}">
        <p14:creationId xmlns:p14="http://schemas.microsoft.com/office/powerpoint/2010/main" val="74583981"/>
      </p:ext>
    </p:extLst>
  </p:cSld>
</p:sld>
</file>

<file path=ppt/slides/slide1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81604A2-7784-4F53-83AD-41E6698FDC32}"/>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Appendix B   Model training details</a:t>
            </a:r>
          </a:p>
        </p:txBody>
      </p:sp>
      <p:sp>
        <p:nvSpPr>
          <p:cNvPr id="2" name="">
            <a:extLst xmlns:a="http://schemas.openxmlformats.org/drawingml/2006/main">
              <a:ext uri="{FF2B5EF4-FFF2-40B4-BE49-F238E27FC236}">
                <a16:creationId xmlns:a16="http://schemas.microsoft.com/office/drawing/2014/main" id="{1ADCEA88-77F7-4485-8EE8-5A691AE1ADAD}"/>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14</a:t>
            </a:r>
          </a:p>
        </p:txBody>
      </p:sp>
      <p:graphicFrame>
        <p:nvGraphicFramePr>
          <p:cNvPr id="6" name=""/>
          <p:cNvGraphicFramePr/>
          <p:nvPr/>
        </p:nvGraphicFramePr>
        <p:xfrm>
          <a:off xmlns:a="http://schemas.openxmlformats.org/drawingml/2006/main" x="714375" y="1666875"/>
          <a:ext xmlns:a="http://schemas.openxmlformats.org/drawingml/2006/main" cx="10763250" cy="3314700"/>
        </p:xfrm>
        <a:graphic xmlns:a="http://schemas.openxmlformats.org/drawingml/2006/main">
          <a:graphicData uri="http://schemas.openxmlformats.org/drawingml/2006/table">
            <a:tbl>
              <a:tblPr/>
              <a:tblGrid>
                <a:gridCol w="3714750"/>
                <a:gridCol w="7048500"/>
              </a:tblGrid>
              <a:tr h="552450">
                <a:tc>
                  <a:txBody>
                    <a:bodyPr/>
                    <a:lstStyle/>
                    <a:p>
                      <a:r>
                        <a:rPr sz="1725" b="1">
                          <a:solidFill>
                            <a:srgbClr val="FFFFFF"/>
                          </a:solidFill>
                          <a:latin typeface="Helvetica Neue"/>
                          <a:ea typeface="Helvetica Neue"/>
                          <a:cs typeface="Helvetica Neue"/>
                        </a:rPr>
                        <a:t>Model</a:t>
                      </a:r>
                    </a:p>
                  </a:txBody>
                  <a:tcPr marL="91440" marR="91440" marT="45720" marB="45720">
                    <a:solidFill>
                      <a:srgbClr val="152C3A"/>
                    </a:solidFill>
                  </a:tcPr>
                </a:tc>
                <a:tc>
                  <a:txBody>
                    <a:bodyPr/>
                    <a:lstStyle/>
                    <a:p>
                      <a:r>
                        <a:rPr sz="1725" b="1">
                          <a:solidFill>
                            <a:srgbClr val="FFFFFF"/>
                          </a:solidFill>
                          <a:latin typeface="Helvetica Neue"/>
                          <a:ea typeface="Helvetica Neue"/>
                          <a:cs typeface="Helvetica Neue"/>
                        </a:rPr>
                        <a:t>Training configuration</a:t>
                      </a:r>
                    </a:p>
                  </a:txBody>
                  <a:tcPr marL="91440" marR="91440" marT="45720" marB="45720">
                    <a:solidFill>
                      <a:srgbClr val="152C3A"/>
                    </a:solidFill>
                  </a:tcPr>
                </a:tc>
              </a:tr>
              <a:tr h="552450">
                <a:tc>
                  <a:txBody>
                    <a:bodyPr/>
                    <a:lstStyle/>
                    <a:p>
                      <a:r>
                        <a:rPr sz="1725" b="0">
                          <a:solidFill>
                            <a:srgbClr val="152C3A"/>
                          </a:solidFill>
                          <a:latin typeface="Helvetica Neue"/>
                          <a:ea typeface="Helvetica Neue"/>
                          <a:cs typeface="Helvetica Neue"/>
                        </a:rPr>
                        <a:t>RF classifier (holdout and folds)</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100 trees, depth 8, leaf minimum 3, balanced classes</a:t>
                      </a:r>
                    </a:p>
                  </a:txBody>
                  <a:tcPr marL="91440" marR="91440" marT="45720" marB="45720">
                    <a:solidFill>
                      <a:srgbClr val="FFFFFF"/>
                    </a:solidFill>
                  </a:tcPr>
                </a:tc>
              </a:tr>
              <a:tr h="552450">
                <a:tc>
                  <a:txBody>
                    <a:bodyPr/>
                    <a:lstStyle/>
                    <a:p>
                      <a:r>
                        <a:rPr sz="1725" b="0">
                          <a:solidFill>
                            <a:srgbClr val="152C3A"/>
                          </a:solidFill>
                          <a:latin typeface="Helvetica Neue"/>
                          <a:ea typeface="Helvetica Neue"/>
                          <a:cs typeface="Helvetica Neue"/>
                        </a:rPr>
                        <a:t>Logistic regression</a:t>
                      </a:r>
                    </a:p>
                  </a:txBody>
                  <a:tcPr marL="91440" marR="91440" marT="45720" marB="45720">
                    <a:solidFill>
                      <a:srgbClr val="EAF0F0"/>
                    </a:solidFill>
                  </a:tcPr>
                </a:tc>
                <a:tc>
                  <a:txBody>
                    <a:bodyPr/>
                    <a:lstStyle/>
                    <a:p>
                      <a:r>
                        <a:rPr sz="1725" b="0">
                          <a:solidFill>
                            <a:srgbClr val="152C3A"/>
                          </a:solidFill>
                          <a:latin typeface="Helvetica Neue"/>
                          <a:ea typeface="Helvetica Neue"/>
                          <a:cs typeface="Helvetica Neue"/>
                        </a:rPr>
                        <a:t>StandardScaler, max_iter 1000</a:t>
                      </a:r>
                    </a:p>
                  </a:txBody>
                  <a:tcPr marL="91440" marR="91440" marT="45720" marB="45720">
                    <a:solidFill>
                      <a:srgbClr val="EAF0F0"/>
                    </a:solidFill>
                  </a:tcPr>
                </a:tc>
              </a:tr>
              <a:tr h="552450">
                <a:tc>
                  <a:txBody>
                    <a:bodyPr/>
                    <a:lstStyle/>
                    <a:p>
                      <a:r>
                        <a:rPr sz="1725" b="0">
                          <a:solidFill>
                            <a:srgbClr val="152C3A"/>
                          </a:solidFill>
                          <a:latin typeface="Helvetica Neue"/>
                          <a:ea typeface="Helvetica Neue"/>
                          <a:cs typeface="Helvetica Neue"/>
                        </a:rPr>
                        <a:t>Isolation Forest</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100 trees, train-derived contamination 0.0446</a:t>
                      </a:r>
                    </a:p>
                  </a:txBody>
                  <a:tcPr marL="91440" marR="91440" marT="45720" marB="45720">
                    <a:solidFill>
                      <a:srgbClr val="FFFFFF"/>
                    </a:solidFill>
                  </a:tcPr>
                </a:tc>
              </a:tr>
              <a:tr h="552450">
                <a:tc>
                  <a:txBody>
                    <a:bodyPr/>
                    <a:lstStyle/>
                    <a:p>
                      <a:r>
                        <a:rPr sz="1725" b="0">
                          <a:solidFill>
                            <a:srgbClr val="152C3A"/>
                          </a:solidFill>
                          <a:latin typeface="Helvetica Neue"/>
                          <a:ea typeface="Helvetica Neue"/>
                          <a:cs typeface="Helvetica Neue"/>
                        </a:rPr>
                        <a:t>Next-day RF regressor</a:t>
                      </a:r>
                    </a:p>
                  </a:txBody>
                  <a:tcPr marL="91440" marR="91440" marT="45720" marB="45720">
                    <a:solidFill>
                      <a:srgbClr val="EAF0F0"/>
                    </a:solidFill>
                  </a:tcPr>
                </a:tc>
                <a:tc>
                  <a:txBody>
                    <a:bodyPr/>
                    <a:lstStyle/>
                    <a:p>
                      <a:r>
                        <a:rPr sz="1725" b="0">
                          <a:solidFill>
                            <a:srgbClr val="152C3A"/>
                          </a:solidFill>
                          <a:latin typeface="Helvetica Neue"/>
                          <a:ea typeface="Helvetica Neue"/>
                          <a:cs typeface="Helvetica Neue"/>
                        </a:rPr>
                        <a:t>120 trees, depth 7, leaf minimum 4</a:t>
                      </a:r>
                    </a:p>
                  </a:txBody>
                  <a:tcPr marL="91440" marR="91440" marT="45720" marB="45720">
                    <a:solidFill>
                      <a:srgbClr val="EAF0F0"/>
                    </a:solidFill>
                  </a:tcPr>
                </a:tc>
              </a:tr>
              <a:tr h="552450">
                <a:tc>
                  <a:txBody>
                    <a:bodyPr/>
                    <a:lstStyle/>
                    <a:p>
                      <a:r>
                        <a:rPr sz="1725" b="0">
                          <a:solidFill>
                            <a:srgbClr val="152C3A"/>
                          </a:solidFill>
                          <a:latin typeface="Helvetica Neue"/>
                          <a:ea typeface="Helvetica Neue"/>
                          <a:cs typeface="Helvetica Neue"/>
                        </a:rPr>
                        <a:t>ARIMA / Holt-Winters</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AR(1) with constant; damped trend, 5-day seasonality; last 180 days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07500140"/>
      </p:ext>
    </p:extLst>
  </p:cSld>
</p:sld>
</file>

<file path=ppt/slides/slide1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BE6BC1-A0D8-4917-9475-D71775CA756D}"/>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Appendix C   Validation and uncertainty</a:t>
            </a:r>
          </a:p>
        </p:txBody>
      </p:sp>
      <p:sp>
        <p:nvSpPr>
          <p:cNvPr id="2" name="">
            <a:extLst xmlns:a="http://schemas.openxmlformats.org/drawingml/2006/main">
              <a:ext uri="{FF2B5EF4-FFF2-40B4-BE49-F238E27FC236}">
                <a16:creationId xmlns:a16="http://schemas.microsoft.com/office/drawing/2014/main" id="{DD1FC31E-1C73-43DA-AC95-B30441326F6C}"/>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F7D47398-E6BB-453E-AAC7-3C1ACB09FD6F}"/>
              </a:ext>
            </a:extLst>
          </p:cNvPr>
          <p:cNvSpPr>
            <a:spLocks xmlns:a="http://schemas.openxmlformats.org/drawingml/2006/main" noGrp="1"/>
          </p:cNvSpPr>
          <p:nvPr/>
        </p:nvSpPr>
        <p:spPr>
          <a:xfrm xmlns:a="http://schemas.openxmlformats.org/drawingml/2006/main">
            <a:off x="714375" y="161925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C3A"/>
                </a:solidFill>
                <a:latin typeface="Helvetica Neue"/>
                <a:ea typeface="Helvetica Neue"/>
                <a:cs typeface="Helvetica Neue"/>
              </a:defRPr>
            </a:pPr>
            <a:r>
              <a:rPr sz="2025" b="0">
                <a:solidFill>
                  <a:srgbClr val="152C3A"/>
                </a:solidFill>
                <a:latin typeface="Helvetica Neue"/>
                <a:ea typeface="Helvetica Neue"/>
                <a:cs typeface="Helvetica Neue"/>
              </a:rPr>
              <a:t>Classification measures rule reproduction on synthetic data.</a:t>
            </a:r>
          </a:p>
        </p:txBody>
      </p:sp>
      <p:sp>
        <p:nvSpPr>
          <p:cNvPr id="4" name="">
            <a:extLst xmlns:a="http://schemas.openxmlformats.org/drawingml/2006/main">
              <a:ext uri="{FF2B5EF4-FFF2-40B4-BE49-F238E27FC236}">
                <a16:creationId xmlns:a16="http://schemas.microsoft.com/office/drawing/2014/main" id="{6CCF17A0-CEDC-4699-97E2-B858CB8CB81F}"/>
              </a:ext>
            </a:extLst>
          </p:cNvPr>
          <p:cNvSpPr>
            <a:spLocks xmlns:a="http://schemas.openxmlformats.org/drawingml/2006/main" noGrp="1"/>
          </p:cNvSpPr>
          <p:nvPr/>
        </p:nvSpPr>
        <p:spPr>
          <a:xfrm xmlns:a="http://schemas.openxmlformats.org/drawingml/2006/main">
            <a:off x="714375" y="257175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C3A"/>
                </a:solidFill>
                <a:latin typeface="Helvetica Neue"/>
                <a:ea typeface="Helvetica Neue"/>
                <a:cs typeface="Helvetica Neue"/>
              </a:defRPr>
            </a:pPr>
            <a:r>
              <a:rPr sz="2025" b="0">
                <a:solidFill>
                  <a:srgbClr val="152C3A"/>
                </a:solidFill>
                <a:latin typeface="Helvetica Neue"/>
                <a:ea typeface="Helvetica Neue"/>
                <a:cs typeface="Helvetica Neue"/>
              </a:rPr>
              <a:t>Report class balance, confusion counts and fold variability.</a:t>
            </a:r>
          </a:p>
        </p:txBody>
      </p:sp>
      <p:sp>
        <p:nvSpPr>
          <p:cNvPr id="5" name="">
            <a:extLst xmlns:a="http://schemas.openxmlformats.org/drawingml/2006/main">
              <a:ext uri="{FF2B5EF4-FFF2-40B4-BE49-F238E27FC236}">
                <a16:creationId xmlns:a16="http://schemas.microsoft.com/office/drawing/2014/main" id="{D04A8B5C-CDDE-422D-B29D-4E76FF61DB76}"/>
              </a:ext>
            </a:extLst>
          </p:cNvPr>
          <p:cNvSpPr>
            <a:spLocks xmlns:a="http://schemas.openxmlformats.org/drawingml/2006/main" noGrp="1"/>
          </p:cNvSpPr>
          <p:nvPr/>
        </p:nvSpPr>
        <p:spPr>
          <a:xfrm xmlns:a="http://schemas.openxmlformats.org/drawingml/2006/main">
            <a:off x="714375" y="352425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C3A"/>
                </a:solidFill>
                <a:latin typeface="Helvetica Neue"/>
                <a:ea typeface="Helvetica Neue"/>
                <a:cs typeface="Helvetica Neue"/>
              </a:defRPr>
            </a:pPr>
            <a:r>
              <a:rPr sz="2025" b="0">
                <a:solidFill>
                  <a:srgbClr val="152C3A"/>
                </a:solidFill>
                <a:latin typeface="Helvetica Neue"/>
                <a:ea typeface="Helvetica Neue"/>
                <a:cs typeface="Helvetica Neue"/>
              </a:rPr>
              <a:t>Rules flag 52.3% of windows (78.1% of the holdout). Isolation Forest flags 18 of 228.</a:t>
            </a:r>
          </a:p>
        </p:txBody>
      </p:sp>
      <p:sp>
        <p:nvSpPr>
          <p:cNvPr id="6" name="">
            <a:extLst xmlns:a="http://schemas.openxmlformats.org/drawingml/2006/main">
              <a:ext uri="{FF2B5EF4-FFF2-40B4-BE49-F238E27FC236}">
                <a16:creationId xmlns:a16="http://schemas.microsoft.com/office/drawing/2014/main" id="{7F0A0AA5-72B0-451A-84CD-499588BB99CC}"/>
              </a:ext>
            </a:extLst>
          </p:cNvPr>
          <p:cNvSpPr>
            <a:spLocks xmlns:a="http://schemas.openxmlformats.org/drawingml/2006/main" noGrp="1"/>
          </p:cNvSpPr>
          <p:nvPr/>
        </p:nvSpPr>
        <p:spPr>
          <a:xfrm xmlns:a="http://schemas.openxmlformats.org/drawingml/2006/main">
            <a:off x="714375" y="447675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C3A"/>
                </a:solidFill>
                <a:latin typeface="Helvetica Neue"/>
                <a:ea typeface="Helvetica Neue"/>
                <a:cs typeface="Helvetica Neue"/>
              </a:defRPr>
            </a:pPr>
            <a:r>
              <a:rPr sz="2025" b="0">
                <a:solidFill>
                  <a:srgbClr val="152C3A"/>
                </a:solidFill>
                <a:latin typeface="Helvetica Neue"/>
                <a:ea typeface="Helvetica Neue"/>
                <a:cs typeface="Helvetica Neue"/>
              </a:rPr>
              <a:t>Forecast horizon, calendar and evaluation origins define each score.</a:t>
            </a:r>
          </a:p>
        </p:txBody>
      </p:sp>
    </p:spTree>
    <p:extLst>
      <p:ext uri="{BB962C8B-B14F-4D97-AF65-F5344CB8AC3E}">
        <p14:creationId xmlns:p14="http://schemas.microsoft.com/office/powerpoint/2010/main" val="1718407843"/>
      </p:ext>
    </p:extLst>
  </p:cSld>
</p:sld>
</file>

<file path=ppt/slides/slide1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FBAEFA-3344-41EE-A0CE-70F263A70033}"/>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Appendix D   Deployment and monitoring</a:t>
            </a:r>
          </a:p>
        </p:txBody>
      </p:sp>
      <p:sp>
        <p:nvSpPr>
          <p:cNvPr id="2" name="">
            <a:extLst xmlns:a="http://schemas.openxmlformats.org/drawingml/2006/main">
              <a:ext uri="{FF2B5EF4-FFF2-40B4-BE49-F238E27FC236}">
                <a16:creationId xmlns:a16="http://schemas.microsoft.com/office/drawing/2014/main" id="{FD6D3CCD-1A70-4519-858E-64A1BA30CDE7}"/>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A6438635-252A-4665-B044-9C270E7684EE}"/>
              </a:ext>
            </a:extLst>
          </p:cNvPr>
          <p:cNvSpPr>
            <a:spLocks xmlns:a="http://schemas.openxmlformats.org/drawingml/2006/main" noGrp="1"/>
          </p:cNvSpPr>
          <p:nvPr/>
        </p:nvSpPr>
        <p:spPr>
          <a:xfrm xmlns:a="http://schemas.openxmlformats.org/drawingml/2006/main">
            <a:off x="714375" y="1714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1   Validate approved data and stable feature definitions.</a:t>
            </a:r>
          </a:p>
        </p:txBody>
      </p:sp>
      <p:sp>
        <p:nvSpPr>
          <p:cNvPr id="4" name="">
            <a:extLst xmlns:a="http://schemas.openxmlformats.org/drawingml/2006/main">
              <a:ext uri="{FF2B5EF4-FFF2-40B4-BE49-F238E27FC236}">
                <a16:creationId xmlns:a16="http://schemas.microsoft.com/office/drawing/2014/main" id="{70A681D6-DB26-4298-A72C-A01ED2615677}"/>
              </a:ext>
            </a:extLst>
          </p:cNvPr>
          <p:cNvSpPr>
            <a:spLocks xmlns:a="http://schemas.openxmlformats.org/drawingml/2006/main" noGrp="1"/>
          </p:cNvSpPr>
          <p:nvPr/>
        </p:nvSpPr>
        <p:spPr>
          <a:xfrm xmlns:a="http://schemas.openxmlformats.org/drawingml/2006/main">
            <a:off x="714375" y="2667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2   Version the candidate, compare later dates and approve promotion.</a:t>
            </a:r>
          </a:p>
        </p:txBody>
      </p:sp>
      <p:sp>
        <p:nvSpPr>
          <p:cNvPr id="5" name="">
            <a:extLst xmlns:a="http://schemas.openxmlformats.org/drawingml/2006/main">
              <a:ext uri="{FF2B5EF4-FFF2-40B4-BE49-F238E27FC236}">
                <a16:creationId xmlns:a16="http://schemas.microsoft.com/office/drawing/2014/main" id="{80F5B134-4C62-418C-B13B-CD0C107E88D2}"/>
              </a:ext>
            </a:extLst>
          </p:cNvPr>
          <p:cNvSpPr>
            <a:spLocks xmlns:a="http://schemas.openxmlformats.org/drawingml/2006/main" noGrp="1"/>
          </p:cNvSpPr>
          <p:nvPr/>
        </p:nvSpPr>
        <p:spPr>
          <a:xfrm xmlns:a="http://schemas.openxmlformats.org/drawingml/2006/main">
            <a:off x="714375" y="3619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3   Schedule scoring, retain predictions and match actual outcomes.</a:t>
            </a:r>
          </a:p>
        </p:txBody>
      </p:sp>
      <p:sp>
        <p:nvSpPr>
          <p:cNvPr id="6" name="">
            <a:extLst xmlns:a="http://schemas.openxmlformats.org/drawingml/2006/main">
              <a:ext uri="{FF2B5EF4-FFF2-40B4-BE49-F238E27FC236}">
                <a16:creationId xmlns:a16="http://schemas.microsoft.com/office/drawing/2014/main" id="{F5464089-1A1D-4081-B61F-3D968AC1BFE4}"/>
              </a:ext>
            </a:extLst>
          </p:cNvPr>
          <p:cNvSpPr>
            <a:spLocks xmlns:a="http://schemas.openxmlformats.org/drawingml/2006/main" noGrp="1"/>
          </p:cNvSpPr>
          <p:nvPr/>
        </p:nvSpPr>
        <p:spPr>
          <a:xfrm xmlns:a="http://schemas.openxmlformats.org/drawingml/2006/main">
            <a:off x="714375" y="4572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4   Review drift, retrain when justified and retain rollback.</a:t>
            </a:r>
          </a:p>
        </p:txBody>
      </p:sp>
    </p:spTree>
    <p:extLst>
      <p:ext uri="{BB962C8B-B14F-4D97-AF65-F5344CB8AC3E}">
        <p14:creationId xmlns:p14="http://schemas.microsoft.com/office/powerpoint/2010/main" val="1800943674"/>
      </p:ext>
    </p:extLst>
  </p:cSld>
</p:sld>
</file>

<file path=ppt/slides/slide1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BA396AB-85D1-438F-99DA-63BE97BC6EA4}"/>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Appendix E   Scope and boundaries</a:t>
            </a:r>
          </a:p>
        </p:txBody>
      </p:sp>
      <p:sp>
        <p:nvSpPr>
          <p:cNvPr id="2" name="">
            <a:extLst xmlns:a="http://schemas.openxmlformats.org/drawingml/2006/main">
              <a:ext uri="{FF2B5EF4-FFF2-40B4-BE49-F238E27FC236}">
                <a16:creationId xmlns:a16="http://schemas.microsoft.com/office/drawing/2014/main" id="{A2E81BA6-2E61-4BE2-B43F-3C7639569D68}"/>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17</a:t>
            </a:r>
          </a:p>
        </p:txBody>
      </p:sp>
      <p:graphicFrame>
        <p:nvGraphicFramePr>
          <p:cNvPr id="6" name=""/>
          <p:cNvGraphicFramePr/>
          <p:nvPr/>
        </p:nvGraphicFramePr>
        <p:xfrm>
          <a:off xmlns:a="http://schemas.openxmlformats.org/drawingml/2006/main" x="714375" y="1666875"/>
          <a:ext xmlns:a="http://schemas.openxmlformats.org/drawingml/2006/main" cx="10763250" cy="3314700"/>
        </p:xfrm>
        <a:graphic xmlns:a="http://schemas.openxmlformats.org/drawingml/2006/main">
          <a:graphicData uri="http://schemas.openxmlformats.org/drawingml/2006/table">
            <a:tbl>
              <a:tblPr/>
              <a:tblGrid>
                <a:gridCol w="5095875"/>
                <a:gridCol w="5667375"/>
              </a:tblGrid>
              <a:tr h="552450">
                <a:tc>
                  <a:txBody>
                    <a:bodyPr/>
                    <a:lstStyle/>
                    <a:p>
                      <a:r>
                        <a:rPr sz="1725" b="1">
                          <a:solidFill>
                            <a:srgbClr val="FFFFFF"/>
                          </a:solidFill>
                          <a:latin typeface="Helvetica Neue"/>
                          <a:ea typeface="Helvetica Neue"/>
                          <a:cs typeface="Helvetica Neue"/>
                        </a:rPr>
                        <a:t>Demonstrates</a:t>
                      </a:r>
                    </a:p>
                  </a:txBody>
                  <a:tcPr marL="91440" marR="91440" marT="45720" marB="45720">
                    <a:solidFill>
                      <a:srgbClr val="152C3A"/>
                    </a:solidFill>
                  </a:tcPr>
                </a:tc>
                <a:tc>
                  <a:txBody>
                    <a:bodyPr/>
                    <a:lstStyle/>
                    <a:p>
                      <a:r>
                        <a:rPr sz="1725" b="1">
                          <a:solidFill>
                            <a:srgbClr val="FFFFFF"/>
                          </a:solidFill>
                          <a:latin typeface="Helvetica Neue"/>
                          <a:ea typeface="Helvetica Neue"/>
                          <a:cs typeface="Helvetica Neue"/>
                        </a:rPr>
                        <a:t>Requires a separate pilot</a:t>
                      </a:r>
                    </a:p>
                  </a:txBody>
                  <a:tcPr marL="91440" marR="91440" marT="45720" marB="45720">
                    <a:solidFill>
                      <a:srgbClr val="152C3A"/>
                    </a:solidFill>
                  </a:tcPr>
                </a:tc>
              </a:tr>
              <a:tr h="552450">
                <a:tc>
                  <a:txBody>
                    <a:bodyPr/>
                    <a:lstStyle/>
                    <a:p>
                      <a:r>
                        <a:rPr sz="1725" b="0">
                          <a:solidFill>
                            <a:srgbClr val="152C3A"/>
                          </a:solidFill>
                          <a:latin typeface="Helvetica Neue"/>
                          <a:ea typeface="Helvetica Neue"/>
                          <a:cs typeface="Helvetica Neue"/>
                        </a:rPr>
                        <a:t>Synthetic pipeline and recorded model comparisons</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Representative approved operational data</a:t>
                      </a:r>
                    </a:p>
                  </a:txBody>
                  <a:tcPr marL="91440" marR="91440" marT="45720" marB="45720">
                    <a:solidFill>
                      <a:srgbClr val="FFFFFF"/>
                    </a:solidFill>
                  </a:tcPr>
                </a:tc>
              </a:tr>
              <a:tr h="552450">
                <a:tc>
                  <a:txBody>
                    <a:bodyPr/>
                    <a:lstStyle/>
                    <a:p>
                      <a:r>
                        <a:rPr sz="1725" b="0">
                          <a:solidFill>
                            <a:srgbClr val="152C3A"/>
                          </a:solidFill>
                          <a:latin typeface="Helvetica Neue"/>
                          <a:ea typeface="Helvetica Neue"/>
                          <a:cs typeface="Helvetica Neue"/>
                        </a:rPr>
                        <a:t>Rule signals and anomaly scores</a:t>
                      </a:r>
                    </a:p>
                  </a:txBody>
                  <a:tcPr marL="91440" marR="91440" marT="45720" marB="45720">
                    <a:solidFill>
                      <a:srgbClr val="EAF0F0"/>
                    </a:solidFill>
                  </a:tcPr>
                </a:tc>
                <a:tc>
                  <a:txBody>
                    <a:bodyPr/>
                    <a:lstStyle/>
                    <a:p>
                      <a:r>
                        <a:rPr sz="1725" b="0">
                          <a:solidFill>
                            <a:srgbClr val="152C3A"/>
                          </a:solidFill>
                          <a:latin typeface="Helvetica Neue"/>
                          <a:ea typeface="Helvetica Neue"/>
                          <a:cs typeface="Helvetica Neue"/>
                        </a:rPr>
                        <a:t>Validated incidents and calibrated review burden</a:t>
                      </a:r>
                    </a:p>
                  </a:txBody>
                  <a:tcPr marL="91440" marR="91440" marT="45720" marB="45720">
                    <a:solidFill>
                      <a:srgbClr val="EAF0F0"/>
                    </a:solidFill>
                  </a:tcPr>
                </a:tc>
              </a:tr>
              <a:tr h="552450">
                <a:tc>
                  <a:txBody>
                    <a:bodyPr/>
                    <a:lstStyle/>
                    <a:p>
                      <a:r>
                        <a:rPr sz="1725" b="0">
                          <a:solidFill>
                            <a:srgbClr val="152C3A"/>
                          </a:solidFill>
                          <a:latin typeface="Helvetica Neue"/>
                          <a:ea typeface="Helvetica Neue"/>
                          <a:cs typeface="Helvetica Neue"/>
                        </a:rPr>
                        <a:t>Local saved-model reuse</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Governed platform deployment and access</a:t>
                      </a:r>
                    </a:p>
                  </a:txBody>
                  <a:tcPr marL="91440" marR="91440" marT="45720" marB="45720">
                    <a:solidFill>
                      <a:srgbClr val="FFFFFF"/>
                    </a:solidFill>
                  </a:tcPr>
                </a:tc>
              </a:tr>
              <a:tr h="552450">
                <a:tc>
                  <a:txBody>
                    <a:bodyPr/>
                    <a:lstStyle/>
                    <a:p>
                      <a:r>
                        <a:rPr sz="1725" b="0">
                          <a:solidFill>
                            <a:srgbClr val="152C3A"/>
                          </a:solidFill>
                          <a:latin typeface="Helvetica Neue"/>
                          <a:ea typeface="Helvetica Neue"/>
                          <a:cs typeface="Helvetica Neue"/>
                        </a:rPr>
                        <a:t>Prepared review and monitoring exercises</a:t>
                      </a:r>
                    </a:p>
                  </a:txBody>
                  <a:tcPr marL="91440" marR="91440" marT="45720" marB="45720">
                    <a:solidFill>
                      <a:srgbClr val="EAF0F0"/>
                    </a:solidFill>
                  </a:tcPr>
                </a:tc>
                <a:tc>
                  <a:txBody>
                    <a:bodyPr/>
                    <a:lstStyle/>
                    <a:p>
                      <a:r>
                        <a:rPr sz="1725" b="0">
                          <a:solidFill>
                            <a:srgbClr val="152C3A"/>
                          </a:solidFill>
                          <a:latin typeface="Helvetica Neue"/>
                          <a:ea typeface="Helvetica Neue"/>
                          <a:cs typeface="Helvetica Neue"/>
                        </a:rPr>
                        <a:t>Real human dispositions and durable alert delivery</a:t>
                      </a:r>
                    </a:p>
                  </a:txBody>
                  <a:tcPr marL="91440" marR="91440" marT="45720" marB="45720">
                    <a:solidFill>
                      <a:srgbClr val="EAF0F0"/>
                    </a:solidFill>
                  </a:tcPr>
                </a:tc>
              </a:tr>
              <a:tr h="552450">
                <a:tc>
                  <a:txBody>
                    <a:bodyPr/>
                    <a:lstStyle/>
                    <a:p>
                      <a:r>
                        <a:rPr sz="1725" b="0">
                          <a:solidFill>
                            <a:srgbClr val="152C3A"/>
                          </a:solidFill>
                          <a:latin typeface="Helvetica Neue"/>
                          <a:ea typeface="Helvetica Neue"/>
                          <a:cs typeface="Helvetica Neue"/>
                        </a:rPr>
                        <a:t>Forecast errors on synthetic observations</a:t>
                      </a:r>
                    </a:p>
                  </a:txBody>
                  <a:tcPr marL="91440" marR="91440" marT="45720" marB="45720">
                    <a:solidFill>
                      <a:srgbClr val="FFFFFF"/>
                    </a:solidFill>
                  </a:tcPr>
                </a:tc>
                <a:tc>
                  <a:txBody>
                    <a:bodyPr/>
                    <a:lstStyle/>
                    <a:p>
                      <a:r>
                        <a:rPr sz="1725" b="0">
                          <a:solidFill>
                            <a:srgbClr val="152C3A"/>
                          </a:solidFill>
                          <a:latin typeface="Helvetica Neue"/>
                          <a:ea typeface="Helvetica Neue"/>
                          <a:cs typeface="Helvetica Neue"/>
                        </a:rPr>
                        <a:t>Prospective operational performance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68928277"/>
      </p:ext>
    </p:extLst>
  </p:cSld>
</p:sld>
</file>

<file path=ppt/slides/slide1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9B52EB-C6B0-4E0A-B2CE-AEDDF100DD59}"/>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C3A"/>
                </a:solidFill>
                <a:latin typeface="Helvetica Neue"/>
                <a:ea typeface="Helvetica Neue"/>
                <a:cs typeface="Helvetica Neue"/>
              </a:defRPr>
            </a:pPr>
            <a:r>
              <a:rPr sz="3150" b="1">
                <a:solidFill>
                  <a:srgbClr val="152C3A"/>
                </a:solidFill>
                <a:latin typeface="Helvetica Neue"/>
                <a:ea typeface="Helvetica Neue"/>
                <a:cs typeface="Helvetica Neue"/>
              </a:rPr>
              <a:t>Appendix F   Presenter handoff</a:t>
            </a:r>
          </a:p>
        </p:txBody>
      </p:sp>
      <p:sp>
        <p:nvSpPr>
          <p:cNvPr id="2" name="">
            <a:extLst xmlns:a="http://schemas.openxmlformats.org/drawingml/2006/main">
              <a:ext uri="{FF2B5EF4-FFF2-40B4-BE49-F238E27FC236}">
                <a16:creationId xmlns:a16="http://schemas.microsoft.com/office/drawing/2014/main" id="{FBCC05D6-4A75-40A5-A1F3-50CCA9757D10}"/>
              </a:ext>
            </a:extLst>
          </p:cNvPr>
          <p:cNvSpPr>
            <a:spLocks xmlns:a="http://schemas.openxmlformats.org/drawingml/2006/main" noGrp="1"/>
          </p:cNvSpPr>
          <p:nvPr/>
        </p:nvSpPr>
        <p:spPr>
          <a:xfrm xmlns:a="http://schemas.openxmlformats.org/drawingml/2006/main">
            <a:off x="11239500" y="6334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4"/>
                </a:solidFill>
                <a:latin typeface="Helvetica Neue"/>
                <a:ea typeface="Helvetica Neue"/>
                <a:cs typeface="Helvetica Neue"/>
              </a:defRPr>
            </a:pPr>
            <a:r>
              <a:rPr sz="1350" b="0">
                <a:solidFill>
                  <a:srgbClr val="526874"/>
                </a:solidFill>
                <a:latin typeface="Helvetica Neue"/>
                <a:ea typeface="Helvetica Neue"/>
                <a:cs typeface="Helvetica Neue"/>
              </a:rPr>
              <a:t>18</a:t>
            </a:r>
          </a:p>
        </p:txBody>
      </p:sp>
      <p:sp>
        <p:nvSpPr>
          <p:cNvPr id="3" name="">
            <a:extLst xmlns:a="http://schemas.openxmlformats.org/drawingml/2006/main">
              <a:ext uri="{FF2B5EF4-FFF2-40B4-BE49-F238E27FC236}">
                <a16:creationId xmlns:a16="http://schemas.microsoft.com/office/drawing/2014/main" id="{BFA71268-C208-4AE7-9282-F5B0C5DAF3D6}"/>
              </a:ext>
            </a:extLst>
          </p:cNvPr>
          <p:cNvSpPr>
            <a:spLocks xmlns:a="http://schemas.openxmlformats.org/drawingml/2006/main" noGrp="1"/>
          </p:cNvSpPr>
          <p:nvPr/>
        </p:nvSpPr>
        <p:spPr>
          <a:xfrm xmlns:a="http://schemas.openxmlformats.org/drawingml/2006/main">
            <a:off x="714375" y="1714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Main route: slides 1–12, then selected appendix answers.</a:t>
            </a:r>
          </a:p>
        </p:txBody>
      </p:sp>
      <p:sp>
        <p:nvSpPr>
          <p:cNvPr id="4" name="">
            <a:extLst xmlns:a="http://schemas.openxmlformats.org/drawingml/2006/main">
              <a:ext uri="{FF2B5EF4-FFF2-40B4-BE49-F238E27FC236}">
                <a16:creationId xmlns:a16="http://schemas.microsoft.com/office/drawing/2014/main" id="{55CCA7A2-91AC-405D-AA25-FABDA71CA658}"/>
              </a:ext>
            </a:extLst>
          </p:cNvPr>
          <p:cNvSpPr>
            <a:spLocks xmlns:a="http://schemas.openxmlformats.org/drawingml/2006/main" noGrp="1"/>
          </p:cNvSpPr>
          <p:nvPr/>
        </p:nvSpPr>
        <p:spPr>
          <a:xfrm xmlns:a="http://schemas.openxmlformats.org/drawingml/2006/main">
            <a:off x="714375" y="2667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Live evidence: counts, signal episode, comparison, forecast, reuse, drift.</a:t>
            </a:r>
          </a:p>
        </p:txBody>
      </p:sp>
      <p:sp>
        <p:nvSpPr>
          <p:cNvPr id="5" name="">
            <a:extLst xmlns:a="http://schemas.openxmlformats.org/drawingml/2006/main">
              <a:ext uri="{FF2B5EF4-FFF2-40B4-BE49-F238E27FC236}">
                <a16:creationId xmlns:a16="http://schemas.microsoft.com/office/drawing/2014/main" id="{9D4C3C00-0030-4142-B06C-366EE3D1B20B}"/>
              </a:ext>
            </a:extLst>
          </p:cNvPr>
          <p:cNvSpPr>
            <a:spLocks xmlns:a="http://schemas.openxmlformats.org/drawingml/2006/main" noGrp="1"/>
          </p:cNvSpPr>
          <p:nvPr/>
        </p:nvSpPr>
        <p:spPr>
          <a:xfrm xmlns:a="http://schemas.openxmlformats.org/drawingml/2006/main">
            <a:off x="714375" y="36195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Fallback: use this deck and the final saved notebook outputs.</a:t>
            </a:r>
          </a:p>
        </p:txBody>
      </p:sp>
      <p:sp>
        <p:nvSpPr>
          <p:cNvPr id="6" name="">
            <a:extLst xmlns:a="http://schemas.openxmlformats.org/drawingml/2006/main">
              <a:ext uri="{FF2B5EF4-FFF2-40B4-BE49-F238E27FC236}">
                <a16:creationId xmlns:a16="http://schemas.microsoft.com/office/drawing/2014/main" id="{C95DBAE5-9A54-4BC6-A0B0-DA8C9DDD83B0}"/>
              </a:ext>
            </a:extLst>
          </p:cNvPr>
          <p:cNvSpPr>
            <a:spLocks xmlns:a="http://schemas.openxmlformats.org/drawingml/2006/main" noGrp="1"/>
          </p:cNvSpPr>
          <p:nvPr/>
        </p:nvSpPr>
        <p:spPr>
          <a:xfrm xmlns:a="http://schemas.openxmlformats.org/drawingml/2006/main">
            <a:off x="714375" y="4572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C3A"/>
                </a:solidFill>
                <a:latin typeface="Helvetica Neue"/>
                <a:ea typeface="Helvetica Neue"/>
                <a:cs typeface="Helvetica Neue"/>
              </a:defRPr>
            </a:pPr>
            <a:r>
              <a:rPr sz="2175" b="0">
                <a:solidFill>
                  <a:srgbClr val="152C3A"/>
                </a:solidFill>
                <a:latin typeface="Helvetica Neue"/>
                <a:ea typeface="Helvetica Neue"/>
                <a:cs typeface="Helvetica Neue"/>
              </a:rPr>
              <a:t>Exact operating steps: docs/presentation-runbook.md</a:t>
            </a:r>
          </a:p>
        </p:txBody>
      </p:sp>
    </p:spTree>
    <p:extLst>
      <p:ext uri="{BB962C8B-B14F-4D97-AF65-F5344CB8AC3E}">
        <p14:creationId xmlns:p14="http://schemas.microsoft.com/office/powerpoint/2010/main" val="182171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2026-09-24T17:05:01.3520000Z</dcterms:created>
  <dcterms:modified xsi:type="dcterms:W3CDTF">2026-09-24T17:05:01.3520000Z</dcterms:modified>
</coreProperties>
</file>