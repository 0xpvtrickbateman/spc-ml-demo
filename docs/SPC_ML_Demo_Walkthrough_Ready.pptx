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8a70e56fea74661" /><Relationship Type="http://schemas.openxmlformats.org/officeDocument/2006/relationships/extended-properties" Target="/docProps/app.xml" Id="R6b67de35553d4ab6" /><Relationship Type="http://schemas.openxmlformats.org/officeDocument/2006/relationships/officeDocument" Target="/ppt/presentation.xml" Id="R8aa935af4b7a43c9" /></Relationships>
</file>

<file path=ppt/presentation.xml><?xml version="1.0" encoding="utf-8"?>
<p:presentation xmlns:p="http://schemas.openxmlformats.org/presentationml/2006/main">
  <p:sldMasterIdLst>
    <p:sldMasterId xmlns:r="http://schemas.openxmlformats.org/officeDocument/2006/relationships" id="2147483648" r:id="R2f25c07c1a2340ee"/>
  </p:sldMasterIdLst>
  <p:notesMasterIdLst>
    <p:notesMasterId xmlns:r="http://schemas.openxmlformats.org/officeDocument/2006/relationships" r:id="R3a9327079cc44b1c"/>
  </p:notesMasterIdLst>
  <p:sldIdLst>
    <p:sldId xmlns:r="http://schemas.openxmlformats.org/officeDocument/2006/relationships" id="256" r:id="R8ee79e8cde044011"/>
    <p:sldId xmlns:r="http://schemas.openxmlformats.org/officeDocument/2006/relationships" id="257" r:id="Rf93e1d9679f24280"/>
    <p:sldId xmlns:r="http://schemas.openxmlformats.org/officeDocument/2006/relationships" id="258" r:id="R9db50050c9084933"/>
    <p:sldId xmlns:r="http://schemas.openxmlformats.org/officeDocument/2006/relationships" id="259" r:id="R54f535a73d2646d7"/>
    <p:sldId xmlns:r="http://schemas.openxmlformats.org/officeDocument/2006/relationships" id="260" r:id="R912bbff34e8440e6"/>
    <p:sldId xmlns:r="http://schemas.openxmlformats.org/officeDocument/2006/relationships" id="261" r:id="R9fcea69722e446d3"/>
    <p:sldId xmlns:r="http://schemas.openxmlformats.org/officeDocument/2006/relationships" id="262" r:id="R06bf748d1c2c4238"/>
    <p:sldId xmlns:r="http://schemas.openxmlformats.org/officeDocument/2006/relationships" id="263" r:id="R37a62a0f2f384fca"/>
    <p:sldId xmlns:r="http://schemas.openxmlformats.org/officeDocument/2006/relationships" id="264" r:id="R330f5c706934457b"/>
    <p:sldId xmlns:r="http://schemas.openxmlformats.org/officeDocument/2006/relationships" id="265" r:id="R20de8bc11ce24ac1"/>
    <p:sldId xmlns:r="http://schemas.openxmlformats.org/officeDocument/2006/relationships" id="266" r:id="R3e278e6bad6f4ad8"/>
    <p:sldId xmlns:r="http://schemas.openxmlformats.org/officeDocument/2006/relationships" id="267" r:id="R609d1837c0f94f48"/>
    <p:sldId xmlns:r="http://schemas.openxmlformats.org/officeDocument/2006/relationships" id="268" r:id="Rd5b73fc641b84c01"/>
    <p:sldId xmlns:r="http://schemas.openxmlformats.org/officeDocument/2006/relationships" id="269" r:id="R2b7ac97444ee4ea5"/>
    <p:sldId xmlns:r="http://schemas.openxmlformats.org/officeDocument/2006/relationships" id="270" r:id="R8eda9a6f94154851"/>
    <p:sldId xmlns:r="http://schemas.openxmlformats.org/officeDocument/2006/relationships" id="271" r:id="R938d7ea6e8d64ca7"/>
    <p:sldId xmlns:r="http://schemas.openxmlformats.org/officeDocument/2006/relationships" id="272" r:id="R820ed1f7147e42a9"/>
    <p:sldId xmlns:r="http://schemas.openxmlformats.org/officeDocument/2006/relationships" id="273" r:id="Rcc85f048204e4ac3"/>
    <p:sldId xmlns:r="http://schemas.openxmlformats.org/officeDocument/2006/relationships" id="274" r:id="Ra0805976a14c473d"/>
    <p:sldId xmlns:r="http://schemas.openxmlformats.org/officeDocument/2006/relationships" id="275" r:id="R6eb9450bd63c4b76"/>
    <p:sldId xmlns:r="http://schemas.openxmlformats.org/officeDocument/2006/relationships" id="276" r:id="Rd943ce67ba2e4b2a"/>
    <p:sldId xmlns:r="http://schemas.openxmlformats.org/officeDocument/2006/relationships" id="277" r:id="Reedc166d97d04fb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710b5a74db486b" /><Relationship Type="http://schemas.openxmlformats.org/officeDocument/2006/relationships/slideMaster" Target="/ppt/slideMasters/slideMaster1.xml" Id="R2f25c07c1a2340ee" /><Relationship Type="http://schemas.openxmlformats.org/officeDocument/2006/relationships/notesMaster" Target="/ppt/notesMasters/notesMaster1.xml" Id="R3a9327079cc44b1c" /><Relationship Type="http://schemas.openxmlformats.org/officeDocument/2006/relationships/presProps" Target="/ppt/presProps.xml" Id="R5f936018391b4b3b" /><Relationship Type="http://schemas.openxmlformats.org/officeDocument/2006/relationships/tableStyles" Target="/ppt/tableStyles.xml" Id="R0245bd9d4d0546bb" /><Relationship Type="http://schemas.openxmlformats.org/officeDocument/2006/relationships/slide" Target="/ppt/slides/slide1.xml" Id="R8ee79e8cde044011" /><Relationship Type="http://schemas.openxmlformats.org/officeDocument/2006/relationships/slide" Target="/ppt/slides/slide2.xml" Id="Rf93e1d9679f24280" /><Relationship Type="http://schemas.openxmlformats.org/officeDocument/2006/relationships/slide" Target="/ppt/slides/slide3.xml" Id="R9db50050c9084933" /><Relationship Type="http://schemas.openxmlformats.org/officeDocument/2006/relationships/slide" Target="/ppt/slides/slide4.xml" Id="R54f535a73d2646d7" /><Relationship Type="http://schemas.openxmlformats.org/officeDocument/2006/relationships/slide" Target="/ppt/slides/slide5.xml" Id="R912bbff34e8440e6" /><Relationship Type="http://schemas.openxmlformats.org/officeDocument/2006/relationships/slide" Target="/ppt/slides/slide6.xml" Id="R9fcea69722e446d3" /><Relationship Type="http://schemas.openxmlformats.org/officeDocument/2006/relationships/slide" Target="/ppt/slides/slide7.xml" Id="R06bf748d1c2c4238" /><Relationship Type="http://schemas.openxmlformats.org/officeDocument/2006/relationships/slide" Target="/ppt/slides/slide8.xml" Id="R37a62a0f2f384fca" /><Relationship Type="http://schemas.openxmlformats.org/officeDocument/2006/relationships/slide" Target="/ppt/slides/slide9.xml" Id="R330f5c706934457b" /><Relationship Type="http://schemas.openxmlformats.org/officeDocument/2006/relationships/slide" Target="/ppt/slides/slide10.xml" Id="R20de8bc11ce24ac1" /><Relationship Type="http://schemas.openxmlformats.org/officeDocument/2006/relationships/slide" Target="/ppt/slides/slide11.xml" Id="R3e278e6bad6f4ad8" /><Relationship Type="http://schemas.openxmlformats.org/officeDocument/2006/relationships/slide" Target="/ppt/slides/slide12.xml" Id="R609d1837c0f94f48" /><Relationship Type="http://schemas.openxmlformats.org/officeDocument/2006/relationships/slide" Target="/ppt/slides/slide13.xml" Id="Rd5b73fc641b84c01" /><Relationship Type="http://schemas.openxmlformats.org/officeDocument/2006/relationships/slide" Target="/ppt/slides/slide14.xml" Id="R2b7ac97444ee4ea5" /><Relationship Type="http://schemas.openxmlformats.org/officeDocument/2006/relationships/slide" Target="/ppt/slides/slide15.xml" Id="R8eda9a6f94154851" /><Relationship Type="http://schemas.openxmlformats.org/officeDocument/2006/relationships/slide" Target="/ppt/slides/slide16.xml" Id="R938d7ea6e8d64ca7" /><Relationship Type="http://schemas.openxmlformats.org/officeDocument/2006/relationships/slide" Target="/ppt/slides/slide17.xml" Id="R820ed1f7147e42a9" /><Relationship Type="http://schemas.openxmlformats.org/officeDocument/2006/relationships/slide" Target="/ppt/slides/slide18.xml" Id="Rcc85f048204e4ac3" /><Relationship Type="http://schemas.openxmlformats.org/officeDocument/2006/relationships/slide" Target="/ppt/slides/slide19.xml" Id="Ra0805976a14c473d" /><Relationship Type="http://schemas.openxmlformats.org/officeDocument/2006/relationships/slide" Target="/ppt/slides/slide20.xml" Id="R6eb9450bd63c4b76" /><Relationship Type="http://schemas.openxmlformats.org/officeDocument/2006/relationships/slide" Target="/ppt/slides/slide21.xml" Id="Rd943ce67ba2e4b2a" /><Relationship Type="http://schemas.openxmlformats.org/officeDocument/2006/relationships/slide" Target="/ppt/slides/slide22.xml" Id="Reedc166d97d04fb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e96a2d1dae4e7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77520fd0ab04627" /><Relationship Type="http://schemas.openxmlformats.org/officeDocument/2006/relationships/notesMaster" Target="/ppt/notesMasters/notesMaster1.xml" Id="Ra429fa46bf2b48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109f0a8408e4385" /><Relationship Type="http://schemas.openxmlformats.org/officeDocument/2006/relationships/notesMaster" Target="/ppt/notesMasters/notesMaster1.xml" Id="R7f1046213f814a0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0933de2dc6443ce" /><Relationship Type="http://schemas.openxmlformats.org/officeDocument/2006/relationships/notesMaster" Target="/ppt/notesMasters/notesMaster1.xml" Id="R99f3b7927e314b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3f8c7104eab64007" /><Relationship Type="http://schemas.openxmlformats.org/officeDocument/2006/relationships/notesMaster" Target="/ppt/notesMasters/notesMaster1.xml" Id="R5df4bc6dc9aa4fe4" /></Relationships>
</file>

<file path=ppt/notesSlides/_rels/notesSlide5.xml.rels>&#65279;<?xml version="1.0" encoding="utf-8"?><Relationships xmlns="http://schemas.openxmlformats.org/package/2006/relationships"><Relationship Type="http://schemas.openxmlformats.org/officeDocument/2006/relationships/slide" Target="/ppt/slides/slide5.xml" Id="R07d6df015d5b4c2c" /><Relationship Type="http://schemas.openxmlformats.org/officeDocument/2006/relationships/notesMaster" Target="/ppt/notesMasters/notesMaster1.xml" Id="Rfa97fa29aef5450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3602f8a965046ad" /><Relationship Type="http://schemas.openxmlformats.org/officeDocument/2006/relationships/notesMaster" Target="/ppt/notesMasters/notesMaster1.xml" Id="R42edf255b1d8451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1f49f5b501241f9" /><Relationship Type="http://schemas.openxmlformats.org/officeDocument/2006/relationships/notesMaster" Target="/ppt/notesMasters/notesMaster1.xml" Id="R0d5e94a85ea8436c" /></Relationships>
</file>

<file path=ppt/notesSlides/_rels/notesSlide8.xml.rels>&#65279;<?xml version="1.0" encoding="utf-8"?><Relationships xmlns="http://schemas.openxmlformats.org/package/2006/relationships"><Relationship Type="http://schemas.openxmlformats.org/officeDocument/2006/relationships/slide" Target="/ppt/slides/slide8.xml" Id="R5553ccf0bfbd4f84" /><Relationship Type="http://schemas.openxmlformats.org/officeDocument/2006/relationships/notesMaster" Target="/ppt/notesMasters/notesMaster1.xml" Id="Rb4f4c1b5132742f0" /></Relationships>
</file>

<file path=ppt/notesSlides/_rels/notesSlide9.xml.rels>&#65279;<?xml version="1.0" encoding="utf-8"?><Relationships xmlns="http://schemas.openxmlformats.org/package/2006/relationships"><Relationship Type="http://schemas.openxmlformats.org/officeDocument/2006/relationships/slide" Target="/ppt/slides/slide9.xml" Id="R9c3375400142417d" /><Relationship Type="http://schemas.openxmlformats.org/officeDocument/2006/relationships/notesMaster" Target="/ppt/notesMasters/notesMaster1.xml" Id="R48b9c89ef2454d4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a5f8532c5b84bef" /><Relationship Type="http://schemas.openxmlformats.org/officeDocument/2006/relationships/notesMaster" Target="/ppt/notesMasters/notesMaster1.xml" Id="R160e748ff35240e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a96337a3a7e4489" /><Relationship Type="http://schemas.openxmlformats.org/officeDocument/2006/relationships/notesMaster" Target="/ppt/notesMasters/notesMaster1.xml" Id="R35cbdb9a4c384c0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dbad51468504f29" /><Relationship Type="http://schemas.openxmlformats.org/officeDocument/2006/relationships/notesMaster" Target="/ppt/notesMasters/notesMaster1.xml" Id="Rc28a628d572b4a9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035454631844db5" /><Relationship Type="http://schemas.openxmlformats.org/officeDocument/2006/relationships/notesMaster" Target="/ppt/notesMasters/notesMaster1.xml" Id="R8281b7aadf064e8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a744a42d51e408b" /><Relationship Type="http://schemas.openxmlformats.org/officeDocument/2006/relationships/notesMaster" Target="/ppt/notesMasters/notesMaster1.xml" Id="R83e14d0502fb473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89b5d695e01423a" /><Relationship Type="http://schemas.openxmlformats.org/officeDocument/2006/relationships/notesMaster" Target="/ppt/notesMasters/notesMaster1.xml" Id="Rc6e6cac52ab0469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69dd7dcf9dd4e11" /><Relationship Type="http://schemas.openxmlformats.org/officeDocument/2006/relationships/notesMaster" Target="/ppt/notesMasters/notesMaster1.xml" Id="Rdbb681734aef4da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2a4c0775c7841e9" /><Relationship Type="http://schemas.openxmlformats.org/officeDocument/2006/relationships/notesMaster" Target="/ppt/notesMasters/notesMaster1.xml" Id="R15dccbf0a70941e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25cba73d829453d" /><Relationship Type="http://schemas.openxmlformats.org/officeDocument/2006/relationships/notesMaster" Target="/ppt/notesMasters/notesMaster1.xml" Id="R59437f8aafd24d7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df278db5c96415f" /><Relationship Type="http://schemas.openxmlformats.org/officeDocument/2006/relationships/notesMaster" Target="/ppt/notesMasters/notesMaster1.xml" Id="Re5d56dc436224fd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c0379dcdfb14fe5" /><Relationship Type="http://schemas.openxmlformats.org/officeDocument/2006/relationships/notesMaster" Target="/ppt/notesMasters/notesMaster1.xml" Id="R4b3c1244c378455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4f49326851c4196" /><Relationship Type="http://schemas.openxmlformats.org/officeDocument/2006/relationships/notesMaster" Target="/ppt/notesMasters/notesMaster1.xml" Id="R7b165c89d841402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b512f9eb8e247dd" /><Relationship Type="http://schemas.openxmlformats.org/officeDocument/2006/relationships/notesMaster" Target="/ppt/notesMasters/notesMaster1.xml" Id="Re681187745b24fd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distinction: this deck explains a working AttainX demo notebook. It is a companion to a live Databricks run, not proof of production results. No USCIS data or production artifact is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it like a thermometer for a work process. Daily numbers naturally bounce around. Control rules ask whether a change is unusual enough to investigate. A statistical signal is evidence for a question, not confirmation of an operational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XmR uses each individual observation and its moving range to find conspicuous jumps. CUSUM accumulates small deviations from a reference level. EWMA smooths the series with more weight on recent counts. The demo marks a 25-day window if any of these checks fires within the window. The rule thresholds are fixed demo choices and would require domain calibration in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two models separate. The classifier estimates a label produced by the SPC rules on the same historical window. It is an experiment in rule imitation, not advance warning. The regressor predicts the next business day's count using yesterday's known information. That second task is genuinely forward-looking but only validated on fictional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fabricated operational data in an AttainX notebook. It runs locally with the optional MLflow and Spark cells skipped; in Databricks, MLflow and managed Delta need access and a separate live verification. The reference USCIS notebook shows a broader design. Do not use this demo score as a real USCIS outcome. A live run and comparison with baselines are the relevant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SEED, WINDOW, BASELINE_DAYS, OUTPUT_SCHEMA and UC_MODEL_NAME. Empty destination names disable Delta writes and model registration. MLflow still needs experiment write access when installed. The rules are demo parameters requiring calibration for an actual mission series. Databricks experiment guidance: https://docs.databricks.com/aws/en/mlflow/experiments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first five rows and the assertions. Explain that no external source is read. The three series are Intake A, Completions A and Intake B, all fabricated.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three function definitions. Use a simple analogy: XmR notices a shout, CUSUM hears repeated whispers, EWMA keeps a rolling impression. Avoid claiming these independent methods identify root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slice selecting prior values, baseline slice, and signal_detected = xmr or cusum or ewma. The script checks the OR invariant. A 52.3 percent overall rate means a signal is a triage input here, not a rare alarm. XmR estimates limits from the 25-day measurement window. CUSUM and EWMA use the earlier 90-day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training/test dates and the assert that windows do not overlap. Explain base rates: 78.1 percent of test windows are signal. The 0.917 AUC measures ranking; it does not override the baseline or the fact that the label is deterministic from the same window. The 50 quiet windows include 4 false positives and 46 true negatives; 53 of 178 rule signals are missed by the classifier. The split separates 25-day measurement windows. Earlier 90-day reference histories can overlap training history. All inputs still precede the run date. Local Python 3.12.14, scikit-learn 1.9.1, NumPy 2.5.3, pandas 2.3.3. See requirements-demo-lock.txt. Use the actual presentation run if its results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absence of today's target from the input features, to the gap assertion, and to the MAE comparison. MAE is average absolute error in counts. The oral response may mention five-day forecasting in the USCIS reference; this specific AttainX notebook implements one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three figures during the demo. On the control chart, distinguish a flagged window from a single-point XmR breach. On the confusion matrix, explain false negatives and false positives. On the forecast plot, compare observed and predicted values without presenting it as real agency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review_df and monitoring_df. Explain that episode grouping helps keep repeated 25-day windows from becoming separate notifications. An analyst still needs the underlying series, source checks, context and a disposition record. The example only stages the review queue.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MLflow run after executing the notebook in Databricks. The local smoke test reports MLflow unavailable, so this deck does not assert the Databricks write was verified. The optional model name must be a permitted three-part identifier.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OUTPUT_SCHEMA at the top, then this cell. With an empty setting, it prints that output is off. If a permitted demo schema is available, set it and rerun, then inspect the six tables. Do not point the setting at production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these scores from the reproducible seeded notebook. Classifier test labels are 78.1 percent positive, so the always-signal baseline is strong. Accuracy 75.0 percent fails that comparison despite AUC 0.917. The one-day forecast MAE 8.85 counts beats the five-day trailing mean MAE 9.73 counts on held-out demo dates only. Neither comparison proves operational benefit at USCIS. Local Python 3.12.14, scikit-learn 1.9.1, NumPy 2.5.3, pandas 2.3.3. See requirements-demo-lock.txt. Use the actual presentation run if its results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Narrate the pipeline from the point of view of an analyst. The fictional input yields daily counts. Rules compute observations and a signal. The classifier is tested against the rules and the baseline, and is not needed when it loses. The separate count forecast may help planning if validated. Repeated signals are grouped for pending review. MLflow and optional tables record the run. In a pilot, a person would investigate and record whether to act. This notebook does not record that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supplied private SPC Predictive Modeling reference documents five-day forecasting, rule-label classification, anomaly detection and upstream lineage. Section 11 and the closing Phase 11/Phase 12 notes describe assessment and stale retraining-trigger fixes, but explicitly list downstream alert consolidation and suppression as future work. These are statements in the reference, not independently verified deployment evidence. No measured postchange alert reduction or staff time saved was supplied. The reference stays outside this public repository. The AttainX notebook illustrates a smaller demo 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neutral examples like daily intake volumes or completion counts only after an agency confirms definitions and authority to use data. They could see unusual variation earlier, compare forecast workload with actual capacity, and keep a review trail. Those are possible benefits, not established outcomes. First ask whether simple rules solve the problem. Agree on acceptable alert volume and prospective forecast error. Build permissions, data-quality checks, human ownership and an audit trail before an operational pilot.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an aid for the oral responses, not a claim that a prototype alone satisfies every governance requirement. Q1 lifecycle is shown by the live notebook. Q2 is the documented AI-vs-rules decision. Q3 readiness requires agency decisions and permissions. Q4 pilot acceptance must distinguish a working implementation from a useful model. Q5 governance and Q6 risk need policy and operational evidence outside the demo. Q7 security requires the agency boundary and incident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Q8 and Q9 need reproducible code, data format and platform migration plan, not a neutrality claim. Q10 model promotion and rollback are procedures to implement and test. Q11 analyst override and disposition must be demonstrated if claimed. Q12 asks for an actual prior engagement where AI was rejected, which this demonstration using fictional counts cannot replace; obtain a verified example from the team. Q13 ATO requires agency review and continuous monitoring within the appropriate boundary. Q14 knowledge transfer should be an exercise run by the receiving team.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sequence: state that the counts are fictional; execute notebook from the top; pause at rule flags, ML baselines, forecast MAE, review queue, and MLflow/Delta if configured. The classifier does not merit replacing the known rules on this test. The one-day forecast has a small advantage on demo data that invites a bounded pilot, not deployment. Emphasize the USCIS reference as the source of design ideas and a distinct environment. No additional claim of measured USCIS benefit has been supplied. Separate documented retraining-trigger fixes from downstream alert consolidation and suppression, which the reference lists as future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e7b84c9555d49f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8efb6ca80a147fb" /><Relationship Type="http://schemas.openxmlformats.org/officeDocument/2006/relationships/slideLayout" Target="/ppt/slideLayouts/slideLayout1.xml" Id="R3d1e22bdcdaa488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d1e22bdcdaa488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52aa57e31cc432d" /><Relationship Type="http://schemas.openxmlformats.org/officeDocument/2006/relationships/notesSlide" Target="/ppt/notesSlides/notesSlide1.xml" Id="Rce8a9a30c71a42b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ad7479c4c444b44" /><Relationship Type="http://schemas.openxmlformats.org/officeDocument/2006/relationships/chart" Target="/ppt/slides/charts/chart1.xml" Id="R3ceafbce4db74a49" /><Relationship Type="http://schemas.openxmlformats.org/officeDocument/2006/relationships/notesSlide" Target="/ppt/notesSlides/notesSlide2.xml" Id="R67d852059869472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b3d6f63919f4b07" /><Relationship Type="http://schemas.openxmlformats.org/officeDocument/2006/relationships/notesSlide" Target="/ppt/notesSlides/notesSlide3.xml" Id="R42f1a201dec5410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5d928680623413a" /><Relationship Type="http://schemas.openxmlformats.org/officeDocument/2006/relationships/notesSlide" Target="/ppt/notesSlides/notesSlide4.xml" Id="Rfdea467711c5483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a6315e0f196493f" /><Relationship Type="http://schemas.openxmlformats.org/officeDocument/2006/relationships/notesSlide" Target="/ppt/notesSlides/notesSlide5.xml" Id="R4be9a635b63642b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808e6f5232c4e76" /><Relationship Type="http://schemas.openxmlformats.org/officeDocument/2006/relationships/notesSlide" Target="/ppt/notesSlides/notesSlide6.xml" Id="R1905d156311946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5fb7b19d3c54b61" /><Relationship Type="http://schemas.openxmlformats.org/officeDocument/2006/relationships/notesSlide" Target="/ppt/notesSlides/notesSlide7.xml" Id="R9c6fa4ba5c834b0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90fde4f48184535" /><Relationship Type="http://schemas.openxmlformats.org/officeDocument/2006/relationships/notesSlide" Target="/ppt/notesSlides/notesSlide8.xml" Id="R5a313aa5eed64f1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2d9e30692224b68" /><Relationship Type="http://schemas.openxmlformats.org/officeDocument/2006/relationships/notesSlide" Target="/ppt/notesSlides/notesSlide9.xml" Id="R91c1a3a76ff847a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2a0bb9fb7c348e8" /><Relationship Type="http://schemas.openxmlformats.org/officeDocument/2006/relationships/notesSlide" Target="/ppt/notesSlides/notesSlide10.xml" Id="Rdded7b9dc3e44a3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8ca28fbcb534b25" /><Relationship Type="http://schemas.openxmlformats.org/officeDocument/2006/relationships/notesSlide" Target="/ppt/notesSlides/notesSlide11.xml" Id="Ra0700d7adba3432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4823c270f574c1a" /><Relationship Type="http://schemas.openxmlformats.org/officeDocument/2006/relationships/notesSlide" Target="/ppt/notesSlides/notesSlide12.xml" Id="R3df1d20a1c2e43f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db292b92ec44065" /><Relationship Type="http://schemas.openxmlformats.org/officeDocument/2006/relationships/notesSlide" Target="/ppt/notesSlides/notesSlide13.xml" Id="R0ac4f57a89604d0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dbcf2f5f6eb4028" /><Relationship Type="http://schemas.openxmlformats.org/officeDocument/2006/relationships/notesSlide" Target="/ppt/notesSlides/notesSlide14.xml" Id="R9577daf0ed3b407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6633d40f7714af9" /><Relationship Type="http://schemas.openxmlformats.org/officeDocument/2006/relationships/notesSlide" Target="/ppt/notesSlides/notesSlide15.xml" Id="Rc7bf24e6f5e544e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9f2848283e94775" /><Relationship Type="http://schemas.openxmlformats.org/officeDocument/2006/relationships/notesSlide" Target="/ppt/notesSlides/notesSlide16.xml" Id="Rb39d23c465484b7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0034371aaa7441c" /><Relationship Type="http://schemas.openxmlformats.org/officeDocument/2006/relationships/notesSlide" Target="/ppt/notesSlides/notesSlide17.xml" Id="R1d2abf40549047b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fa2336a24e14773" /><Relationship Type="http://schemas.openxmlformats.org/officeDocument/2006/relationships/notesSlide" Target="/ppt/notesSlides/notesSlide18.xml" Id="R3ef61f616a6b4f2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1ad0133ef834558" /><Relationship Type="http://schemas.openxmlformats.org/officeDocument/2006/relationships/notesSlide" Target="/ppt/notesSlides/notesSlide19.xml" Id="Ra25e7f9873bd4a7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10d49ee6294453e" /><Relationship Type="http://schemas.openxmlformats.org/officeDocument/2006/relationships/notesSlide" Target="/ppt/notesSlides/notesSlide20.xml" Id="Rb126ecb272d24be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49e3cd19ea84848" /><Relationship Type="http://schemas.openxmlformats.org/officeDocument/2006/relationships/notesSlide" Target="/ppt/notesSlides/notesSlide21.xml" Id="R4e37a16229fe4dd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f7ea3db4c424357" /><Relationship Type="http://schemas.openxmlformats.org/officeDocument/2006/relationships/notesSlide" Target="/ppt/notesSlides/notesSlide22.xml" Id="R797cc5679e60410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ser>
          <c:idx val="0"/>
          <c:order val="0"/>
          <c:tx>
            <c:v>Daily count</c:v>
          </c:tx>
          <c:spPr>
            <a:ln xmlns:a="http://schemas.openxmlformats.org/drawingml/2006/main" w="28575">
              <a:solidFill>
                <a:srgbClr val="087F77"/>
              </a:solidFill>
              <a:prstDash val="solid"/>
            </a:ln>
          </c:spPr>
          <c:marker>
            <c:symbol val="none"/>
          </c:marker>
          <c:cat>
            <c:strRef>
              <c:f>'Chart Data'!$A$2:$A$13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Data'!$B$2:$B$13</c:f>
              <c:numCache>
                <c:formatCode>General</c:formatCode>
                <c:ptCount val="12"/>
                <c:pt idx="0">
                  <c:v>112</c:v>
                </c:pt>
                <c:pt idx="1">
                  <c:v>114</c:v>
                </c:pt>
                <c:pt idx="2">
                  <c:v>99</c:v>
                </c:pt>
                <c:pt idx="3">
                  <c:v>115</c:v>
                </c:pt>
                <c:pt idx="4">
                  <c:v>104</c:v>
                </c:pt>
                <c:pt idx="5">
                  <c:v>107</c:v>
                </c:pt>
                <c:pt idx="6">
                  <c:v>121</c:v>
                </c:pt>
                <c:pt idx="7">
                  <c:v>93</c:v>
                </c:pt>
                <c:pt idx="8">
                  <c:v>87</c:v>
                </c:pt>
                <c:pt idx="9">
                  <c:v>116</c:v>
                </c:pt>
                <c:pt idx="10">
                  <c:v>112</c:v>
                </c:pt>
                <c:pt idx="11">
                  <c:v>126</c:v>
                </c:pt>
              </c:numCache>
            </c:numRef>
          </c:val>
        </c:ser>
        <c:ser>
          <c:idx val="1"/>
          <c:order val="1"/>
          <c:tx>
            <c:v>XmR upper limit</c:v>
          </c:tx>
          <c:spPr>
            <a:ln xmlns:a="http://schemas.openxmlformats.org/drawingml/2006/main" w="19050">
              <a:solidFill>
                <a:srgbClr val="B45136"/>
              </a:solidFill>
              <a:prstDash val="solid"/>
            </a:ln>
          </c:spPr>
          <c:marker>
            <c:symbol val="none"/>
          </c:marker>
          <c:cat>
            <c:strRef>
              <c:f>'Chart Data'!$C$2:$C$13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Data'!$D$2:$D$13</c:f>
              <c:numCache>
                <c:formatCode>General</c:formatCode>
                <c:ptCount val="12"/>
                <c:pt idx="0">
                  <c:v>144.2</c:v>
                </c:pt>
                <c:pt idx="1">
                  <c:v>144.4</c:v>
                </c:pt>
                <c:pt idx="2">
                  <c:v>142.4</c:v>
                </c:pt>
                <c:pt idx="3">
                  <c:v>138.1</c:v>
                </c:pt>
                <c:pt idx="4">
                  <c:v>134.3</c:v>
                </c:pt>
                <c:pt idx="5">
                  <c:v>133.5</c:v>
                </c:pt>
                <c:pt idx="6">
                  <c:v>131.9</c:v>
                </c:pt>
                <c:pt idx="7">
                  <c:v>134.7</c:v>
                </c:pt>
                <c:pt idx="8">
                  <c:v>132.2</c:v>
                </c:pt>
                <c:pt idx="9">
                  <c:v>132.1</c:v>
                </c:pt>
                <c:pt idx="10">
                  <c:v>132</c:v>
                </c:pt>
                <c:pt idx="11">
                  <c:v>133.5</c:v>
                </c:pt>
              </c:numCache>
            </c:numRef>
          </c:val>
        </c:ser>
        <c:ser>
          <c:idx val="2"/>
          <c:order val="2"/>
          <c:tx>
            <c:v>XmR lower limit</c:v>
          </c:tx>
          <c:spPr>
            <a:ln xmlns:a="http://schemas.openxmlformats.org/drawingml/2006/main" w="19050">
              <a:solidFill>
                <a:srgbClr val="A98E79"/>
              </a:solidFill>
              <a:prstDash val="solid"/>
            </a:ln>
          </c:spPr>
          <c:marker>
            <c:symbol val="none"/>
          </c:marker>
          <c:cat>
            <c:strRef>
              <c:f>'Chart Data'!$E$2:$E$13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Data'!$F$2:$F$13</c:f>
              <c:numCache>
                <c:formatCode>General</c:formatCode>
                <c:ptCount val="12"/>
                <c:pt idx="0">
                  <c:v>75.3</c:v>
                </c:pt>
                <c:pt idx="1">
                  <c:v>74.1</c:v>
                </c:pt>
                <c:pt idx="2">
                  <c:v>74.8</c:v>
                </c:pt>
                <c:pt idx="3">
                  <c:v>77.1</c:v>
                </c:pt>
                <c:pt idx="4">
                  <c:v>81.6</c:v>
                </c:pt>
                <c:pt idx="5">
                  <c:v>83</c:v>
                </c:pt>
                <c:pt idx="6">
                  <c:v>85.6</c:v>
                </c:pt>
                <c:pt idx="7">
                  <c:v>82.4</c:v>
                </c:pt>
                <c:pt idx="8">
                  <c:v>81.8</c:v>
                </c:pt>
                <c:pt idx="9">
                  <c:v>81.1</c:v>
                </c:pt>
                <c:pt idx="10">
                  <c:v>84.4</c:v>
                </c:pt>
                <c:pt idx="11">
                  <c:v>85.4</c:v>
                </c:pt>
              </c:numCache>
            </c:numRef>
          </c:val>
        </c:ser>
        <c:dLbls>
          <c:txPr>
            <a:bodyPr xmlns:a="http://schemas.openxmlformats.org/drawingml/2006/main" anchorCtr="1"/>
            <a:lstStyle xmlns:a="http://schemas.openxmlformats.org/drawingml/2006/main"/>
            <a:p xmlns:a="http://schemas.openxmlformats.org/drawingml/2006/main">
              <a:pPr>
                <a:defRPr>
                  <a:latin typeface="Bitstream Charter"/>
                  <a:ea typeface="Bitstream Charter"/>
                  <a:cs typeface="Bitstream Charter"/>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Bitstream Charter"/>
                <a:ea typeface="Bitstream Charter"/>
                <a:cs typeface="Bitstream Charter"/>
              </a:defRPr>
            </a:pPr>
          </a:p>
        </c:txPr>
        <c:crossAx val="48672768"/>
      </c:catAx>
      <c:valAx>
        <c:axId val="48672768"/>
        <c:scaling>
          <c:orientation val="minMax"/>
        </c:scaling>
        <c:delete val="0"/>
        <c:axPos val="l"/>
        <c:majorGridlines>
          <c:spPr>
            <a:ln xmlns:a="http://schemas.openxmlformats.org/drawingml/2006/main" w="9525">
              <a:solidFill>
                <a:srgbClr val="DDE5E6"/>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Bitstream Charter"/>
                <a:ea typeface="Bitstream Charter"/>
                <a:cs typeface="Bitstream Charter"/>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Bitstream Charter"/>
              <a:ea typeface="Bitstream Charter"/>
              <a:cs typeface="Bitstream Charter"/>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53246"/>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E3E873F0-081D-4656-A8AC-3217060A9AEB}"/>
              </a:ext>
            </a:extLst>
          </p:cNvPr>
          <p:cNvSpPr>
            <a:spLocks xmlns:a="http://schemas.openxmlformats.org/drawingml/2006/main" noGrp="1"/>
          </p:cNvSpPr>
          <p:nvPr/>
        </p:nvSpPr>
        <p:spPr>
          <a:xfrm xmlns:a="http://schemas.openxmlformats.org/drawingml/2006/main">
            <a:off x="704850" y="13335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975" b="1">
                <a:solidFill>
                  <a:srgbClr val="FFFFFF"/>
                </a:solidFill>
                <a:latin typeface="Bitstream Charter"/>
                <a:ea typeface="Bitstream Charter"/>
                <a:cs typeface="Bitstream Charter"/>
              </a:defRPr>
            </a:pPr>
            <a:r>
              <a:rPr sz="3975" b="1">
                <a:solidFill>
                  <a:srgbClr val="FFFFFF"/>
                </a:solidFill>
                <a:latin typeface="Bitstream Charter"/>
                <a:ea typeface="Bitstream Charter"/>
                <a:cs typeface="Bitstream Charter"/>
              </a:rPr>
              <a:t>Statistical process control + machine learning</a:t>
            </a:r>
          </a:p>
        </p:txBody>
      </p:sp>
      <p:sp>
        <p:nvSpPr>
          <p:cNvPr id="2" name="">
            <a:extLst xmlns:a="http://schemas.openxmlformats.org/drawingml/2006/main">
              <a:ext uri="{FF2B5EF4-FFF2-40B4-BE49-F238E27FC236}">
                <a16:creationId xmlns:a16="http://schemas.microsoft.com/office/drawing/2014/main" id="{C07DE56B-3A76-4F6C-81D1-E7AE0EF46851}"/>
              </a:ext>
            </a:extLst>
          </p:cNvPr>
          <p:cNvSpPr>
            <a:spLocks xmlns:a="http://schemas.openxmlformats.org/drawingml/2006/main" noGrp="1"/>
          </p:cNvSpPr>
          <p:nvPr/>
        </p:nvSpPr>
        <p:spPr>
          <a:xfrm xmlns:a="http://schemas.openxmlformats.org/drawingml/2006/main">
            <a:off x="704850" y="30861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E2EFEF"/>
                </a:solidFill>
                <a:latin typeface="Bitstream Charter"/>
                <a:ea typeface="Bitstream Charter"/>
                <a:cs typeface="Bitstream Charter"/>
              </a:defRPr>
            </a:pPr>
            <a:r>
              <a:rPr sz="2325" b="0">
                <a:solidFill>
                  <a:srgbClr val="E2EFEF"/>
                </a:solidFill>
                <a:latin typeface="Bitstream Charter"/>
                <a:ea typeface="Bitstream Charter"/>
                <a:cs typeface="Bitstream Charter"/>
              </a:rPr>
              <a:t>A plain-English walkthrough of the ten-cell Databricks notebook</a:t>
            </a:r>
          </a:p>
        </p:txBody>
      </p:sp>
      <p:sp>
        <p:nvSpPr>
          <p:cNvPr id="3" name="">
            <a:extLst xmlns:a="http://schemas.openxmlformats.org/drawingml/2006/main">
              <a:ext uri="{FF2B5EF4-FFF2-40B4-BE49-F238E27FC236}">
                <a16:creationId xmlns:a16="http://schemas.microsoft.com/office/drawing/2014/main" id="{7E1C1059-9250-4B8F-A77C-F08F53FF51B9}"/>
              </a:ext>
            </a:extLst>
          </p:cNvPr>
          <p:cNvSpPr>
            <a:spLocks xmlns:a="http://schemas.openxmlformats.org/drawingml/2006/main" noGrp="1"/>
          </p:cNvSpPr>
          <p:nvPr/>
        </p:nvSpPr>
        <p:spPr>
          <a:xfrm xmlns:a="http://schemas.openxmlformats.org/drawingml/2006/main">
            <a:off x="704850" y="514350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FFFFFF"/>
                </a:solidFill>
                <a:latin typeface="Bitstream Charter"/>
                <a:ea typeface="Bitstream Charter"/>
                <a:cs typeface="Bitstream Charter"/>
              </a:defRPr>
            </a:pPr>
            <a:r>
              <a:rPr sz="1575" b="0">
                <a:solidFill>
                  <a:srgbClr val="FFFFFF"/>
                </a:solidFill>
                <a:latin typeface="Bitstream Charter"/>
                <a:ea typeface="Bitstream Charter"/>
                <a:cs typeface="Bitstream Charter"/>
              </a:rPr>
              <a:t>AttainX example with fictional data  •  Presenter companion for the live oral demo</a:t>
            </a:r>
          </a:p>
        </p:txBody>
      </p:sp>
    </p:spTree>
    <p:extLst>
      <p:ext uri="{BB962C8B-B14F-4D97-AF65-F5344CB8AC3E}">
        <p14:creationId xmlns:p14="http://schemas.microsoft.com/office/powerpoint/2010/main" val="1505350317"/>
      </p:ext>
    </p:extLst>
  </p:cSld>
</p:sld>
</file>

<file path=ppt/slides/slide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5C08D4E-A379-4454-A3B3-0B1F6A0ABA98}"/>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SPC PRIMER</a:t>
            </a:r>
          </a:p>
        </p:txBody>
      </p:sp>
      <p:sp>
        <p:nvSpPr>
          <p:cNvPr id="2" name="">
            <a:extLst xmlns:a="http://schemas.openxmlformats.org/drawingml/2006/main">
              <a:ext uri="{FF2B5EF4-FFF2-40B4-BE49-F238E27FC236}">
                <a16:creationId xmlns:a16="http://schemas.microsoft.com/office/drawing/2014/main" id="{95ADE7D7-4B17-49D0-8CFF-082FC4B73471}"/>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What statistical process control asks</a:t>
            </a:r>
          </a:p>
        </p:txBody>
      </p:sp>
      <p:sp>
        <p:nvSpPr>
          <p:cNvPr id="3" name="">
            <a:extLst xmlns:a="http://schemas.openxmlformats.org/drawingml/2006/main">
              <a:ext uri="{FF2B5EF4-FFF2-40B4-BE49-F238E27FC236}">
                <a16:creationId xmlns:a16="http://schemas.microsoft.com/office/drawing/2014/main" id="{D0DFF58F-F755-4279-B279-D8F9B33A3F12}"/>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F574C29F-9DAA-4748-BB14-721D1678AE47}"/>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02</a:t>
            </a:r>
          </a:p>
        </p:txBody>
      </p:sp>
      <p:sp>
        <p:nvSpPr>
          <p:cNvPr id="5" name="">
            <a:extLst xmlns:a="http://schemas.openxmlformats.org/drawingml/2006/main">
              <a:ext uri="{FF2B5EF4-FFF2-40B4-BE49-F238E27FC236}">
                <a16:creationId xmlns:a16="http://schemas.microsoft.com/office/drawing/2014/main" id="{1A6B397E-C683-4E3D-82CB-3637349E3F70}"/>
              </a:ext>
            </a:extLst>
          </p:cNvPr>
          <p:cNvSpPr>
            <a:spLocks xmlns:a="http://schemas.openxmlformats.org/drawingml/2006/main" noGrp="1"/>
          </p:cNvSpPr>
          <p:nvPr/>
        </p:nvSpPr>
        <p:spPr>
          <a:xfrm xmlns:a="http://schemas.openxmlformats.org/drawingml/2006/main">
            <a:off x="704850" y="1657350"/>
            <a:ext cx="9429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53246"/>
                </a:solidFill>
                <a:latin typeface="Bitstream Charter"/>
                <a:ea typeface="Bitstream Charter"/>
                <a:cs typeface="Bitstream Charter"/>
              </a:defRPr>
            </a:pPr>
            <a:r>
              <a:rPr sz="2250" b="1">
                <a:solidFill>
                  <a:srgbClr val="153246"/>
                </a:solidFill>
                <a:latin typeface="Bitstream Charter"/>
                <a:ea typeface="Bitstream Charter"/>
                <a:cs typeface="Bitstream Charter"/>
              </a:rPr>
              <a:t>Daily work counts naturally rise and fall.</a:t>
            </a:r>
          </a:p>
        </p:txBody>
      </p:sp>
      <p:graphicFrame>
        <p:nvGraphicFramePr>
          <p:cNvPr id="15" name="Chart"/>
          <p:cNvGraphicFramePr/>
          <p:nvPr/>
        </p:nvGraphicFramePr>
        <p:xfrm>
          <a:off xmlns:a="http://schemas.openxmlformats.org/drawingml/2006/main" x="704850" y="2171700"/>
          <a:ext xmlns:a="http://schemas.openxmlformats.org/drawingml/2006/main" cx="10477500" cy="3114675"/>
        </p:xfrm>
        <a:graphic xmlns:a="http://schemas.openxmlformats.org/drawingml/2006/main">
          <a:graphicData uri="http://schemas.openxmlformats.org/drawingml/2006/chart">
            <c:chart xmlns:r="http://schemas.openxmlformats.org/officeDocument/2006/relationships" xmlns:c="http://schemas.openxmlformats.org/drawingml/2006/chart" r:id="R3ceafbce4db74a49"/>
          </a:graphicData>
        </a:graphic>
      </p:graphicFrame>
      <p:sp>
        <p:nvSpPr>
          <p:cNvPr id="7" name="">
            <a:extLst xmlns:a="http://schemas.openxmlformats.org/drawingml/2006/main">
              <a:ext uri="{FF2B5EF4-FFF2-40B4-BE49-F238E27FC236}">
                <a16:creationId xmlns:a16="http://schemas.microsoft.com/office/drawing/2014/main" id="{0DD3BAA6-F21B-4898-995F-7125ADC75849}"/>
              </a:ext>
            </a:extLst>
          </p:cNvPr>
          <p:cNvSpPr>
            <a:spLocks xmlns:a="http://schemas.openxmlformats.org/drawingml/2006/main" noGrp="1"/>
          </p:cNvSpPr>
          <p:nvPr/>
        </p:nvSpPr>
        <p:spPr>
          <a:xfrm xmlns:a="http://schemas.openxmlformats.org/drawingml/2006/main">
            <a:off x="704850" y="555307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526675"/>
                </a:solidFill>
                <a:latin typeface="Bitstream Charter"/>
                <a:ea typeface="Bitstream Charter"/>
                <a:cs typeface="Bitstream Charter"/>
              </a:defRPr>
            </a:pPr>
            <a:r>
              <a:rPr sz="1575" b="0">
                <a:solidFill>
                  <a:srgbClr val="526675"/>
                </a:solidFill>
                <a:latin typeface="Bitstream Charter"/>
                <a:ea typeface="Bitstream Charter"/>
                <a:cs typeface="Bitstream Charter"/>
              </a:rPr>
              <a:t>Illustrative counts and changing XmR limits from the demo notebook. A rule signal calls for analyst review.</a:t>
            </a:r>
          </a:p>
        </p:txBody>
      </p:sp>
    </p:spTree>
    <p:extLst>
      <p:ext uri="{BB962C8B-B14F-4D97-AF65-F5344CB8AC3E}">
        <p14:creationId xmlns:p14="http://schemas.microsoft.com/office/powerpoint/2010/main" val="1515030984"/>
      </p:ext>
    </p:extLst>
  </p:cSld>
</p:sld>
</file>

<file path=ppt/slides/slide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FF83A7-4A86-4733-8987-0391DB0D4E80}"/>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SPC PRIMER</a:t>
            </a:r>
          </a:p>
        </p:txBody>
      </p:sp>
      <p:sp>
        <p:nvSpPr>
          <p:cNvPr id="2" name="">
            <a:extLst xmlns:a="http://schemas.openxmlformats.org/drawingml/2006/main">
              <a:ext uri="{FF2B5EF4-FFF2-40B4-BE49-F238E27FC236}">
                <a16:creationId xmlns:a16="http://schemas.microsoft.com/office/drawing/2014/main" id="{AD00635F-160D-454C-A77F-F16B29ED4EA1}"/>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Three checks cover different kinds of change</a:t>
            </a:r>
          </a:p>
        </p:txBody>
      </p:sp>
      <p:sp>
        <p:nvSpPr>
          <p:cNvPr id="3" name="">
            <a:extLst xmlns:a="http://schemas.openxmlformats.org/drawingml/2006/main">
              <a:ext uri="{FF2B5EF4-FFF2-40B4-BE49-F238E27FC236}">
                <a16:creationId xmlns:a16="http://schemas.microsoft.com/office/drawing/2014/main" id="{C6F88D08-4B36-4FA7-8FEE-6C4749BF513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B7A28C25-7B86-4156-944C-36C0B2EB4FED}"/>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03</a:t>
            </a:r>
          </a:p>
        </p:txBody>
      </p:sp>
      <p:sp>
        <p:nvSpPr>
          <p:cNvPr id="5" name="">
            <a:extLst xmlns:a="http://schemas.openxmlformats.org/drawingml/2006/main">
              <a:ext uri="{FF2B5EF4-FFF2-40B4-BE49-F238E27FC236}">
                <a16:creationId xmlns:a16="http://schemas.microsoft.com/office/drawing/2014/main" id="{6211C571-3AAD-40CE-A39E-9DEA10576891}"/>
              </a:ext>
            </a:extLst>
          </p:cNvPr>
          <p:cNvSpPr>
            <a:spLocks xmlns:a="http://schemas.openxmlformats.org/drawingml/2006/main" noGrp="1"/>
          </p:cNvSpPr>
          <p:nvPr/>
        </p:nvSpPr>
        <p:spPr>
          <a:xfrm xmlns:a="http://schemas.openxmlformats.org/drawingml/2006/main">
            <a:off x="704850" y="17907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XmR</a:t>
            </a:r>
          </a:p>
        </p:txBody>
      </p:sp>
      <p:sp>
        <p:nvSpPr>
          <p:cNvPr id="6" name="">
            <a:extLst xmlns:a="http://schemas.openxmlformats.org/drawingml/2006/main">
              <a:ext uri="{FF2B5EF4-FFF2-40B4-BE49-F238E27FC236}">
                <a16:creationId xmlns:a16="http://schemas.microsoft.com/office/drawing/2014/main" id="{413D44F5-B04F-41BE-8226-F2F8BF68493A}"/>
              </a:ext>
            </a:extLst>
          </p:cNvPr>
          <p:cNvSpPr>
            <a:spLocks xmlns:a="http://schemas.openxmlformats.org/drawingml/2006/main" noGrp="1"/>
          </p:cNvSpPr>
          <p:nvPr/>
        </p:nvSpPr>
        <p:spPr>
          <a:xfrm xmlns:a="http://schemas.openxmlformats.org/drawingml/2006/main">
            <a:off x="704850" y="21717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A big single jump against a limit derived from the moving range.</a:t>
            </a:r>
          </a:p>
        </p:txBody>
      </p:sp>
      <p:sp>
        <p:nvSpPr>
          <p:cNvPr id="7" name="">
            <a:extLst xmlns:a="http://schemas.openxmlformats.org/drawingml/2006/main">
              <a:ext uri="{FF2B5EF4-FFF2-40B4-BE49-F238E27FC236}">
                <a16:creationId xmlns:a16="http://schemas.microsoft.com/office/drawing/2014/main" id="{46DA8C5A-1225-45A5-BEBD-964BC9D02401}"/>
              </a:ext>
            </a:extLst>
          </p:cNvPr>
          <p:cNvSpPr>
            <a:spLocks xmlns:a="http://schemas.openxmlformats.org/drawingml/2006/main" noGrp="1"/>
          </p:cNvSpPr>
          <p:nvPr/>
        </p:nvSpPr>
        <p:spPr>
          <a:xfrm xmlns:a="http://schemas.openxmlformats.org/drawingml/2006/main">
            <a:off x="704850" y="30099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CUSUM</a:t>
            </a:r>
          </a:p>
        </p:txBody>
      </p:sp>
      <p:sp>
        <p:nvSpPr>
          <p:cNvPr id="8" name="">
            <a:extLst xmlns:a="http://schemas.openxmlformats.org/drawingml/2006/main">
              <a:ext uri="{FF2B5EF4-FFF2-40B4-BE49-F238E27FC236}">
                <a16:creationId xmlns:a16="http://schemas.microsoft.com/office/drawing/2014/main" id="{8779ED53-3F39-4160-B7B9-39686AA57CEF}"/>
              </a:ext>
            </a:extLst>
          </p:cNvPr>
          <p:cNvSpPr>
            <a:spLocks xmlns:a="http://schemas.openxmlformats.org/drawingml/2006/main" noGrp="1"/>
          </p:cNvSpPr>
          <p:nvPr/>
        </p:nvSpPr>
        <p:spPr>
          <a:xfrm xmlns:a="http://schemas.openxmlformats.org/drawingml/2006/main">
            <a:off x="704850" y="33909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Small deviations add up until a sustained shift becomes visible.</a:t>
            </a:r>
          </a:p>
        </p:txBody>
      </p:sp>
      <p:sp>
        <p:nvSpPr>
          <p:cNvPr id="9" name="">
            <a:extLst xmlns:a="http://schemas.openxmlformats.org/drawingml/2006/main">
              <a:ext uri="{FF2B5EF4-FFF2-40B4-BE49-F238E27FC236}">
                <a16:creationId xmlns:a16="http://schemas.microsoft.com/office/drawing/2014/main" id="{AA0BED44-4059-41F6-9E9F-2E416E17A0CE}"/>
              </a:ext>
            </a:extLst>
          </p:cNvPr>
          <p:cNvSpPr>
            <a:spLocks xmlns:a="http://schemas.openxmlformats.org/drawingml/2006/main" noGrp="1"/>
          </p:cNvSpPr>
          <p:nvPr/>
        </p:nvSpPr>
        <p:spPr>
          <a:xfrm xmlns:a="http://schemas.openxmlformats.org/drawingml/2006/main">
            <a:off x="704850" y="42291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EWMA</a:t>
            </a:r>
          </a:p>
        </p:txBody>
      </p:sp>
      <p:sp>
        <p:nvSpPr>
          <p:cNvPr id="10" name="">
            <a:extLst xmlns:a="http://schemas.openxmlformats.org/drawingml/2006/main">
              <a:ext uri="{FF2B5EF4-FFF2-40B4-BE49-F238E27FC236}">
                <a16:creationId xmlns:a16="http://schemas.microsoft.com/office/drawing/2014/main" id="{473E54BC-6231-40E4-8FF7-5100CDD2D20B}"/>
              </a:ext>
            </a:extLst>
          </p:cNvPr>
          <p:cNvSpPr>
            <a:spLocks xmlns:a="http://schemas.openxmlformats.org/drawingml/2006/main" noGrp="1"/>
          </p:cNvSpPr>
          <p:nvPr/>
        </p:nvSpPr>
        <p:spPr>
          <a:xfrm xmlns:a="http://schemas.openxmlformats.org/drawingml/2006/main">
            <a:off x="704850" y="46101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Recent counts receive more weight, helping reveal moderate shifts.</a:t>
            </a:r>
          </a:p>
        </p:txBody>
      </p:sp>
    </p:spTree>
    <p:extLst>
      <p:ext uri="{BB962C8B-B14F-4D97-AF65-F5344CB8AC3E}">
        <p14:creationId xmlns:p14="http://schemas.microsoft.com/office/powerpoint/2010/main" val="774216027"/>
      </p:ext>
    </p:extLst>
  </p:cSld>
</p:sld>
</file>

<file path=ppt/slides/slide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B25555-7037-45EB-8FE9-74989C9C60CF}"/>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DESIGN</a:t>
            </a:r>
          </a:p>
        </p:txBody>
      </p:sp>
      <p:sp>
        <p:nvSpPr>
          <p:cNvPr id="2" name="">
            <a:extLst xmlns:a="http://schemas.openxmlformats.org/drawingml/2006/main">
              <a:ext uri="{FF2B5EF4-FFF2-40B4-BE49-F238E27FC236}">
                <a16:creationId xmlns:a16="http://schemas.microsoft.com/office/drawing/2014/main" id="{023203B2-FE3B-4B96-980D-5256E45C5D5C}"/>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SPC and the two ML questions</a:t>
            </a:r>
          </a:p>
        </p:txBody>
      </p:sp>
      <p:sp>
        <p:nvSpPr>
          <p:cNvPr id="3" name="">
            <a:extLst xmlns:a="http://schemas.openxmlformats.org/drawingml/2006/main">
              <a:ext uri="{FF2B5EF4-FFF2-40B4-BE49-F238E27FC236}">
                <a16:creationId xmlns:a16="http://schemas.microsoft.com/office/drawing/2014/main" id="{5F031F0F-C653-442F-992B-BF6DC1F675D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21DE002A-7B83-41D3-A16B-A7B17EEB45F5}"/>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04</a:t>
            </a:r>
          </a:p>
        </p:txBody>
      </p:sp>
      <p:sp>
        <p:nvSpPr>
          <p:cNvPr id="5" name="">
            <a:extLst xmlns:a="http://schemas.openxmlformats.org/drawingml/2006/main">
              <a:ext uri="{FF2B5EF4-FFF2-40B4-BE49-F238E27FC236}">
                <a16:creationId xmlns:a16="http://schemas.microsoft.com/office/drawing/2014/main" id="{EA5A4B71-9378-480F-89B4-1B05D0D09A77}"/>
              </a:ext>
            </a:extLst>
          </p:cNvPr>
          <p:cNvSpPr>
            <a:spLocks xmlns:a="http://schemas.openxmlformats.org/drawingml/2006/main" noGrp="1"/>
          </p:cNvSpPr>
          <p:nvPr/>
        </p:nvSpPr>
        <p:spPr>
          <a:xfrm xmlns:a="http://schemas.openxmlformats.org/drawingml/2006/main">
            <a:off x="704850" y="18954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Rule-label classifier</a:t>
            </a:r>
          </a:p>
        </p:txBody>
      </p:sp>
      <p:sp>
        <p:nvSpPr>
          <p:cNvPr id="6" name="">
            <a:extLst xmlns:a="http://schemas.openxmlformats.org/drawingml/2006/main">
              <a:ext uri="{FF2B5EF4-FFF2-40B4-BE49-F238E27FC236}">
                <a16:creationId xmlns:a16="http://schemas.microsoft.com/office/drawing/2014/main" id="{996C924B-86C1-4F79-B3DB-8F36380C2A30}"/>
              </a:ext>
            </a:extLst>
          </p:cNvPr>
          <p:cNvSpPr>
            <a:spLocks xmlns:a="http://schemas.openxmlformats.org/drawingml/2006/main" noGrp="1"/>
          </p:cNvSpPr>
          <p:nvPr/>
        </p:nvSpPr>
        <p:spPr>
          <a:xfrm xmlns:a="http://schemas.openxmlformats.org/drawingml/2006/main">
            <a:off x="704850" y="2352675"/>
            <a:ext cx="49149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Inputs: statistics from a finished 25-day window.</a:t>
            </a:r>
          </a:p>
          <a:p xmlns:a="http://schemas.openxmlformats.org/drawingml/2006/main">
            <a:r>
              <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Target: did any SPC rule fire in that window?</a:t>
            </a:r>
          </a:p>
        </p:txBody>
      </p:sp>
      <p:sp>
        <p:nvSpPr>
          <p:cNvPr id="7" name="">
            <a:extLst xmlns:a="http://schemas.openxmlformats.org/drawingml/2006/main">
              <a:ext uri="{FF2B5EF4-FFF2-40B4-BE49-F238E27FC236}">
                <a16:creationId xmlns:a16="http://schemas.microsoft.com/office/drawing/2014/main" id="{9CDC13F3-DC85-4E69-B728-FDF653661E61}"/>
              </a:ext>
            </a:extLst>
          </p:cNvPr>
          <p:cNvSpPr>
            <a:spLocks xmlns:a="http://schemas.openxmlformats.org/drawingml/2006/main" noGrp="1"/>
          </p:cNvSpPr>
          <p:nvPr/>
        </p:nvSpPr>
        <p:spPr>
          <a:xfrm xmlns:a="http://schemas.openxmlformats.org/drawingml/2006/main">
            <a:off x="6362700" y="1895475"/>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Count forecast</a:t>
            </a:r>
          </a:p>
        </p:txBody>
      </p:sp>
      <p:sp>
        <p:nvSpPr>
          <p:cNvPr id="8" name="">
            <a:extLst xmlns:a="http://schemas.openxmlformats.org/drawingml/2006/main">
              <a:ext uri="{FF2B5EF4-FFF2-40B4-BE49-F238E27FC236}">
                <a16:creationId xmlns:a16="http://schemas.microsoft.com/office/drawing/2014/main" id="{D3C2F343-A078-4024-B96F-386DD0174DEC}"/>
              </a:ext>
            </a:extLst>
          </p:cNvPr>
          <p:cNvSpPr>
            <a:spLocks xmlns:a="http://schemas.openxmlformats.org/drawingml/2006/main" noGrp="1"/>
          </p:cNvSpPr>
          <p:nvPr/>
        </p:nvSpPr>
        <p:spPr>
          <a:xfrm xmlns:a="http://schemas.openxmlformats.org/drawingml/2006/main">
            <a:off x="6362700" y="2352675"/>
            <a:ext cx="5048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Inputs: counts and features known the day before.</a:t>
            </a:r>
          </a:p>
          <a:p xmlns:a="http://schemas.openxmlformats.org/drawingml/2006/main">
            <a:r>
              <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Target: the next business day's count.</a:t>
            </a:r>
          </a:p>
        </p:txBody>
      </p:sp>
      <p:sp>
        <p:nvSpPr>
          <p:cNvPr id="9" name="">
            <a:extLst xmlns:a="http://schemas.openxmlformats.org/drawingml/2006/main">
              <a:ext uri="{FF2B5EF4-FFF2-40B4-BE49-F238E27FC236}">
                <a16:creationId xmlns:a16="http://schemas.microsoft.com/office/drawing/2014/main" id="{059D5B56-0DF3-452D-9EB0-342ED6439466}"/>
              </a:ext>
            </a:extLst>
          </p:cNvPr>
          <p:cNvSpPr>
            <a:spLocks xmlns:a="http://schemas.openxmlformats.org/drawingml/2006/main" noGrp="1"/>
          </p:cNvSpPr>
          <p:nvPr/>
        </p:nvSpPr>
        <p:spPr>
          <a:xfrm xmlns:a="http://schemas.openxmlformats.org/drawingml/2006/main">
            <a:off x="704850" y="5562600"/>
            <a:ext cx="1038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675"/>
                </a:solidFill>
                <a:latin typeface="Bitstream Charter"/>
                <a:ea typeface="Bitstream Charter"/>
                <a:cs typeface="Bitstream Charter"/>
              </a:defRPr>
            </a:pPr>
            <a:r>
              <a:rPr sz="1725" b="0">
                <a:solidFill>
                  <a:srgbClr val="526675"/>
                </a:solidFill>
                <a:latin typeface="Bitstream Charter"/>
                <a:ea typeface="Bitstream Charter"/>
                <a:cs typeface="Bitstream Charter"/>
              </a:rPr>
              <a:t>Keep the rule output available even if either model is withdrawn.</a:t>
            </a:r>
          </a:p>
        </p:txBody>
      </p:sp>
    </p:spTree>
    <p:extLst>
      <p:ext uri="{BB962C8B-B14F-4D97-AF65-F5344CB8AC3E}">
        <p14:creationId xmlns:p14="http://schemas.microsoft.com/office/powerpoint/2010/main" val="1945948430"/>
      </p:ext>
    </p:extLst>
  </p:cSld>
</p:sld>
</file>

<file path=ppt/slides/slide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0E5F37-A964-4863-9BAA-517FD3D08F51}"/>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SCOPE</a:t>
            </a:r>
          </a:p>
        </p:txBody>
      </p:sp>
      <p:sp>
        <p:nvSpPr>
          <p:cNvPr id="2" name="">
            <a:extLst xmlns:a="http://schemas.openxmlformats.org/drawingml/2006/main">
              <a:ext uri="{FF2B5EF4-FFF2-40B4-BE49-F238E27FC236}">
                <a16:creationId xmlns:a16="http://schemas.microsoft.com/office/drawing/2014/main" id="{0EDFCF03-FACB-47F2-B1BC-0BD0471D7C35}"/>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What the live example proves</a:t>
            </a:r>
          </a:p>
        </p:txBody>
      </p:sp>
      <p:sp>
        <p:nvSpPr>
          <p:cNvPr id="3" name="">
            <a:extLst xmlns:a="http://schemas.openxmlformats.org/drawingml/2006/main">
              <a:ext uri="{FF2B5EF4-FFF2-40B4-BE49-F238E27FC236}">
                <a16:creationId xmlns:a16="http://schemas.microsoft.com/office/drawing/2014/main" id="{CF815B48-3182-4948-A87C-0ADF1C09E54D}"/>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D698A180-8F4E-4CD8-A2DF-128D45234C79}"/>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05</a:t>
            </a:r>
          </a:p>
        </p:txBody>
      </p:sp>
      <p:sp>
        <p:nvSpPr>
          <p:cNvPr id="5" name="">
            <a:extLst xmlns:a="http://schemas.openxmlformats.org/drawingml/2006/main">
              <a:ext uri="{FF2B5EF4-FFF2-40B4-BE49-F238E27FC236}">
                <a16:creationId xmlns:a16="http://schemas.microsoft.com/office/drawing/2014/main" id="{A1FDC57D-8FD0-4A19-AA09-F29AF1797178}"/>
              </a:ext>
            </a:extLst>
          </p:cNvPr>
          <p:cNvSpPr>
            <a:spLocks xmlns:a="http://schemas.openxmlformats.org/drawingml/2006/main" noGrp="1"/>
          </p:cNvSpPr>
          <p:nvPr/>
        </p:nvSpPr>
        <p:spPr>
          <a:xfrm xmlns:a="http://schemas.openxmlformats.org/drawingml/2006/main">
            <a:off x="704850" y="18192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In the working notebook</a:t>
            </a:r>
          </a:p>
        </p:txBody>
      </p:sp>
      <p:sp>
        <p:nvSpPr>
          <p:cNvPr id="6" name="">
            <a:extLst xmlns:a="http://schemas.openxmlformats.org/drawingml/2006/main">
              <a:ext uri="{FF2B5EF4-FFF2-40B4-BE49-F238E27FC236}">
                <a16:creationId xmlns:a16="http://schemas.microsoft.com/office/drawing/2014/main" id="{105A2207-6220-4866-ACCC-95775282996D}"/>
              </a:ext>
            </a:extLst>
          </p:cNvPr>
          <p:cNvSpPr>
            <a:spLocks xmlns:a="http://schemas.openxmlformats.org/drawingml/2006/main" noGrp="1"/>
          </p:cNvSpPr>
          <p:nvPr/>
        </p:nvSpPr>
        <p:spPr>
          <a:xfrm xmlns:a="http://schemas.openxmlformats.org/drawingml/2006/main">
            <a:off x="704850" y="220027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Three imaginary series over 420 business days. Seeded shifts and spikes, rule flags, a held-out test, charts, a review queue, and optional MLflow / Delta outputs.</a:t>
            </a:r>
          </a:p>
        </p:txBody>
      </p:sp>
      <p:sp>
        <p:nvSpPr>
          <p:cNvPr id="7" name="">
            <a:extLst xmlns:a="http://schemas.openxmlformats.org/drawingml/2006/main">
              <a:ext uri="{FF2B5EF4-FFF2-40B4-BE49-F238E27FC236}">
                <a16:creationId xmlns:a16="http://schemas.microsoft.com/office/drawing/2014/main" id="{36400334-33C9-4715-87E4-0E111746F30B}"/>
              </a:ext>
            </a:extLst>
          </p:cNvPr>
          <p:cNvSpPr>
            <a:spLocks xmlns:a="http://schemas.openxmlformats.org/drawingml/2006/main" noGrp="1"/>
          </p:cNvSpPr>
          <p:nvPr/>
        </p:nvSpPr>
        <p:spPr>
          <a:xfrm xmlns:a="http://schemas.openxmlformats.org/drawingml/2006/main">
            <a:off x="704850" y="393382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Boundary for the oral</a:t>
            </a:r>
          </a:p>
        </p:txBody>
      </p:sp>
      <p:sp>
        <p:nvSpPr>
          <p:cNvPr id="8" name="">
            <a:extLst xmlns:a="http://schemas.openxmlformats.org/drawingml/2006/main">
              <a:ext uri="{FF2B5EF4-FFF2-40B4-BE49-F238E27FC236}">
                <a16:creationId xmlns:a16="http://schemas.microsoft.com/office/drawing/2014/main" id="{241893B8-2681-4D4C-9C82-57CE0733038C}"/>
              </a:ext>
            </a:extLst>
          </p:cNvPr>
          <p:cNvSpPr>
            <a:spLocks xmlns:a="http://schemas.openxmlformats.org/drawingml/2006/main" noGrp="1"/>
          </p:cNvSpPr>
          <p:nvPr/>
        </p:nvSpPr>
        <p:spPr>
          <a:xfrm xmlns:a="http://schemas.openxmlformats.org/drawingml/2006/main">
            <a:off x="704850" y="431482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No real records, real alerts, operational actions, agency performance claim, or authorization decision. Show the actual notebook run rather than describing a screen.</a:t>
            </a:r>
          </a:p>
        </p:txBody>
      </p:sp>
    </p:spTree>
    <p:extLst>
      <p:ext uri="{BB962C8B-B14F-4D97-AF65-F5344CB8AC3E}">
        <p14:creationId xmlns:p14="http://schemas.microsoft.com/office/powerpoint/2010/main" val="1052093894"/>
      </p:ext>
    </p:extLst>
  </p:cSld>
</p:sld>
</file>

<file path=ppt/slides/slide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07E216A-5546-452B-A33F-B69D655F2CE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 OF 10</a:t>
            </a:r>
          </a:p>
        </p:txBody>
      </p:sp>
      <p:sp>
        <p:nvSpPr>
          <p:cNvPr id="2" name="">
            <a:extLst xmlns:a="http://schemas.openxmlformats.org/drawingml/2006/main">
              <a:ext uri="{FF2B5EF4-FFF2-40B4-BE49-F238E27FC236}">
                <a16:creationId xmlns:a16="http://schemas.microsoft.com/office/drawing/2014/main" id="{574284A7-E55D-4E96-869A-6F6D7AB77934}"/>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Settings and imports</a:t>
            </a:r>
          </a:p>
        </p:txBody>
      </p:sp>
      <p:sp>
        <p:nvSpPr>
          <p:cNvPr id="3" name="">
            <a:extLst xmlns:a="http://schemas.openxmlformats.org/drawingml/2006/main">
              <a:ext uri="{FF2B5EF4-FFF2-40B4-BE49-F238E27FC236}">
                <a16:creationId xmlns:a16="http://schemas.microsoft.com/office/drawing/2014/main" id="{8C6A1C49-5D4D-43FB-B17A-6F50042ED83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18878A78-CF08-490A-A820-FEE4303C406F}"/>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06</a:t>
            </a:r>
          </a:p>
        </p:txBody>
      </p:sp>
      <p:sp>
        <p:nvSpPr>
          <p:cNvPr id="5" name="">
            <a:extLst xmlns:a="http://schemas.openxmlformats.org/drawingml/2006/main">
              <a:ext uri="{FF2B5EF4-FFF2-40B4-BE49-F238E27FC236}">
                <a16:creationId xmlns:a16="http://schemas.microsoft.com/office/drawing/2014/main" id="{56E8C438-3B58-4B0F-9352-A65A668FD5B1}"/>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E712C7D2-C727-4685-A4BD-B2B5E1D29229}"/>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Set the history length and optional Delta or registry destinations. MLflow logs models when available.</a:t>
            </a:r>
          </a:p>
        </p:txBody>
      </p:sp>
      <p:sp>
        <p:nvSpPr>
          <p:cNvPr id="7" name="">
            <a:extLst xmlns:a="http://schemas.openxmlformats.org/drawingml/2006/main">
              <a:ext uri="{FF2B5EF4-FFF2-40B4-BE49-F238E27FC236}">
                <a16:creationId xmlns:a16="http://schemas.microsoft.com/office/drawing/2014/main" id="{F4600A5E-FDAC-437E-BCB0-47E6B0B4189F}"/>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C9957B4F-F7D0-428D-9790-1C565EDB5952}"/>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Python, NumPy, pandas, scikit-learn, Matplotlib. Fixed random seed and named rule thresholds.</a:t>
            </a:r>
          </a:p>
        </p:txBody>
      </p:sp>
      <p:sp>
        <p:nvSpPr>
          <p:cNvPr id="9" name="">
            <a:extLst xmlns:a="http://schemas.openxmlformats.org/drawingml/2006/main">
              <a:ext uri="{FF2B5EF4-FFF2-40B4-BE49-F238E27FC236}">
                <a16:creationId xmlns:a16="http://schemas.microsoft.com/office/drawing/2014/main" id="{134D4A60-542A-4D9A-BD76-45482B549A59}"/>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B6E5615A-4D32-438B-91B6-B12E9ABBFA4F}"/>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WINDOW = 25; BASELINE_DAYS = 90. The two optional destination names start empty.</a:t>
            </a:r>
          </a:p>
        </p:txBody>
      </p:sp>
      <p:sp>
        <p:nvSpPr>
          <p:cNvPr id="11" name="">
            <a:extLst xmlns:a="http://schemas.openxmlformats.org/drawingml/2006/main">
              <a:ext uri="{FF2B5EF4-FFF2-40B4-BE49-F238E27FC236}">
                <a16:creationId xmlns:a16="http://schemas.microsoft.com/office/drawing/2014/main" id="{62542164-641C-4CA2-80D9-EEFB5015E0FC}"/>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E7E512B1-C73C-4D1B-9EDF-B784903D27F8}"/>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Change parameters here and rerun every later cell so all outputs refer to one consistent run.</a:t>
            </a:r>
          </a:p>
        </p:txBody>
      </p:sp>
    </p:spTree>
    <p:extLst>
      <p:ext uri="{BB962C8B-B14F-4D97-AF65-F5344CB8AC3E}">
        <p14:creationId xmlns:p14="http://schemas.microsoft.com/office/powerpoint/2010/main" val="511608742"/>
      </p:ext>
    </p:extLst>
  </p:cSld>
</p:sld>
</file>

<file path=ppt/slides/slide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593A89-2AC3-49FE-A094-A16BD8BBB942}"/>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2 OF 10</a:t>
            </a:r>
          </a:p>
        </p:txBody>
      </p:sp>
      <p:sp>
        <p:nvSpPr>
          <p:cNvPr id="2" name="">
            <a:extLst xmlns:a="http://schemas.openxmlformats.org/drawingml/2006/main">
              <a:ext uri="{FF2B5EF4-FFF2-40B4-BE49-F238E27FC236}">
                <a16:creationId xmlns:a16="http://schemas.microsoft.com/office/drawing/2014/main" id="{B2F1C5EA-72FD-485D-A66C-F9AD0DA5EB3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Fictional daily work counts</a:t>
            </a:r>
          </a:p>
        </p:txBody>
      </p:sp>
      <p:sp>
        <p:nvSpPr>
          <p:cNvPr id="3" name="">
            <a:extLst xmlns:a="http://schemas.openxmlformats.org/drawingml/2006/main">
              <a:ext uri="{FF2B5EF4-FFF2-40B4-BE49-F238E27FC236}">
                <a16:creationId xmlns:a16="http://schemas.microsoft.com/office/drawing/2014/main" id="{1A79207C-C939-4E20-8265-EB83D9FAC5EE}"/>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92393DC3-8A51-4C18-B9F6-FA14ED799755}"/>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07</a:t>
            </a:r>
          </a:p>
        </p:txBody>
      </p:sp>
      <p:sp>
        <p:nvSpPr>
          <p:cNvPr id="5" name="">
            <a:extLst xmlns:a="http://schemas.openxmlformats.org/drawingml/2006/main">
              <a:ext uri="{FF2B5EF4-FFF2-40B4-BE49-F238E27FC236}">
                <a16:creationId xmlns:a16="http://schemas.microsoft.com/office/drawing/2014/main" id="{818C75E8-8575-412C-A5F2-4120861C8F84}"/>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D9EB4553-45B5-4CE9-9CC5-22E055428603}"/>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Make three imaginary queues and put a few unusual changes into their histories.</a:t>
            </a:r>
          </a:p>
        </p:txBody>
      </p:sp>
      <p:sp>
        <p:nvSpPr>
          <p:cNvPr id="7" name="">
            <a:extLst xmlns:a="http://schemas.openxmlformats.org/drawingml/2006/main">
              <a:ext uri="{FF2B5EF4-FFF2-40B4-BE49-F238E27FC236}">
                <a16:creationId xmlns:a16="http://schemas.microsoft.com/office/drawing/2014/main" id="{98103DBB-A99E-4F60-A5C5-D8FCA6DC5F27}"/>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7D62B5B6-73F8-41C3-89F4-7C12D3B96B4E}"/>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Seeded time-series simulation, business-day calendar, uniqueness and nonnegative-count checks.</a:t>
            </a:r>
          </a:p>
        </p:txBody>
      </p:sp>
      <p:sp>
        <p:nvSpPr>
          <p:cNvPr id="9" name="">
            <a:extLst xmlns:a="http://schemas.openxmlformats.org/drawingml/2006/main">
              <a:ext uri="{FF2B5EF4-FFF2-40B4-BE49-F238E27FC236}">
                <a16:creationId xmlns:a16="http://schemas.microsoft.com/office/drawing/2014/main" id="{AC92526F-E2C6-40A7-AC2D-EEB34DDB94DD}"/>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3F1170B1-9866-4C6A-8843-87C337A273C2}"/>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daily_df has 1,260 observations, a fictional source name, and a demo dataset ID.</a:t>
            </a:r>
          </a:p>
        </p:txBody>
      </p:sp>
      <p:sp>
        <p:nvSpPr>
          <p:cNvPr id="11" name="">
            <a:extLst xmlns:a="http://schemas.openxmlformats.org/drawingml/2006/main">
              <a:ext uri="{FF2B5EF4-FFF2-40B4-BE49-F238E27FC236}">
                <a16:creationId xmlns:a16="http://schemas.microsoft.com/office/drawing/2014/main" id="{BD74FB48-10B9-458D-B977-DA1B177A4BDE}"/>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B956B19A-7FF0-4CD3-8849-F82C4DED1FD4}"/>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planted shifts test the demonstration path. They do not establish a real false-alarm rate.</a:t>
            </a:r>
          </a:p>
        </p:txBody>
      </p:sp>
    </p:spTree>
    <p:extLst>
      <p:ext uri="{BB962C8B-B14F-4D97-AF65-F5344CB8AC3E}">
        <p14:creationId xmlns:p14="http://schemas.microsoft.com/office/powerpoint/2010/main" val="1579564285"/>
      </p:ext>
    </p:extLst>
  </p:cSld>
</p:sld>
</file>

<file path=ppt/slides/slide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2013349-F1C9-4375-86B4-0A827E34D9BE}"/>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3 OF 10</a:t>
            </a:r>
          </a:p>
        </p:txBody>
      </p:sp>
      <p:sp>
        <p:nvSpPr>
          <p:cNvPr id="2" name="">
            <a:extLst xmlns:a="http://schemas.openxmlformats.org/drawingml/2006/main">
              <a:ext uri="{FF2B5EF4-FFF2-40B4-BE49-F238E27FC236}">
                <a16:creationId xmlns:a16="http://schemas.microsoft.com/office/drawing/2014/main" id="{6F017E79-F62B-4085-BE97-FE9846D55470}"/>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XmR, CUSUM, and EWMA rules</a:t>
            </a:r>
          </a:p>
        </p:txBody>
      </p:sp>
      <p:sp>
        <p:nvSpPr>
          <p:cNvPr id="3" name="">
            <a:extLst xmlns:a="http://schemas.openxmlformats.org/drawingml/2006/main">
              <a:ext uri="{FF2B5EF4-FFF2-40B4-BE49-F238E27FC236}">
                <a16:creationId xmlns:a16="http://schemas.microsoft.com/office/drawing/2014/main" id="{3FB062C3-A4D8-4230-BF22-48AEF029DC6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E2CC7DC5-041A-422F-8CE8-61B7C3C6CDB6}"/>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08</a:t>
            </a:r>
          </a:p>
        </p:txBody>
      </p:sp>
      <p:sp>
        <p:nvSpPr>
          <p:cNvPr id="5" name="">
            <a:extLst xmlns:a="http://schemas.openxmlformats.org/drawingml/2006/main">
              <a:ext uri="{FF2B5EF4-FFF2-40B4-BE49-F238E27FC236}">
                <a16:creationId xmlns:a16="http://schemas.microsoft.com/office/drawing/2014/main" id="{E927099C-2FEC-4710-99FF-547C69383DDC}"/>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8DBE1BBB-8B71-40C6-A9BB-638FA4995306}"/>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Write three checks that look for jumps or changes that persist over time.</a:t>
            </a:r>
          </a:p>
        </p:txBody>
      </p:sp>
      <p:sp>
        <p:nvSpPr>
          <p:cNvPr id="7" name="">
            <a:extLst xmlns:a="http://schemas.openxmlformats.org/drawingml/2006/main">
              <a:ext uri="{FF2B5EF4-FFF2-40B4-BE49-F238E27FC236}">
                <a16:creationId xmlns:a16="http://schemas.microsoft.com/office/drawing/2014/main" id="{C3380812-99C6-434B-AFB0-8C25DF7C5EEC}"/>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74B13D82-48B4-4A79-A5FF-7843715BA4F3}"/>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Moving-range limits, cumulative deviation, and exponentially weighted smoothing.</a:t>
            </a:r>
          </a:p>
        </p:txBody>
      </p:sp>
      <p:sp>
        <p:nvSpPr>
          <p:cNvPr id="9" name="">
            <a:extLst xmlns:a="http://schemas.openxmlformats.org/drawingml/2006/main">
              <a:ext uri="{FF2B5EF4-FFF2-40B4-BE49-F238E27FC236}">
                <a16:creationId xmlns:a16="http://schemas.microsoft.com/office/drawing/2014/main" id="{71792A3F-D1C3-4831-A63B-6D876990F2A7}"/>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320754A8-511C-485A-9C1F-DCBF3289DFB9}"/>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Each function returns a Boolean. XmR also gives center and limits for the chart.</a:t>
            </a:r>
          </a:p>
        </p:txBody>
      </p:sp>
      <p:sp>
        <p:nvSpPr>
          <p:cNvPr id="11" name="">
            <a:extLst xmlns:a="http://schemas.openxmlformats.org/drawingml/2006/main">
              <a:ext uri="{FF2B5EF4-FFF2-40B4-BE49-F238E27FC236}">
                <a16:creationId xmlns:a16="http://schemas.microsoft.com/office/drawing/2014/main" id="{2C534821-5B76-4F02-99B5-A18DD90D5B24}"/>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90FDD2F0-9450-49BE-AC80-A2D75FFD4BD9}"/>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checks scan the entire previous window, so one unusual event can keep a window flagged on later run dates.</a:t>
            </a:r>
          </a:p>
        </p:txBody>
      </p:sp>
    </p:spTree>
    <p:extLst>
      <p:ext uri="{BB962C8B-B14F-4D97-AF65-F5344CB8AC3E}">
        <p14:creationId xmlns:p14="http://schemas.microsoft.com/office/powerpoint/2010/main" val="745824216"/>
      </p:ext>
    </p:extLst>
  </p:cSld>
</p:sld>
</file>

<file path=ppt/slides/slide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0DE194F-A72A-4FBF-8CD1-F9D1BBFB6C3B}"/>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4 OF 10</a:t>
            </a:r>
          </a:p>
        </p:txBody>
      </p:sp>
      <p:sp>
        <p:nvSpPr>
          <p:cNvPr id="2" name="">
            <a:extLst xmlns:a="http://schemas.openxmlformats.org/drawingml/2006/main">
              <a:ext uri="{FF2B5EF4-FFF2-40B4-BE49-F238E27FC236}">
                <a16:creationId xmlns:a16="http://schemas.microsoft.com/office/drawing/2014/main" id="{A7056BB7-3074-4D34-9FEB-71A0EAAD0EB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Labels and features</a:t>
            </a:r>
          </a:p>
        </p:txBody>
      </p:sp>
      <p:sp>
        <p:nvSpPr>
          <p:cNvPr id="3" name="">
            <a:extLst xmlns:a="http://schemas.openxmlformats.org/drawingml/2006/main">
              <a:ext uri="{FF2B5EF4-FFF2-40B4-BE49-F238E27FC236}">
                <a16:creationId xmlns:a16="http://schemas.microsoft.com/office/drawing/2014/main" id="{5B1F6414-558B-4546-8208-C3D99DB30C7F}"/>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6E086E2F-D092-467C-98CC-F707F4C2DC8A}"/>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09</a:t>
            </a:r>
          </a:p>
        </p:txBody>
      </p:sp>
      <p:sp>
        <p:nvSpPr>
          <p:cNvPr id="5" name="">
            <a:extLst xmlns:a="http://schemas.openxmlformats.org/drawingml/2006/main">
              <a:ext uri="{FF2B5EF4-FFF2-40B4-BE49-F238E27FC236}">
                <a16:creationId xmlns:a16="http://schemas.microsoft.com/office/drawing/2014/main" id="{E7B34054-DD96-4DA7-904D-E0D9D013B673}"/>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CA3E705F-36E5-45DB-9DAD-2D5F280E877A}"/>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At each eligible date, summarize the preceding 25 days and apply the rules.</a:t>
            </a:r>
          </a:p>
        </p:txBody>
      </p:sp>
      <p:sp>
        <p:nvSpPr>
          <p:cNvPr id="7" name="">
            <a:extLst xmlns:a="http://schemas.openxmlformats.org/drawingml/2006/main">
              <a:ext uri="{FF2B5EF4-FFF2-40B4-BE49-F238E27FC236}">
                <a16:creationId xmlns:a16="http://schemas.microsoft.com/office/drawing/2014/main" id="{C999DB7F-C448-4AE7-A786-70DC82BFBD1E}"/>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987638ED-4040-4310-93A4-FA7D28482BBD}"/>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Rolling windows with an earlier 90-day reference, descriptive statistics, and a logical OR.</a:t>
            </a:r>
          </a:p>
        </p:txBody>
      </p:sp>
      <p:sp>
        <p:nvSpPr>
          <p:cNvPr id="9" name="">
            <a:extLst xmlns:a="http://schemas.openxmlformats.org/drawingml/2006/main">
              <a:ext uri="{FF2B5EF4-FFF2-40B4-BE49-F238E27FC236}">
                <a16:creationId xmlns:a16="http://schemas.microsoft.com/office/drawing/2014/main" id="{E34180D3-C5C7-4124-AF2A-8A1BCF4F347C}"/>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5A927F16-C723-40E8-B598-67898A180FEA}"/>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signals_df contains the flags, window statistics and baseline values. Its overall demo signal rate is 52.3%.</a:t>
            </a:r>
          </a:p>
        </p:txBody>
      </p:sp>
      <p:sp>
        <p:nvSpPr>
          <p:cNvPr id="11" name="">
            <a:extLst xmlns:a="http://schemas.openxmlformats.org/drawingml/2006/main">
              <a:ext uri="{FF2B5EF4-FFF2-40B4-BE49-F238E27FC236}">
                <a16:creationId xmlns:a16="http://schemas.microsoft.com/office/drawing/2014/main" id="{EBDDD28B-F9C4-476D-A28D-953B582F494E}"/>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B494C0FB-1CDA-4258-8E9F-981EDDDDC62E}"/>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label and many model inputs come from the same historical window. This is why classifier accuracy alone does not establish future warning.</a:t>
            </a:r>
          </a:p>
        </p:txBody>
      </p:sp>
    </p:spTree>
    <p:extLst>
      <p:ext uri="{BB962C8B-B14F-4D97-AF65-F5344CB8AC3E}">
        <p14:creationId xmlns:p14="http://schemas.microsoft.com/office/powerpoint/2010/main" val="1507807830"/>
      </p:ext>
    </p:extLst>
  </p:cSld>
</p:sld>
</file>

<file path=ppt/slides/slide1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1F2FD37-106C-4820-9231-C455540D60D3}"/>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5 OF 10</a:t>
            </a:r>
          </a:p>
        </p:txBody>
      </p:sp>
      <p:sp>
        <p:nvSpPr>
          <p:cNvPr id="2" name="">
            <a:extLst xmlns:a="http://schemas.openxmlformats.org/drawingml/2006/main">
              <a:ext uri="{FF2B5EF4-FFF2-40B4-BE49-F238E27FC236}">
                <a16:creationId xmlns:a16="http://schemas.microsoft.com/office/drawing/2014/main" id="{C6F385AF-4E7E-4357-90A9-762EA8FC5AA2}"/>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Classify the rule label</a:t>
            </a:r>
          </a:p>
        </p:txBody>
      </p:sp>
      <p:sp>
        <p:nvSpPr>
          <p:cNvPr id="3" name="">
            <a:extLst xmlns:a="http://schemas.openxmlformats.org/drawingml/2006/main">
              <a:ext uri="{FF2B5EF4-FFF2-40B4-BE49-F238E27FC236}">
                <a16:creationId xmlns:a16="http://schemas.microsoft.com/office/drawing/2014/main" id="{EF0F422D-6AD2-49EA-85DF-C3B90E07377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A2BB4A66-1C65-4EBC-A111-4281B349CCBC}"/>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10</a:t>
            </a:r>
          </a:p>
        </p:txBody>
      </p:sp>
      <p:sp>
        <p:nvSpPr>
          <p:cNvPr id="5" name="">
            <a:extLst xmlns:a="http://schemas.openxmlformats.org/drawingml/2006/main">
              <a:ext uri="{FF2B5EF4-FFF2-40B4-BE49-F238E27FC236}">
                <a16:creationId xmlns:a16="http://schemas.microsoft.com/office/drawing/2014/main" id="{BC510073-C337-4649-916C-9ABAFF102C23}"/>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167A32CF-CD2A-440F-BF1F-3113B5726057}"/>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Train a random forest to guess whether the rules fired, then compare it with easy guesses.</a:t>
            </a:r>
          </a:p>
        </p:txBody>
      </p:sp>
      <p:sp>
        <p:nvSpPr>
          <p:cNvPr id="7" name="">
            <a:extLst xmlns:a="http://schemas.openxmlformats.org/drawingml/2006/main">
              <a:ext uri="{FF2B5EF4-FFF2-40B4-BE49-F238E27FC236}">
                <a16:creationId xmlns:a16="http://schemas.microsoft.com/office/drawing/2014/main" id="{6882C20E-74E3-4249-AACB-DE48745F0755}"/>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C6676D64-52CD-4A48-95F2-7C3CFE74DC43}"/>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Classification, chronological holdout, a 25-business-day gap, accuracy, precision, recall, F1 and ROC AUC.</a:t>
            </a:r>
          </a:p>
        </p:txBody>
      </p:sp>
      <p:sp>
        <p:nvSpPr>
          <p:cNvPr id="9" name="">
            <a:extLst xmlns:a="http://schemas.openxmlformats.org/drawingml/2006/main">
              <a:ext uri="{FF2B5EF4-FFF2-40B4-BE49-F238E27FC236}">
                <a16:creationId xmlns:a16="http://schemas.microsoft.com/office/drawing/2014/main" id="{6C436A18-6A37-45AB-BC58-FA94D05AD9A6}"/>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B3A49041-E302-438B-B76C-16D27C44E82D}"/>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The held-out set has 228 labeled windows. Accuracy is </a:t>
            </a:r>
            <a:r>
              <a:rPr sz="1950" b="0">
                <a:solidFill>
                  <a:srgbClr val="153246"/>
                </a:solidFill>
                <a:latin typeface="Bitstream Charter"/>
                <a:ea typeface="Bitstream Charter"/>
                <a:cs typeface="Bitstream Charter"/>
              </a:rPr>
              <a:t>75.0%</a:t>
            </a:r>
            <a:r>
              <a:rPr sz="1950" b="0">
                <a:solidFill>
                  <a:srgbClr val="153246"/>
                </a:solidFill>
                <a:latin typeface="Bitstream Charter"/>
                <a:ea typeface="Bitstream Charter"/>
                <a:cs typeface="Bitstream Charter"/>
              </a:rPr>
              <a:t>, while always predicting signal scores 78.1%.</a:t>
            </a:r>
          </a:p>
        </p:txBody>
      </p:sp>
      <p:sp>
        <p:nvSpPr>
          <p:cNvPr id="11" name="">
            <a:extLst xmlns:a="http://schemas.openxmlformats.org/drawingml/2006/main">
              <a:ext uri="{FF2B5EF4-FFF2-40B4-BE49-F238E27FC236}">
                <a16:creationId xmlns:a16="http://schemas.microsoft.com/office/drawing/2014/main" id="{6AD69ED6-D9AE-415E-A635-17F712C2D331}"/>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AA4A2906-6797-445A-8CDF-B84237787904}"/>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classifier loses to a trivial baseline on accuracy. For this label, directly running the known rules is the sound recommendation.</a:t>
            </a:r>
          </a:p>
        </p:txBody>
      </p:sp>
    </p:spTree>
    <p:extLst>
      <p:ext uri="{BB962C8B-B14F-4D97-AF65-F5344CB8AC3E}">
        <p14:creationId xmlns:p14="http://schemas.microsoft.com/office/powerpoint/2010/main" val="389071557"/>
      </p:ext>
    </p:extLst>
  </p:cSld>
</p:sld>
</file>

<file path=ppt/slides/slide1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B647C8-5A90-4515-B25A-EBDF33294DB8}"/>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6 OF 10</a:t>
            </a:r>
          </a:p>
        </p:txBody>
      </p:sp>
      <p:sp>
        <p:nvSpPr>
          <p:cNvPr id="2" name="">
            <a:extLst xmlns:a="http://schemas.openxmlformats.org/drawingml/2006/main">
              <a:ext uri="{FF2B5EF4-FFF2-40B4-BE49-F238E27FC236}">
                <a16:creationId xmlns:a16="http://schemas.microsoft.com/office/drawing/2014/main" id="{4BBA3B37-4024-4729-AC89-B3A3770C7E0D}"/>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Forecast tomorrow’s count</a:t>
            </a:r>
          </a:p>
        </p:txBody>
      </p:sp>
      <p:sp>
        <p:nvSpPr>
          <p:cNvPr id="3" name="">
            <a:extLst xmlns:a="http://schemas.openxmlformats.org/drawingml/2006/main">
              <a:ext uri="{FF2B5EF4-FFF2-40B4-BE49-F238E27FC236}">
                <a16:creationId xmlns:a16="http://schemas.microsoft.com/office/drawing/2014/main" id="{7286793B-C216-4E22-9D77-F4BAB5E0EC05}"/>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30B60FBF-8AD1-479D-AB75-756C06660A8D}"/>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11</a:t>
            </a:r>
          </a:p>
        </p:txBody>
      </p:sp>
      <p:sp>
        <p:nvSpPr>
          <p:cNvPr id="5" name="">
            <a:extLst xmlns:a="http://schemas.openxmlformats.org/drawingml/2006/main">
              <a:ext uri="{FF2B5EF4-FFF2-40B4-BE49-F238E27FC236}">
                <a16:creationId xmlns:a16="http://schemas.microsoft.com/office/drawing/2014/main" id="{90D8E859-84DA-4CAA-A612-D255D1ECE961}"/>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BF8E9399-84E6-4A52-BB5C-A036D15A52AD}"/>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Use yesterday’s information to estimate the next business day’s workload.</a:t>
            </a:r>
          </a:p>
        </p:txBody>
      </p:sp>
      <p:sp>
        <p:nvSpPr>
          <p:cNvPr id="7" name="">
            <a:extLst xmlns:a="http://schemas.openxmlformats.org/drawingml/2006/main">
              <a:ext uri="{FF2B5EF4-FFF2-40B4-BE49-F238E27FC236}">
                <a16:creationId xmlns:a16="http://schemas.microsoft.com/office/drawing/2014/main" id="{77423CAA-FD45-44B5-AD1E-74F3BF7A057B}"/>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72E74775-B115-427F-9061-EA9F6E252F2A}"/>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Random forest regression, categorical series indicators, a later-date holdout, mean absolute error.</a:t>
            </a:r>
          </a:p>
        </p:txBody>
      </p:sp>
      <p:sp>
        <p:nvSpPr>
          <p:cNvPr id="9" name="">
            <a:extLst xmlns:a="http://schemas.openxmlformats.org/drawingml/2006/main">
              <a:ext uri="{FF2B5EF4-FFF2-40B4-BE49-F238E27FC236}">
                <a16:creationId xmlns:a16="http://schemas.microsoft.com/office/drawing/2014/main" id="{B0D07289-D548-42E0-AB21-A939AF9CAC5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54E75774-BE09-4BC0-9504-E4012EC6DE09}"/>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Demo test MAE is 8.85 counts; the simple five-day average has MAE 9.73 counts.</a:t>
            </a:r>
          </a:p>
        </p:txBody>
      </p:sp>
      <p:sp>
        <p:nvSpPr>
          <p:cNvPr id="11" name="">
            <a:extLst xmlns:a="http://schemas.openxmlformats.org/drawingml/2006/main">
              <a:ext uri="{FF2B5EF4-FFF2-40B4-BE49-F238E27FC236}">
                <a16:creationId xmlns:a16="http://schemas.microsoft.com/office/drawing/2014/main" id="{544A460D-4EDB-4592-B815-420BE206F395}"/>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90935880-6D64-468B-B3E2-D6859702129B}"/>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This is a one-business-day forecast. Its advantage on demo data needs prospective validation on real authorized data.</a:t>
            </a:r>
          </a:p>
        </p:txBody>
      </p:sp>
    </p:spTree>
    <p:extLst>
      <p:ext uri="{BB962C8B-B14F-4D97-AF65-F5344CB8AC3E}">
        <p14:creationId xmlns:p14="http://schemas.microsoft.com/office/powerpoint/2010/main" val="2038327918"/>
      </p:ext>
    </p:extLst>
  </p:cSld>
</p:sld>
</file>

<file path=ppt/slides/slide1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7E8AEC3-6128-497A-A0CA-60EA59F17E8B}"/>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7 OF 10</a:t>
            </a:r>
          </a:p>
        </p:txBody>
      </p:sp>
      <p:sp>
        <p:nvSpPr>
          <p:cNvPr id="2" name="">
            <a:extLst xmlns:a="http://schemas.openxmlformats.org/drawingml/2006/main">
              <a:ext uri="{FF2B5EF4-FFF2-40B4-BE49-F238E27FC236}">
                <a16:creationId xmlns:a16="http://schemas.microsoft.com/office/drawing/2014/main" id="{94EFE0A6-7115-4623-ADA8-55265C05F2F4}"/>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Visual evidence</a:t>
            </a:r>
          </a:p>
        </p:txBody>
      </p:sp>
      <p:sp>
        <p:nvSpPr>
          <p:cNvPr id="3" name="">
            <a:extLst xmlns:a="http://schemas.openxmlformats.org/drawingml/2006/main">
              <a:ext uri="{FF2B5EF4-FFF2-40B4-BE49-F238E27FC236}">
                <a16:creationId xmlns:a16="http://schemas.microsoft.com/office/drawing/2014/main" id="{176EEF0B-7B6B-4353-803E-9D91DB9F0A5C}"/>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2AA120C4-3F87-426C-8488-1431815F6DEB}"/>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12</a:t>
            </a:r>
          </a:p>
        </p:txBody>
      </p:sp>
      <p:sp>
        <p:nvSpPr>
          <p:cNvPr id="5" name="">
            <a:extLst xmlns:a="http://schemas.openxmlformats.org/drawingml/2006/main">
              <a:ext uri="{FF2B5EF4-FFF2-40B4-BE49-F238E27FC236}">
                <a16:creationId xmlns:a16="http://schemas.microsoft.com/office/drawing/2014/main" id="{6DF52C77-497F-40E8-BD2B-0F454268B2F8}"/>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0F7218B7-09D1-42B2-A104-807DC039309C}"/>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Draw the control chart, a confusion matrix of classifier hits and misses, and actual versus predicted counts.</a:t>
            </a:r>
          </a:p>
        </p:txBody>
      </p:sp>
      <p:sp>
        <p:nvSpPr>
          <p:cNvPr id="7" name="">
            <a:extLst xmlns:a="http://schemas.openxmlformats.org/drawingml/2006/main">
              <a:ext uri="{FF2B5EF4-FFF2-40B4-BE49-F238E27FC236}">
                <a16:creationId xmlns:a16="http://schemas.microsoft.com/office/drawing/2014/main" id="{3ACA8670-5B4E-4C7B-95A0-1D3AC5FC5241}"/>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F609E242-2626-464C-BDF2-80299FD7BABF}"/>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Matplotlib time-series plots and a held-out confusion matrix.</a:t>
            </a:r>
          </a:p>
        </p:txBody>
      </p:sp>
      <p:sp>
        <p:nvSpPr>
          <p:cNvPr id="9" name="">
            <a:extLst xmlns:a="http://schemas.openxmlformats.org/drawingml/2006/main">
              <a:ext uri="{FF2B5EF4-FFF2-40B4-BE49-F238E27FC236}">
                <a16:creationId xmlns:a16="http://schemas.microsoft.com/office/drawing/2014/main" id="{9B4682EB-1A2C-4475-8396-2C09B4831997}"/>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BB58B308-8E5C-477B-917C-D18D8B361B7D}"/>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Three notebook figures. The charts use fabricated series; they appear during the live run.</a:t>
            </a:r>
          </a:p>
        </p:txBody>
      </p:sp>
      <p:sp>
        <p:nvSpPr>
          <p:cNvPr id="11" name="">
            <a:extLst xmlns:a="http://schemas.openxmlformats.org/drawingml/2006/main">
              <a:ext uri="{FF2B5EF4-FFF2-40B4-BE49-F238E27FC236}">
                <a16:creationId xmlns:a16="http://schemas.microsoft.com/office/drawing/2014/main" id="{45D0B1C5-9152-4F54-AD6E-D99848326910}"/>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6E04347A-894E-460C-B8BA-F4B995606A8A}"/>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A circled point means a rule fired somewhere in the previous window; it need not cross the XmR line shown.</a:t>
            </a:r>
          </a:p>
        </p:txBody>
      </p:sp>
    </p:spTree>
    <p:extLst>
      <p:ext uri="{BB962C8B-B14F-4D97-AF65-F5344CB8AC3E}">
        <p14:creationId xmlns:p14="http://schemas.microsoft.com/office/powerpoint/2010/main" val="1660821016"/>
      </p:ext>
    </p:extLst>
  </p:cSld>
</p:sld>
</file>

<file path=ppt/slides/slide1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6B34627-BABE-4520-B178-B95AEED31BF1}"/>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8 OF 10</a:t>
            </a:r>
          </a:p>
        </p:txBody>
      </p:sp>
      <p:sp>
        <p:nvSpPr>
          <p:cNvPr id="2" name="">
            <a:extLst xmlns:a="http://schemas.openxmlformats.org/drawingml/2006/main">
              <a:ext uri="{FF2B5EF4-FFF2-40B4-BE49-F238E27FC236}">
                <a16:creationId xmlns:a16="http://schemas.microsoft.com/office/drawing/2014/main" id="{4FC1E671-4F98-442A-AE4E-9EB1FE00DB27}"/>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Analyst review episodes</a:t>
            </a:r>
          </a:p>
        </p:txBody>
      </p:sp>
      <p:sp>
        <p:nvSpPr>
          <p:cNvPr id="3" name="">
            <a:extLst xmlns:a="http://schemas.openxmlformats.org/drawingml/2006/main">
              <a:ext uri="{FF2B5EF4-FFF2-40B4-BE49-F238E27FC236}">
                <a16:creationId xmlns:a16="http://schemas.microsoft.com/office/drawing/2014/main" id="{7D26CCA1-59AB-4160-8686-69B1DBFD536F}"/>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A8A265E0-3263-4132-9B95-49A74257A3A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13</a:t>
            </a:r>
          </a:p>
        </p:txBody>
      </p:sp>
      <p:sp>
        <p:nvSpPr>
          <p:cNvPr id="5" name="">
            <a:extLst xmlns:a="http://schemas.openxmlformats.org/drawingml/2006/main">
              <a:ext uri="{FF2B5EF4-FFF2-40B4-BE49-F238E27FC236}">
                <a16:creationId xmlns:a16="http://schemas.microsoft.com/office/drawing/2014/main" id="{90679DE1-686F-4463-85C6-86A73D5B5E8E}"/>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3A0BA942-3A7F-4D08-BDA5-B3A7B97DDF1F}"/>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Group consecutive flagged days into a smaller list for a person to inspect.</a:t>
            </a:r>
          </a:p>
        </p:txBody>
      </p:sp>
      <p:sp>
        <p:nvSpPr>
          <p:cNvPr id="7" name="">
            <a:extLst xmlns:a="http://schemas.openxmlformats.org/drawingml/2006/main">
              <a:ext uri="{FF2B5EF4-FFF2-40B4-BE49-F238E27FC236}">
                <a16:creationId xmlns:a16="http://schemas.microsoft.com/office/drawing/2014/main" id="{59B3DACB-0725-456B-BF21-F8DAE687B7E5}"/>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B11CC230-24B3-416A-AF8D-3A0F6908C8D9}"/>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Group-by, change detection, cumulative episode IDs, and a one-row monitoring snapshot.</a:t>
            </a:r>
          </a:p>
        </p:txBody>
      </p:sp>
      <p:sp>
        <p:nvSpPr>
          <p:cNvPr id="9" name="">
            <a:extLst xmlns:a="http://schemas.openxmlformats.org/drawingml/2006/main">
              <a:ext uri="{FF2B5EF4-FFF2-40B4-BE49-F238E27FC236}">
                <a16:creationId xmlns:a16="http://schemas.microsoft.com/office/drawing/2014/main" id="{5576801B-DB03-4D1F-9699-57DABBE66CA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27D0DC90-6E59-4DDB-A136-48501F519362}"/>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479 flagged windows consolidate into 30 episodes on this demo run. The visible queue shows 15 episodes with the latest signal dates.</a:t>
            </a:r>
          </a:p>
        </p:txBody>
      </p:sp>
      <p:sp>
        <p:nvSpPr>
          <p:cNvPr id="11" name="">
            <a:extLst xmlns:a="http://schemas.openxmlformats.org/drawingml/2006/main">
              <a:ext uri="{FF2B5EF4-FFF2-40B4-BE49-F238E27FC236}">
                <a16:creationId xmlns:a16="http://schemas.microsoft.com/office/drawing/2014/main" id="{E891BC61-464A-434C-8872-BE93482A0AF2}"/>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3AC64767-BC22-463D-A64B-46C2C065BC97}"/>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These entries stay pending. No notification, recorded disposition, or operational action is implemented.</a:t>
            </a:r>
          </a:p>
        </p:txBody>
      </p:sp>
    </p:spTree>
    <p:extLst>
      <p:ext uri="{BB962C8B-B14F-4D97-AF65-F5344CB8AC3E}">
        <p14:creationId xmlns:p14="http://schemas.microsoft.com/office/powerpoint/2010/main" val="2012597719"/>
      </p:ext>
    </p:extLst>
  </p:cSld>
</p:sld>
</file>

<file path=ppt/slides/slide1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CC5A28-450A-4454-9FAF-4E17E2825B46}"/>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9 OF 10</a:t>
            </a:r>
          </a:p>
        </p:txBody>
      </p:sp>
      <p:sp>
        <p:nvSpPr>
          <p:cNvPr id="2" name="">
            <a:extLst xmlns:a="http://schemas.openxmlformats.org/drawingml/2006/main">
              <a:ext uri="{FF2B5EF4-FFF2-40B4-BE49-F238E27FC236}">
                <a16:creationId xmlns:a16="http://schemas.microsoft.com/office/drawing/2014/main" id="{51828536-F8EE-441A-99A1-F72293B60355}"/>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MLflow record</a:t>
            </a:r>
          </a:p>
        </p:txBody>
      </p:sp>
      <p:sp>
        <p:nvSpPr>
          <p:cNvPr id="3" name="">
            <a:extLst xmlns:a="http://schemas.openxmlformats.org/drawingml/2006/main">
              <a:ext uri="{FF2B5EF4-FFF2-40B4-BE49-F238E27FC236}">
                <a16:creationId xmlns:a16="http://schemas.microsoft.com/office/drawing/2014/main" id="{F6F01C83-3D7F-40F5-889F-3D273AF15B56}"/>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D80D8CAC-BBFE-4AE3-8BF2-0EDBB530BEF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14</a:t>
            </a:r>
          </a:p>
        </p:txBody>
      </p:sp>
      <p:sp>
        <p:nvSpPr>
          <p:cNvPr id="5" name="">
            <a:extLst xmlns:a="http://schemas.openxmlformats.org/drawingml/2006/main">
              <a:ext uri="{FF2B5EF4-FFF2-40B4-BE49-F238E27FC236}">
                <a16:creationId xmlns:a16="http://schemas.microsoft.com/office/drawing/2014/main" id="{73FCF644-956A-4FF6-8399-CEADF06F37B7}"/>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4C3A5134-9D71-4F71-8A8D-EC875562F525}"/>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Write down the settings, test scores and model files for this run.</a:t>
            </a:r>
          </a:p>
        </p:txBody>
      </p:sp>
      <p:sp>
        <p:nvSpPr>
          <p:cNvPr id="7" name="">
            <a:extLst xmlns:a="http://schemas.openxmlformats.org/drawingml/2006/main">
              <a:ext uri="{FF2B5EF4-FFF2-40B4-BE49-F238E27FC236}">
                <a16:creationId xmlns:a16="http://schemas.microsoft.com/office/drawing/2014/main" id="{5F611DF6-AE37-4488-879E-42B87FEA6100}"/>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63DCBA53-ACD2-4EB6-9485-95293C885CFB}"/>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MLflow experiment tracking and optional Unity Catalog model registration.</a:t>
            </a:r>
          </a:p>
        </p:txBody>
      </p:sp>
      <p:sp>
        <p:nvSpPr>
          <p:cNvPr id="9" name="">
            <a:extLst xmlns:a="http://schemas.openxmlformats.org/drawingml/2006/main">
              <a:ext uri="{FF2B5EF4-FFF2-40B4-BE49-F238E27FC236}">
                <a16:creationId xmlns:a16="http://schemas.microsoft.com/office/drawing/2014/main" id="{8FB7E031-B406-4D81-92B2-3675B10620B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D5B16BD6-3AD8-41E5-BF87-ACB5F8BAFAC4}"/>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In Databricks, look for a run ID and two logged model URIs. Registration only happens if UC_MODEL_NAME is filled in.</a:t>
            </a:r>
          </a:p>
        </p:txBody>
      </p:sp>
      <p:sp>
        <p:nvSpPr>
          <p:cNvPr id="11" name="">
            <a:extLst xmlns:a="http://schemas.openxmlformats.org/drawingml/2006/main">
              <a:ext uri="{FF2B5EF4-FFF2-40B4-BE49-F238E27FC236}">
                <a16:creationId xmlns:a16="http://schemas.microsoft.com/office/drawing/2014/main" id="{5A019A35-686D-411A-8EE8-417BDE96C7B1}"/>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F4C98BF4-0F7B-4185-B906-B6F9771B06DA}"/>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A logged run aids inspection; full reproducibility also needs the notebook revision, dependencies and input ID.</a:t>
            </a:r>
          </a:p>
        </p:txBody>
      </p:sp>
    </p:spTree>
    <p:extLst>
      <p:ext uri="{BB962C8B-B14F-4D97-AF65-F5344CB8AC3E}">
        <p14:creationId xmlns:p14="http://schemas.microsoft.com/office/powerpoint/2010/main" val="689562487"/>
      </p:ext>
    </p:extLst>
  </p:cSld>
</p:sld>
</file>

<file path=ppt/slides/slide1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86674E-1451-4B66-B000-DE3A8343D6C0}"/>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10 OF 10</a:t>
            </a:r>
          </a:p>
        </p:txBody>
      </p:sp>
      <p:sp>
        <p:nvSpPr>
          <p:cNvPr id="2" name="">
            <a:extLst xmlns:a="http://schemas.openxmlformats.org/drawingml/2006/main">
              <a:ext uri="{FF2B5EF4-FFF2-40B4-BE49-F238E27FC236}">
                <a16:creationId xmlns:a16="http://schemas.microsoft.com/office/drawing/2014/main" id="{164DE90A-8B5C-42B1-96F2-5F94086A0D1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Optional Delta tables</a:t>
            </a:r>
          </a:p>
        </p:txBody>
      </p:sp>
      <p:sp>
        <p:nvSpPr>
          <p:cNvPr id="3" name="">
            <a:extLst xmlns:a="http://schemas.openxmlformats.org/drawingml/2006/main">
              <a:ext uri="{FF2B5EF4-FFF2-40B4-BE49-F238E27FC236}">
                <a16:creationId xmlns:a16="http://schemas.microsoft.com/office/drawing/2014/main" id="{D96AC551-113D-425B-BF00-5BCC0A051B8A}"/>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22BB01B8-3A30-4DD9-ACDE-A112F6D9B65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15</a:t>
            </a:r>
          </a:p>
        </p:txBody>
      </p:sp>
      <p:sp>
        <p:nvSpPr>
          <p:cNvPr id="5" name="">
            <a:extLst xmlns:a="http://schemas.openxmlformats.org/drawingml/2006/main">
              <a:ext uri="{FF2B5EF4-FFF2-40B4-BE49-F238E27FC236}">
                <a16:creationId xmlns:a16="http://schemas.microsoft.com/office/drawing/2014/main" id="{4861A07F-BE1E-482E-8AC0-3454E0600B8D}"/>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it does</a:t>
            </a:r>
          </a:p>
        </p:txBody>
      </p:sp>
      <p:sp>
        <p:nvSpPr>
          <p:cNvPr id="6" name="">
            <a:extLst xmlns:a="http://schemas.openxmlformats.org/drawingml/2006/main">
              <a:ext uri="{FF2B5EF4-FFF2-40B4-BE49-F238E27FC236}">
                <a16:creationId xmlns:a16="http://schemas.microsoft.com/office/drawing/2014/main" id="{7BCE48F8-F85C-41A0-981D-672E08FD1BF5}"/>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Save the fictional source and calculated results to tables for later queries or a dashboard.</a:t>
            </a:r>
          </a:p>
        </p:txBody>
      </p:sp>
      <p:sp>
        <p:nvSpPr>
          <p:cNvPr id="7" name="">
            <a:extLst xmlns:a="http://schemas.openxmlformats.org/drawingml/2006/main">
              <a:ext uri="{FF2B5EF4-FFF2-40B4-BE49-F238E27FC236}">
                <a16:creationId xmlns:a16="http://schemas.microsoft.com/office/drawing/2014/main" id="{9B76D9CB-37B3-4148-9648-E530579B6336}"/>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Technology / data science</a:t>
            </a:r>
          </a:p>
        </p:txBody>
      </p:sp>
      <p:sp>
        <p:nvSpPr>
          <p:cNvPr id="8" name="">
            <a:extLst xmlns:a="http://schemas.openxmlformats.org/drawingml/2006/main">
              <a:ext uri="{FF2B5EF4-FFF2-40B4-BE49-F238E27FC236}">
                <a16:creationId xmlns:a16="http://schemas.microsoft.com/office/drawing/2014/main" id="{A88142C4-DF37-4C91-B4FF-0CBDAB3FB376}"/>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Spark DataFrame writes to six managed Delta tables in an existing Unity Catalog schema.</a:t>
            </a:r>
          </a:p>
        </p:txBody>
      </p:sp>
      <p:sp>
        <p:nvSpPr>
          <p:cNvPr id="9" name="">
            <a:extLst xmlns:a="http://schemas.openxmlformats.org/drawingml/2006/main">
              <a:ext uri="{FF2B5EF4-FFF2-40B4-BE49-F238E27FC236}">
                <a16:creationId xmlns:a16="http://schemas.microsoft.com/office/drawing/2014/main" id="{B7DF7083-54D5-41C5-A935-A1D35BEE8A40}"/>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What to inspect</a:t>
            </a:r>
          </a:p>
        </p:txBody>
      </p:sp>
      <p:sp>
        <p:nvSpPr>
          <p:cNvPr id="10" name="">
            <a:extLst xmlns:a="http://schemas.openxmlformats.org/drawingml/2006/main">
              <a:ext uri="{FF2B5EF4-FFF2-40B4-BE49-F238E27FC236}">
                <a16:creationId xmlns:a16="http://schemas.microsoft.com/office/drawing/2014/main" id="{98C847E6-20D9-446B-878A-FBB5BC44066D}"/>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Tables are demo_daily, spc_signals, spc_predictions, count_forecasts, review_queue and monitoring_snapshot.</a:t>
            </a:r>
          </a:p>
        </p:txBody>
      </p:sp>
      <p:sp>
        <p:nvSpPr>
          <p:cNvPr id="11" name="">
            <a:extLst xmlns:a="http://schemas.openxmlformats.org/drawingml/2006/main">
              <a:ext uri="{FF2B5EF4-FFF2-40B4-BE49-F238E27FC236}">
                <a16:creationId xmlns:a16="http://schemas.microsoft.com/office/drawing/2014/main" id="{97CABF37-5F13-4CE8-8F24-A7975D25B030}"/>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Interpretation</a:t>
            </a:r>
          </a:p>
        </p:txBody>
      </p:sp>
      <p:sp>
        <p:nvSpPr>
          <p:cNvPr id="12" name="">
            <a:extLst xmlns:a="http://schemas.openxmlformats.org/drawingml/2006/main">
              <a:ext uri="{FF2B5EF4-FFF2-40B4-BE49-F238E27FC236}">
                <a16:creationId xmlns:a16="http://schemas.microsoft.com/office/drawing/2014/main" id="{4E759F3E-E176-4E4C-B661-443BDA1160BF}"/>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Default is off. Overwrite mode belongs only in a dedicated demo schema, after permissions are confirmed.</a:t>
            </a:r>
          </a:p>
        </p:txBody>
      </p:sp>
    </p:spTree>
    <p:extLst>
      <p:ext uri="{BB962C8B-B14F-4D97-AF65-F5344CB8AC3E}">
        <p14:creationId xmlns:p14="http://schemas.microsoft.com/office/powerpoint/2010/main" val="1037132997"/>
      </p:ext>
    </p:extLst>
  </p:cSld>
</p:sld>
</file>

<file path=ppt/slides/slide1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8E4AAD8-7A80-42FE-B80E-450B0064E0E2}"/>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MEASURED RESULT</a:t>
            </a:r>
          </a:p>
        </p:txBody>
      </p:sp>
      <p:sp>
        <p:nvSpPr>
          <p:cNvPr id="2" name="">
            <a:extLst xmlns:a="http://schemas.openxmlformats.org/drawingml/2006/main">
              <a:ext uri="{FF2B5EF4-FFF2-40B4-BE49-F238E27FC236}">
                <a16:creationId xmlns:a16="http://schemas.microsoft.com/office/drawing/2014/main" id="{BD410CC5-5014-43F0-AAB4-7EB812DEBC32}"/>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This demo run gives two different ML verdicts</a:t>
            </a:r>
          </a:p>
        </p:txBody>
      </p:sp>
      <p:sp>
        <p:nvSpPr>
          <p:cNvPr id="3" name="">
            <a:extLst xmlns:a="http://schemas.openxmlformats.org/drawingml/2006/main">
              <a:ext uri="{FF2B5EF4-FFF2-40B4-BE49-F238E27FC236}">
                <a16:creationId xmlns:a16="http://schemas.microsoft.com/office/drawing/2014/main" id="{8A381E90-CB9D-458A-AC46-E5B40A864EDD}"/>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3429B1F1-E803-489E-B00A-FA97BDE77E5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16</a:t>
            </a:r>
          </a:p>
        </p:txBody>
      </p:sp>
      <p:sp>
        <p:nvSpPr>
          <p:cNvPr id="5" name="">
            <a:extLst xmlns:a="http://schemas.openxmlformats.org/drawingml/2006/main">
              <a:ext uri="{FF2B5EF4-FFF2-40B4-BE49-F238E27FC236}">
                <a16:creationId xmlns:a16="http://schemas.microsoft.com/office/drawing/2014/main" id="{35C3940A-197C-49A3-BCA0-0292EA1B17F4}"/>
              </a:ext>
            </a:extLst>
          </p:cNvPr>
          <p:cNvSpPr>
            <a:spLocks xmlns:a="http://schemas.openxmlformats.org/drawingml/2006/main" noGrp="1"/>
          </p:cNvSpPr>
          <p:nvPr/>
        </p:nvSpPr>
        <p:spPr>
          <a:xfrm xmlns:a="http://schemas.openxmlformats.org/drawingml/2006/main">
            <a:off x="704850" y="18954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Rule-label classifier</a:t>
            </a:r>
          </a:p>
        </p:txBody>
      </p:sp>
      <p:sp>
        <p:nvSpPr>
          <p:cNvPr id="6" name="">
            <a:extLst xmlns:a="http://schemas.openxmlformats.org/drawingml/2006/main">
              <a:ext uri="{FF2B5EF4-FFF2-40B4-BE49-F238E27FC236}">
                <a16:creationId xmlns:a16="http://schemas.microsoft.com/office/drawing/2014/main" id="{E28A4621-CFE5-489A-85DE-271E3DC940FE}"/>
              </a:ext>
            </a:extLst>
          </p:cNvPr>
          <p:cNvSpPr>
            <a:spLocks xmlns:a="http://schemas.openxmlformats.org/drawingml/2006/main" noGrp="1"/>
          </p:cNvSpPr>
          <p:nvPr/>
        </p:nvSpPr>
        <p:spPr>
          <a:xfrm xmlns:a="http://schemas.openxmlformats.org/drawingml/2006/main">
            <a:off x="704850" y="2352675"/>
            <a:ext cx="49149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75.0%</a:t>
            </a:r>
            <a:r>
              <a:rPr sz="2025" b="0">
                <a:solidFill>
                  <a:srgbClr val="153246"/>
                </a:solidFill>
                <a:latin typeface="Bitstream Charter"/>
                <a:ea typeface="Bitstream Charter"/>
                <a:cs typeface="Bitstream Charter"/>
              </a:rPr>
              <a:t> accuracy</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78.1% always-signal baseline</a:t>
            </a:r>
          </a:p>
          <a:p xmlns:a="http://schemas.openxmlformats.org/drawingml/2006/main">
            <a:r>
              <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Use the known SPC rules.</a:t>
            </a:r>
          </a:p>
        </p:txBody>
      </p:sp>
      <p:sp>
        <p:nvSpPr>
          <p:cNvPr id="7" name="">
            <a:extLst xmlns:a="http://schemas.openxmlformats.org/drawingml/2006/main">
              <a:ext uri="{FF2B5EF4-FFF2-40B4-BE49-F238E27FC236}">
                <a16:creationId xmlns:a16="http://schemas.microsoft.com/office/drawing/2014/main" id="{2B962AD3-F1CF-412B-BCE8-4B2C19889D42}"/>
              </a:ext>
            </a:extLst>
          </p:cNvPr>
          <p:cNvSpPr>
            <a:spLocks xmlns:a="http://schemas.openxmlformats.org/drawingml/2006/main" noGrp="1"/>
          </p:cNvSpPr>
          <p:nvPr/>
        </p:nvSpPr>
        <p:spPr>
          <a:xfrm xmlns:a="http://schemas.openxmlformats.org/drawingml/2006/main">
            <a:off x="6362700" y="1895475"/>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One-day count forecast</a:t>
            </a:r>
          </a:p>
        </p:txBody>
      </p:sp>
      <p:sp>
        <p:nvSpPr>
          <p:cNvPr id="8" name="">
            <a:extLst xmlns:a="http://schemas.openxmlformats.org/drawingml/2006/main">
              <a:ext uri="{FF2B5EF4-FFF2-40B4-BE49-F238E27FC236}">
                <a16:creationId xmlns:a16="http://schemas.microsoft.com/office/drawing/2014/main" id="{CDFEF416-7305-44D9-BC3B-2637B2425854}"/>
              </a:ext>
            </a:extLst>
          </p:cNvPr>
          <p:cNvSpPr>
            <a:spLocks xmlns:a="http://schemas.openxmlformats.org/drawingml/2006/main" noGrp="1"/>
          </p:cNvSpPr>
          <p:nvPr/>
        </p:nvSpPr>
        <p:spPr>
          <a:xfrm xmlns:a="http://schemas.openxmlformats.org/drawingml/2006/main">
            <a:off x="6362700" y="2352675"/>
            <a:ext cx="5048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8.85 counts MAE</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9.73 counts simple-average MAE</a:t>
            </a:r>
          </a:p>
          <a:p xmlns:a="http://schemas.openxmlformats.org/drawingml/2006/main">
            <a:r>
              <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Candidate for further validation.</a:t>
            </a:r>
          </a:p>
        </p:txBody>
      </p:sp>
      <p:sp>
        <p:nvSpPr>
          <p:cNvPr id="9" name="">
            <a:extLst xmlns:a="http://schemas.openxmlformats.org/drawingml/2006/main">
              <a:ext uri="{FF2B5EF4-FFF2-40B4-BE49-F238E27FC236}">
                <a16:creationId xmlns:a16="http://schemas.microsoft.com/office/drawing/2014/main" id="{7A8CCDB0-0780-4076-81E1-1A9B648679F3}"/>
              </a:ext>
            </a:extLst>
          </p:cNvPr>
          <p:cNvSpPr>
            <a:spLocks xmlns:a="http://schemas.openxmlformats.org/drawingml/2006/main" noGrp="1"/>
          </p:cNvSpPr>
          <p:nvPr/>
        </p:nvSpPr>
        <p:spPr>
          <a:xfrm xmlns:a="http://schemas.openxmlformats.org/drawingml/2006/main">
            <a:off x="704850" y="5429250"/>
            <a:ext cx="1038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526675"/>
                </a:solidFill>
                <a:latin typeface="Bitstream Charter"/>
                <a:ea typeface="Bitstream Charter"/>
                <a:cs typeface="Bitstream Charter"/>
              </a:defRPr>
            </a:pPr>
            <a:r>
              <a:rPr sz="1650" b="0">
                <a:solidFill>
                  <a:srgbClr val="526675"/>
                </a:solidFill>
                <a:latin typeface="Bitstream Charter"/>
                <a:ea typeface="Bitstream Charter"/>
                <a:cs typeface="Bitstream Charter"/>
              </a:rPr>
              <a:t>Both comparisons use later demo dates with a gap between training and test windows.</a:t>
            </a:r>
          </a:p>
        </p:txBody>
      </p:sp>
    </p:spTree>
    <p:extLst>
      <p:ext uri="{BB962C8B-B14F-4D97-AF65-F5344CB8AC3E}">
        <p14:creationId xmlns:p14="http://schemas.microsoft.com/office/powerpoint/2010/main" val="47939383"/>
      </p:ext>
    </p:extLst>
  </p:cSld>
</p:sld>
</file>

<file path=ppt/slides/slide1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E1152A-8667-4079-ADFF-F42B9B4976C1}"/>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OPERATING MODEL</a:t>
            </a:r>
          </a:p>
        </p:txBody>
      </p:sp>
      <p:sp>
        <p:nvSpPr>
          <p:cNvPr id="2" name="">
            <a:extLst xmlns:a="http://schemas.openxmlformats.org/drawingml/2006/main">
              <a:ext uri="{FF2B5EF4-FFF2-40B4-BE49-F238E27FC236}">
                <a16:creationId xmlns:a16="http://schemas.microsoft.com/office/drawing/2014/main" id="{546104A9-C8BB-4C0E-9B5C-1F545C6A736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How the parts work together</a:t>
            </a:r>
          </a:p>
        </p:txBody>
      </p:sp>
      <p:sp>
        <p:nvSpPr>
          <p:cNvPr id="3" name="">
            <a:extLst xmlns:a="http://schemas.openxmlformats.org/drawingml/2006/main">
              <a:ext uri="{FF2B5EF4-FFF2-40B4-BE49-F238E27FC236}">
                <a16:creationId xmlns:a16="http://schemas.microsoft.com/office/drawing/2014/main" id="{C75A21BA-3D19-42A8-93D1-F2713C29C74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1C8FCD0D-99C6-4455-B376-074E4ECC1B8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17</a:t>
            </a:r>
          </a:p>
        </p:txBody>
      </p:sp>
      <p:sp>
        <p:nvSpPr>
          <p:cNvPr id="5" name="">
            <a:extLst xmlns:a="http://schemas.openxmlformats.org/drawingml/2006/main">
              <a:ext uri="{FF2B5EF4-FFF2-40B4-BE49-F238E27FC236}">
                <a16:creationId xmlns:a16="http://schemas.microsoft.com/office/drawing/2014/main" id="{E9E450AB-682B-418F-AA59-43BE6EB45E77}"/>
              </a:ext>
            </a:extLst>
          </p:cNvPr>
          <p:cNvSpPr>
            <a:spLocks xmlns:a="http://schemas.openxmlformats.org/drawingml/2006/main" noGrp="1"/>
          </p:cNvSpPr>
          <p:nvPr/>
        </p:nvSpPr>
        <p:spPr>
          <a:xfrm xmlns:a="http://schemas.openxmlformats.org/drawingml/2006/main">
            <a:off x="704850" y="17907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1  Observe and check</a:t>
            </a:r>
          </a:p>
        </p:txBody>
      </p:sp>
      <p:sp>
        <p:nvSpPr>
          <p:cNvPr id="6" name="">
            <a:extLst xmlns:a="http://schemas.openxmlformats.org/drawingml/2006/main">
              <a:ext uri="{FF2B5EF4-FFF2-40B4-BE49-F238E27FC236}">
                <a16:creationId xmlns:a16="http://schemas.microsoft.com/office/drawing/2014/main" id="{8100784E-87F3-4348-84E2-AE0DB067CF54}"/>
              </a:ext>
            </a:extLst>
          </p:cNvPr>
          <p:cNvSpPr>
            <a:spLocks xmlns:a="http://schemas.openxmlformats.org/drawingml/2006/main" noGrp="1"/>
          </p:cNvSpPr>
          <p:nvPr/>
        </p:nvSpPr>
        <p:spPr>
          <a:xfrm xmlns:a="http://schemas.openxmlformats.org/drawingml/2006/main">
            <a:off x="704850" y="21717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Validate a daily count, compare recent behavior with a reference period, and retain the rule that fired.</a:t>
            </a:r>
          </a:p>
        </p:txBody>
      </p:sp>
      <p:sp>
        <p:nvSpPr>
          <p:cNvPr id="7" name="">
            <a:extLst xmlns:a="http://schemas.openxmlformats.org/drawingml/2006/main">
              <a:ext uri="{FF2B5EF4-FFF2-40B4-BE49-F238E27FC236}">
                <a16:creationId xmlns:a16="http://schemas.microsoft.com/office/drawing/2014/main" id="{5EBAB742-66D2-40FE-812B-D550ED6B5168}"/>
              </a:ext>
            </a:extLst>
          </p:cNvPr>
          <p:cNvSpPr>
            <a:spLocks xmlns:a="http://schemas.openxmlformats.org/drawingml/2006/main" noGrp="1"/>
          </p:cNvSpPr>
          <p:nvPr/>
        </p:nvSpPr>
        <p:spPr>
          <a:xfrm xmlns:a="http://schemas.openxmlformats.org/drawingml/2006/main">
            <a:off x="704850" y="30384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2  Evaluate ML separately</a:t>
            </a:r>
          </a:p>
        </p:txBody>
      </p:sp>
      <p:sp>
        <p:nvSpPr>
          <p:cNvPr id="8" name="">
            <a:extLst xmlns:a="http://schemas.openxmlformats.org/drawingml/2006/main">
              <a:ext uri="{FF2B5EF4-FFF2-40B4-BE49-F238E27FC236}">
                <a16:creationId xmlns:a16="http://schemas.microsoft.com/office/drawing/2014/main" id="{40C9752C-355A-48AF-9939-8F0B4BB563EC}"/>
              </a:ext>
            </a:extLst>
          </p:cNvPr>
          <p:cNvSpPr>
            <a:spLocks xmlns:a="http://schemas.openxmlformats.org/drawingml/2006/main" noGrp="1"/>
          </p:cNvSpPr>
          <p:nvPr/>
        </p:nvSpPr>
        <p:spPr>
          <a:xfrm xmlns:a="http://schemas.openxmlformats.org/drawingml/2006/main">
            <a:off x="704850" y="341947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Test label imitation against direct rules; test the future count forecast against a simple moving average.</a:t>
            </a:r>
          </a:p>
        </p:txBody>
      </p:sp>
      <p:sp>
        <p:nvSpPr>
          <p:cNvPr id="9" name="">
            <a:extLst xmlns:a="http://schemas.openxmlformats.org/drawingml/2006/main">
              <a:ext uri="{FF2B5EF4-FFF2-40B4-BE49-F238E27FC236}">
                <a16:creationId xmlns:a16="http://schemas.microsoft.com/office/drawing/2014/main" id="{3E6D71FF-3431-44F6-9ADD-3CA05303D542}"/>
              </a:ext>
            </a:extLst>
          </p:cNvPr>
          <p:cNvSpPr>
            <a:spLocks xmlns:a="http://schemas.openxmlformats.org/drawingml/2006/main" noGrp="1"/>
          </p:cNvSpPr>
          <p:nvPr/>
        </p:nvSpPr>
        <p:spPr>
          <a:xfrm xmlns:a="http://schemas.openxmlformats.org/drawingml/2006/main">
            <a:off x="704850" y="43053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3  Review and record</a:t>
            </a:r>
          </a:p>
        </p:txBody>
      </p:sp>
      <p:sp>
        <p:nvSpPr>
          <p:cNvPr id="10" name="">
            <a:extLst xmlns:a="http://schemas.openxmlformats.org/drawingml/2006/main">
              <a:ext uri="{FF2B5EF4-FFF2-40B4-BE49-F238E27FC236}">
                <a16:creationId xmlns:a16="http://schemas.microsoft.com/office/drawing/2014/main" id="{711BA45E-4974-4764-B718-9BCB44C6BDA8}"/>
              </a:ext>
            </a:extLst>
          </p:cNvPr>
          <p:cNvSpPr>
            <a:spLocks xmlns:a="http://schemas.openxmlformats.org/drawingml/2006/main" noGrp="1"/>
          </p:cNvSpPr>
          <p:nvPr/>
        </p:nvSpPr>
        <p:spPr>
          <a:xfrm xmlns:a="http://schemas.openxmlformats.org/drawingml/2006/main">
            <a:off x="704850" y="46863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Group persistent flags into a pending review list. A pilot would add analyst investigation and recorded dispositions.</a:t>
            </a:r>
          </a:p>
        </p:txBody>
      </p:sp>
    </p:spTree>
    <p:extLst>
      <p:ext uri="{BB962C8B-B14F-4D97-AF65-F5344CB8AC3E}">
        <p14:creationId xmlns:p14="http://schemas.microsoft.com/office/powerpoint/2010/main" val="870971791"/>
      </p:ext>
    </p:extLst>
  </p:cSld>
</p:sld>
</file>

<file path=ppt/slides/slide1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CFFB30-4AF8-41DA-A714-E8AE69CCC9AC}"/>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USCIS REFERENCE</a:t>
            </a:r>
          </a:p>
        </p:txBody>
      </p:sp>
      <p:sp>
        <p:nvSpPr>
          <p:cNvPr id="2" name="">
            <a:extLst xmlns:a="http://schemas.openxmlformats.org/drawingml/2006/main">
              <a:ext uri="{FF2B5EF4-FFF2-40B4-BE49-F238E27FC236}">
                <a16:creationId xmlns:a16="http://schemas.microsoft.com/office/drawing/2014/main" id="{1E871B35-73D5-4D3D-AEA6-EF6C395FB42A}"/>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What the USCIS design contributed</a:t>
            </a:r>
          </a:p>
        </p:txBody>
      </p:sp>
      <p:sp>
        <p:nvSpPr>
          <p:cNvPr id="3" name="">
            <a:extLst xmlns:a="http://schemas.openxmlformats.org/drawingml/2006/main">
              <a:ext uri="{FF2B5EF4-FFF2-40B4-BE49-F238E27FC236}">
                <a16:creationId xmlns:a16="http://schemas.microsoft.com/office/drawing/2014/main" id="{0967759C-F403-490D-9410-9C83BC084D28}"/>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D9CB539D-67F9-4594-979A-4A1BE29314DA}"/>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18</a:t>
            </a:r>
          </a:p>
        </p:txBody>
      </p:sp>
      <p:sp>
        <p:nvSpPr>
          <p:cNvPr id="5" name="">
            <a:extLst xmlns:a="http://schemas.openxmlformats.org/drawingml/2006/main">
              <a:ext uri="{FF2B5EF4-FFF2-40B4-BE49-F238E27FC236}">
                <a16:creationId xmlns:a16="http://schemas.microsoft.com/office/drawing/2014/main" id="{8CC48D48-28E9-4910-81CE-DE6CAB65380D}"/>
              </a:ext>
            </a:extLst>
          </p:cNvPr>
          <p:cNvSpPr>
            <a:spLocks xmlns:a="http://schemas.openxmlformats.org/drawingml/2006/main" noGrp="1"/>
          </p:cNvSpPr>
          <p:nvPr/>
        </p:nvSpPr>
        <p:spPr>
          <a:xfrm xmlns:a="http://schemas.openxmlformats.org/drawingml/2006/main">
            <a:off x="704850" y="1847850"/>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087F77"/>
                </a:solidFill>
                <a:latin typeface="Bitstream Charter"/>
                <a:ea typeface="Bitstream Charter"/>
                <a:cs typeface="Bitstream Charter"/>
              </a:defRPr>
            </a:pPr>
            <a:r>
              <a:rPr sz="1875" b="1">
                <a:solidFill>
                  <a:srgbClr val="087F77"/>
                </a:solidFill>
                <a:latin typeface="Bitstream Charter"/>
                <a:ea typeface="Bitstream Charter"/>
                <a:cs typeface="Bitstream Charter"/>
              </a:rPr>
              <a:t>Documented reference design</a:t>
            </a:r>
          </a:p>
        </p:txBody>
      </p:sp>
      <p:sp>
        <p:nvSpPr>
          <p:cNvPr id="6" name="">
            <a:extLst xmlns:a="http://schemas.openxmlformats.org/drawingml/2006/main">
              <a:ext uri="{FF2B5EF4-FFF2-40B4-BE49-F238E27FC236}">
                <a16:creationId xmlns:a16="http://schemas.microsoft.com/office/drawing/2014/main" id="{9FC974AD-BF0B-4456-9576-665EE1CDAE8E}"/>
              </a:ext>
            </a:extLst>
          </p:cNvPr>
          <p:cNvSpPr>
            <a:spLocks xmlns:a="http://schemas.openxmlformats.org/drawingml/2006/main" noGrp="1"/>
          </p:cNvSpPr>
          <p:nvPr/>
        </p:nvSpPr>
        <p:spPr>
          <a:xfrm xmlns:a="http://schemas.openxmlformats.org/drawingml/2006/main">
            <a:off x="704850" y="2305050"/>
            <a:ext cx="101917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Forecasting and anomaly analysis alongside upstream lineage, which gives analysts more context for investigating a signal.</a:t>
            </a:r>
          </a:p>
        </p:txBody>
      </p:sp>
      <p:sp>
        <p:nvSpPr>
          <p:cNvPr id="7" name="">
            <a:extLst xmlns:a="http://schemas.openxmlformats.org/drawingml/2006/main">
              <a:ext uri="{FF2B5EF4-FFF2-40B4-BE49-F238E27FC236}">
                <a16:creationId xmlns:a16="http://schemas.microsoft.com/office/drawing/2014/main" id="{EE4FE0CB-4824-4DC5-9F1C-9655F3E7DE5C}"/>
              </a:ext>
            </a:extLst>
          </p:cNvPr>
          <p:cNvSpPr>
            <a:spLocks xmlns:a="http://schemas.openxmlformats.org/drawingml/2006/main" noGrp="1"/>
          </p:cNvSpPr>
          <p:nvPr/>
        </p:nvSpPr>
        <p:spPr>
          <a:xfrm xmlns:a="http://schemas.openxmlformats.org/drawingml/2006/main">
            <a:off x="704850" y="3857625"/>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B45136"/>
                </a:solidFill>
                <a:latin typeface="Bitstream Charter"/>
                <a:ea typeface="Bitstream Charter"/>
                <a:cs typeface="Bitstream Charter"/>
              </a:defRPr>
            </a:pPr>
            <a:r>
              <a:rPr sz="1875" b="1">
                <a:solidFill>
                  <a:srgbClr val="B45136"/>
                </a:solidFill>
                <a:latin typeface="Bitstream Charter"/>
                <a:ea typeface="Bitstream Charter"/>
                <a:cs typeface="Bitstream Charter"/>
              </a:rPr>
              <a:t>Claim boundary</a:t>
            </a:r>
          </a:p>
        </p:txBody>
      </p:sp>
      <p:sp>
        <p:nvSpPr>
          <p:cNvPr id="8" name="">
            <a:extLst xmlns:a="http://schemas.openxmlformats.org/drawingml/2006/main">
              <a:ext uri="{FF2B5EF4-FFF2-40B4-BE49-F238E27FC236}">
                <a16:creationId xmlns:a16="http://schemas.microsoft.com/office/drawing/2014/main" id="{649FA507-65DA-4C40-A529-DE3D0D15DE7E}"/>
              </a:ext>
            </a:extLst>
          </p:cNvPr>
          <p:cNvSpPr>
            <a:spLocks xmlns:a="http://schemas.openxmlformats.org/drawingml/2006/main" noGrp="1"/>
          </p:cNvSpPr>
          <p:nvPr/>
        </p:nvSpPr>
        <p:spPr>
          <a:xfrm xmlns:a="http://schemas.openxmlformats.org/drawingml/2006/main">
            <a:off x="704850" y="4324350"/>
            <a:ext cx="10191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The reference documents stale retraining-trigger fixes. Downstream alert grouping remains planned. No measured alert reduction or staff time saved was supplied.</a:t>
            </a:r>
          </a:p>
        </p:txBody>
      </p:sp>
    </p:spTree>
    <p:extLst>
      <p:ext uri="{BB962C8B-B14F-4D97-AF65-F5344CB8AC3E}">
        <p14:creationId xmlns:p14="http://schemas.microsoft.com/office/powerpoint/2010/main" val="314178886"/>
      </p:ext>
    </p:extLst>
  </p:cSld>
</p:sld>
</file>

<file path=ppt/slides/slide1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80BA11-3850-4313-9ABA-D2DC2EF89833}"/>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TRANSFER</a:t>
            </a:r>
          </a:p>
        </p:txBody>
      </p:sp>
      <p:sp>
        <p:nvSpPr>
          <p:cNvPr id="2" name="">
            <a:extLst xmlns:a="http://schemas.openxmlformats.org/drawingml/2006/main">
              <a:ext uri="{FF2B5EF4-FFF2-40B4-BE49-F238E27FC236}">
                <a16:creationId xmlns:a16="http://schemas.microsoft.com/office/drawing/2014/main" id="{B0952060-AFE5-44EA-A104-8C06DB522C4A}"/>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Where another agency could use this pattern</a:t>
            </a:r>
          </a:p>
        </p:txBody>
      </p:sp>
      <p:sp>
        <p:nvSpPr>
          <p:cNvPr id="3" name="">
            <a:extLst xmlns:a="http://schemas.openxmlformats.org/drawingml/2006/main">
              <a:ext uri="{FF2B5EF4-FFF2-40B4-BE49-F238E27FC236}">
                <a16:creationId xmlns:a16="http://schemas.microsoft.com/office/drawing/2014/main" id="{355BB077-0A43-4589-92F1-9C47A063AF22}"/>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B1AEFF23-1E06-4B30-A70D-03873D61BC57}"/>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19</a:t>
            </a:r>
          </a:p>
        </p:txBody>
      </p:sp>
      <p:sp>
        <p:nvSpPr>
          <p:cNvPr id="5" name="">
            <a:extLst xmlns:a="http://schemas.openxmlformats.org/drawingml/2006/main">
              <a:ext uri="{FF2B5EF4-FFF2-40B4-BE49-F238E27FC236}">
                <a16:creationId xmlns:a16="http://schemas.microsoft.com/office/drawing/2014/main" id="{374B8B23-C478-4C29-8417-44B12DEED46F}"/>
              </a:ext>
            </a:extLst>
          </p:cNvPr>
          <p:cNvSpPr>
            <a:spLocks xmlns:a="http://schemas.openxmlformats.org/drawingml/2006/main" noGrp="1"/>
          </p:cNvSpPr>
          <p:nvPr/>
        </p:nvSpPr>
        <p:spPr>
          <a:xfrm xmlns:a="http://schemas.openxmlformats.org/drawingml/2006/main">
            <a:off x="704850" y="18097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Suitable starting point</a:t>
            </a:r>
          </a:p>
        </p:txBody>
      </p:sp>
      <p:sp>
        <p:nvSpPr>
          <p:cNvPr id="6" name="">
            <a:extLst xmlns:a="http://schemas.openxmlformats.org/drawingml/2006/main">
              <a:ext uri="{FF2B5EF4-FFF2-40B4-BE49-F238E27FC236}">
                <a16:creationId xmlns:a16="http://schemas.microsoft.com/office/drawing/2014/main" id="{F9FC9817-20DA-4EFA-8BD4-D1354C982907}"/>
              </a:ext>
            </a:extLst>
          </p:cNvPr>
          <p:cNvSpPr>
            <a:spLocks xmlns:a="http://schemas.openxmlformats.org/drawingml/2006/main" noGrp="1"/>
          </p:cNvSpPr>
          <p:nvPr/>
        </p:nvSpPr>
        <p:spPr>
          <a:xfrm xmlns:a="http://schemas.openxmlformats.org/drawingml/2006/main">
            <a:off x="704850" y="219075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A recurring count with a stable definition, enough history, and an owner who can investigate exceptions.</a:t>
            </a:r>
          </a:p>
        </p:txBody>
      </p:sp>
      <p:sp>
        <p:nvSpPr>
          <p:cNvPr id="7" name="">
            <a:extLst xmlns:a="http://schemas.openxmlformats.org/drawingml/2006/main">
              <a:ext uri="{FF2B5EF4-FFF2-40B4-BE49-F238E27FC236}">
                <a16:creationId xmlns:a16="http://schemas.microsoft.com/office/drawing/2014/main" id="{F6409980-7C6D-4E3C-BB07-EF7BBD6F6AEA}"/>
              </a:ext>
            </a:extLst>
          </p:cNvPr>
          <p:cNvSpPr>
            <a:spLocks xmlns:a="http://schemas.openxmlformats.org/drawingml/2006/main" noGrp="1"/>
          </p:cNvSpPr>
          <p:nvPr/>
        </p:nvSpPr>
        <p:spPr>
          <a:xfrm xmlns:a="http://schemas.openxmlformats.org/drawingml/2006/main">
            <a:off x="704850" y="39433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Evidence required before use</a:t>
            </a:r>
          </a:p>
        </p:txBody>
      </p:sp>
      <p:sp>
        <p:nvSpPr>
          <p:cNvPr id="8" name="">
            <a:extLst xmlns:a="http://schemas.openxmlformats.org/drawingml/2006/main">
              <a:ext uri="{FF2B5EF4-FFF2-40B4-BE49-F238E27FC236}">
                <a16:creationId xmlns:a16="http://schemas.microsoft.com/office/drawing/2014/main" id="{65C04F43-60B1-4AF3-8FB9-59F6E9D1A7C0}"/>
              </a:ext>
            </a:extLst>
          </p:cNvPr>
          <p:cNvSpPr>
            <a:spLocks xmlns:a="http://schemas.openxmlformats.org/drawingml/2006/main" noGrp="1"/>
          </p:cNvSpPr>
          <p:nvPr/>
        </p:nvSpPr>
        <p:spPr>
          <a:xfrm xmlns:a="http://schemas.openxmlformats.org/drawingml/2006/main">
            <a:off x="704850" y="432435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Calibrate limits, check false alarms and subgroup effects, test forecasts on later real dates, define action and rollback.</a:t>
            </a:r>
          </a:p>
        </p:txBody>
      </p:sp>
    </p:spTree>
    <p:extLst>
      <p:ext uri="{BB962C8B-B14F-4D97-AF65-F5344CB8AC3E}">
        <p14:creationId xmlns:p14="http://schemas.microsoft.com/office/powerpoint/2010/main" val="1495623152"/>
      </p:ext>
    </p:extLst>
  </p:cSld>
</p:sld>
</file>

<file path=ppt/slides/slide2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9085843-1FF2-4117-BD7F-93FBA285F11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ORAL RFI COVERAGE</a:t>
            </a:r>
          </a:p>
        </p:txBody>
      </p:sp>
      <p:sp>
        <p:nvSpPr>
          <p:cNvPr id="2" name="">
            <a:extLst xmlns:a="http://schemas.openxmlformats.org/drawingml/2006/main">
              <a:ext uri="{FF2B5EF4-FFF2-40B4-BE49-F238E27FC236}">
                <a16:creationId xmlns:a16="http://schemas.microsoft.com/office/drawing/2014/main" id="{B51D1768-45B8-4E5B-91B9-CC43BFD45A99}"/>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Questions 1–7: what to show and explain</a:t>
            </a:r>
          </a:p>
        </p:txBody>
      </p:sp>
      <p:sp>
        <p:nvSpPr>
          <p:cNvPr id="3" name="">
            <a:extLst xmlns:a="http://schemas.openxmlformats.org/drawingml/2006/main">
              <a:ext uri="{FF2B5EF4-FFF2-40B4-BE49-F238E27FC236}">
                <a16:creationId xmlns:a16="http://schemas.microsoft.com/office/drawing/2014/main" id="{891A4C3B-D6FD-4B78-BD43-58108577C606}"/>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31AE9675-6125-4DF6-9ADE-E093EBA54979}"/>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20</a:t>
            </a:r>
          </a:p>
        </p:txBody>
      </p:sp>
      <p:sp>
        <p:nvSpPr>
          <p:cNvPr id="5" name="">
            <a:extLst xmlns:a="http://schemas.openxmlformats.org/drawingml/2006/main">
              <a:ext uri="{FF2B5EF4-FFF2-40B4-BE49-F238E27FC236}">
                <a16:creationId xmlns:a16="http://schemas.microsoft.com/office/drawing/2014/main" id="{4C6EA42C-BA27-4656-86A5-5680ED9292D7}"/>
              </a:ext>
            </a:extLst>
          </p:cNvPr>
          <p:cNvSpPr>
            <a:spLocks xmlns:a="http://schemas.openxmlformats.org/drawingml/2006/main" noGrp="1"/>
          </p:cNvSpPr>
          <p:nvPr/>
        </p:nvSpPr>
        <p:spPr>
          <a:xfrm xmlns:a="http://schemas.openxmlformats.org/drawingml/2006/main">
            <a:off x="704850" y="16764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  Working capability</a:t>
            </a:r>
          </a:p>
        </p:txBody>
      </p:sp>
      <p:sp>
        <p:nvSpPr>
          <p:cNvPr id="6" name="">
            <a:extLst xmlns:a="http://schemas.openxmlformats.org/drawingml/2006/main">
              <a:ext uri="{FF2B5EF4-FFF2-40B4-BE49-F238E27FC236}">
                <a16:creationId xmlns:a16="http://schemas.microsoft.com/office/drawing/2014/main" id="{B49964E4-9168-442C-ABFD-E99B24256936}"/>
              </a:ext>
            </a:extLst>
          </p:cNvPr>
          <p:cNvSpPr>
            <a:spLocks xmlns:a="http://schemas.openxmlformats.org/drawingml/2006/main" noGrp="1"/>
          </p:cNvSpPr>
          <p:nvPr/>
        </p:nvSpPr>
        <p:spPr>
          <a:xfrm xmlns:a="http://schemas.openxmlformats.org/drawingml/2006/main">
            <a:off x="4114800" y="16764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Run cells 1–10 live; show outputs, model comparison and review queue.</a:t>
            </a:r>
          </a:p>
        </p:txBody>
      </p:sp>
      <p:sp>
        <p:nvSpPr>
          <p:cNvPr id="7" name="">
            <a:extLst xmlns:a="http://schemas.openxmlformats.org/drawingml/2006/main">
              <a:ext uri="{FF2B5EF4-FFF2-40B4-BE49-F238E27FC236}">
                <a16:creationId xmlns:a16="http://schemas.microsoft.com/office/drawing/2014/main" id="{9EBC71F1-8AED-4DAD-9287-C67EFCB88957}"/>
              </a:ext>
            </a:extLst>
          </p:cNvPr>
          <p:cNvSpPr>
            <a:spLocks xmlns:a="http://schemas.openxmlformats.org/drawingml/2006/main" noGrp="1"/>
          </p:cNvSpPr>
          <p:nvPr/>
        </p:nvSpPr>
        <p:spPr>
          <a:xfrm xmlns:a="http://schemas.openxmlformats.org/drawingml/2006/main">
            <a:off x="704850" y="22764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2  Is ML warranted?</a:t>
            </a:r>
          </a:p>
        </p:txBody>
      </p:sp>
      <p:sp>
        <p:nvSpPr>
          <p:cNvPr id="8" name="">
            <a:extLst xmlns:a="http://schemas.openxmlformats.org/drawingml/2006/main">
              <a:ext uri="{FF2B5EF4-FFF2-40B4-BE49-F238E27FC236}">
                <a16:creationId xmlns:a16="http://schemas.microsoft.com/office/drawing/2014/main" id="{BE2C052D-E2DA-47AC-BD92-4DC9EAD6BCAE}"/>
              </a:ext>
            </a:extLst>
          </p:cNvPr>
          <p:cNvSpPr>
            <a:spLocks xmlns:a="http://schemas.openxmlformats.org/drawingml/2006/main" noGrp="1"/>
          </p:cNvSpPr>
          <p:nvPr/>
        </p:nvSpPr>
        <p:spPr>
          <a:xfrm xmlns:a="http://schemas.openxmlformats.org/drawingml/2006/main">
            <a:off x="4114800" y="22764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Classifier loses the baseline; use the direct SPC rules for that label.</a:t>
            </a:r>
          </a:p>
        </p:txBody>
      </p:sp>
      <p:sp>
        <p:nvSpPr>
          <p:cNvPr id="9" name="">
            <a:extLst xmlns:a="http://schemas.openxmlformats.org/drawingml/2006/main">
              <a:ext uri="{FF2B5EF4-FFF2-40B4-BE49-F238E27FC236}">
                <a16:creationId xmlns:a16="http://schemas.microsoft.com/office/drawing/2014/main" id="{B221EFCA-6DF3-4A78-BF1A-AF756B6E6945}"/>
              </a:ext>
            </a:extLst>
          </p:cNvPr>
          <p:cNvSpPr>
            <a:spLocks xmlns:a="http://schemas.openxmlformats.org/drawingml/2006/main" noGrp="1"/>
          </p:cNvSpPr>
          <p:nvPr/>
        </p:nvSpPr>
        <p:spPr>
          <a:xfrm xmlns:a="http://schemas.openxmlformats.org/drawingml/2006/main">
            <a:off x="704850" y="28765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3  Readiness</a:t>
            </a:r>
          </a:p>
        </p:txBody>
      </p:sp>
      <p:sp>
        <p:nvSpPr>
          <p:cNvPr id="10" name="">
            <a:extLst xmlns:a="http://schemas.openxmlformats.org/drawingml/2006/main">
              <a:ext uri="{FF2B5EF4-FFF2-40B4-BE49-F238E27FC236}">
                <a16:creationId xmlns:a16="http://schemas.microsoft.com/office/drawing/2014/main" id="{F8F56783-2637-4414-92C3-45F24EB71160}"/>
              </a:ext>
            </a:extLst>
          </p:cNvPr>
          <p:cNvSpPr>
            <a:spLocks xmlns:a="http://schemas.openxmlformats.org/drawingml/2006/main" noGrp="1"/>
          </p:cNvSpPr>
          <p:nvPr/>
        </p:nvSpPr>
        <p:spPr>
          <a:xfrm xmlns:a="http://schemas.openxmlformats.org/drawingml/2006/main">
            <a:off x="4114800" y="28765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Data definitions, owners, tool approval, access, telemetry and baseline.</a:t>
            </a:r>
          </a:p>
        </p:txBody>
      </p:sp>
      <p:sp>
        <p:nvSpPr>
          <p:cNvPr id="11" name="">
            <a:extLst xmlns:a="http://schemas.openxmlformats.org/drawingml/2006/main">
              <a:ext uri="{FF2B5EF4-FFF2-40B4-BE49-F238E27FC236}">
                <a16:creationId xmlns:a16="http://schemas.microsoft.com/office/drawing/2014/main" id="{94CE033C-89D6-40A2-9766-AB32E4AFF2C1}"/>
              </a:ext>
            </a:extLst>
          </p:cNvPr>
          <p:cNvSpPr>
            <a:spLocks xmlns:a="http://schemas.openxmlformats.org/drawingml/2006/main" noGrp="1"/>
          </p:cNvSpPr>
          <p:nvPr/>
        </p:nvSpPr>
        <p:spPr>
          <a:xfrm xmlns:a="http://schemas.openxmlformats.org/drawingml/2006/main">
            <a:off x="704850" y="34766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4  Pilot</a:t>
            </a:r>
          </a:p>
        </p:txBody>
      </p:sp>
      <p:sp>
        <p:nvSpPr>
          <p:cNvPr id="12" name="">
            <a:extLst xmlns:a="http://schemas.openxmlformats.org/drawingml/2006/main">
              <a:ext uri="{FF2B5EF4-FFF2-40B4-BE49-F238E27FC236}">
                <a16:creationId xmlns:a16="http://schemas.microsoft.com/office/drawing/2014/main" id="{9929E120-C998-481E-A1C4-2427BFBB3AB6}"/>
              </a:ext>
            </a:extLst>
          </p:cNvPr>
          <p:cNvSpPr>
            <a:spLocks xmlns:a="http://schemas.openxmlformats.org/drawingml/2006/main" noGrp="1"/>
          </p:cNvSpPr>
          <p:nvPr/>
        </p:nvSpPr>
        <p:spPr>
          <a:xfrm xmlns:a="http://schemas.openxmlformats.org/drawingml/2006/main">
            <a:off x="4114800" y="347662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Separate reproducible execution from measurable mission value.</a:t>
            </a:r>
          </a:p>
        </p:txBody>
      </p:sp>
      <p:sp>
        <p:nvSpPr>
          <p:cNvPr id="13" name="">
            <a:extLst xmlns:a="http://schemas.openxmlformats.org/drawingml/2006/main">
              <a:ext uri="{FF2B5EF4-FFF2-40B4-BE49-F238E27FC236}">
                <a16:creationId xmlns:a16="http://schemas.microsoft.com/office/drawing/2014/main" id="{4E0EE196-5455-4C7C-8002-06F6AE3BC2FC}"/>
              </a:ext>
            </a:extLst>
          </p:cNvPr>
          <p:cNvSpPr>
            <a:spLocks xmlns:a="http://schemas.openxmlformats.org/drawingml/2006/main" noGrp="1"/>
          </p:cNvSpPr>
          <p:nvPr/>
        </p:nvSpPr>
        <p:spPr>
          <a:xfrm xmlns:a="http://schemas.openxmlformats.org/drawingml/2006/main">
            <a:off x="704850" y="40767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5  Governance</a:t>
            </a:r>
          </a:p>
        </p:txBody>
      </p:sp>
      <p:sp>
        <p:nvSpPr>
          <p:cNvPr id="14" name="">
            <a:extLst xmlns:a="http://schemas.openxmlformats.org/drawingml/2006/main">
              <a:ext uri="{FF2B5EF4-FFF2-40B4-BE49-F238E27FC236}">
                <a16:creationId xmlns:a16="http://schemas.microsoft.com/office/drawing/2014/main" id="{3AADE749-1D7D-42ED-9E1B-EA7E26A7E6D4}"/>
              </a:ext>
            </a:extLst>
          </p:cNvPr>
          <p:cNvSpPr>
            <a:spLocks xmlns:a="http://schemas.openxmlformats.org/drawingml/2006/main" noGrp="1"/>
          </p:cNvSpPr>
          <p:nvPr/>
        </p:nvSpPr>
        <p:spPr>
          <a:xfrm xmlns:a="http://schemas.openxmlformats.org/drawingml/2006/main">
            <a:off x="4114800" y="40767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Track data health, model error, review volume and retraining decisions.</a:t>
            </a:r>
          </a:p>
        </p:txBody>
      </p:sp>
      <p:sp>
        <p:nvSpPr>
          <p:cNvPr id="15" name="">
            <a:extLst xmlns:a="http://schemas.openxmlformats.org/drawingml/2006/main">
              <a:ext uri="{FF2B5EF4-FFF2-40B4-BE49-F238E27FC236}">
                <a16:creationId xmlns:a16="http://schemas.microsoft.com/office/drawing/2014/main" id="{07DEB484-D09C-45C5-85C5-E534AF3E8799}"/>
              </a:ext>
            </a:extLst>
          </p:cNvPr>
          <p:cNvSpPr>
            <a:spLocks xmlns:a="http://schemas.openxmlformats.org/drawingml/2006/main" noGrp="1"/>
          </p:cNvSpPr>
          <p:nvPr/>
        </p:nvSpPr>
        <p:spPr>
          <a:xfrm xmlns:a="http://schemas.openxmlformats.org/drawingml/2006/main">
            <a:off x="704850" y="46767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6  AI risk</a:t>
            </a:r>
          </a:p>
        </p:txBody>
      </p:sp>
      <p:sp>
        <p:nvSpPr>
          <p:cNvPr id="16" name="">
            <a:extLst xmlns:a="http://schemas.openxmlformats.org/drawingml/2006/main">
              <a:ext uri="{FF2B5EF4-FFF2-40B4-BE49-F238E27FC236}">
                <a16:creationId xmlns:a16="http://schemas.microsoft.com/office/drawing/2014/main" id="{C783FD9E-CA54-4064-BDD0-E54249F2A383}"/>
              </a:ext>
            </a:extLst>
          </p:cNvPr>
          <p:cNvSpPr>
            <a:spLocks xmlns:a="http://schemas.openxmlformats.org/drawingml/2006/main" noGrp="1"/>
          </p:cNvSpPr>
          <p:nvPr/>
        </p:nvSpPr>
        <p:spPr>
          <a:xfrm xmlns:a="http://schemas.openxmlformats.org/drawingml/2006/main">
            <a:off x="4114800" y="46767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Check inherited rule bias and false alarms; this numeric demo has no LLM.</a:t>
            </a:r>
          </a:p>
        </p:txBody>
      </p:sp>
      <p:sp>
        <p:nvSpPr>
          <p:cNvPr id="17" name="">
            <a:extLst xmlns:a="http://schemas.openxmlformats.org/drawingml/2006/main">
              <a:ext uri="{FF2B5EF4-FFF2-40B4-BE49-F238E27FC236}">
                <a16:creationId xmlns:a16="http://schemas.microsoft.com/office/drawing/2014/main" id="{E1972C7B-5E03-4DFF-999F-F6B840799336}"/>
              </a:ext>
            </a:extLst>
          </p:cNvPr>
          <p:cNvSpPr>
            <a:spLocks xmlns:a="http://schemas.openxmlformats.org/drawingml/2006/main" noGrp="1"/>
          </p:cNvSpPr>
          <p:nvPr/>
        </p:nvSpPr>
        <p:spPr>
          <a:xfrm xmlns:a="http://schemas.openxmlformats.org/drawingml/2006/main">
            <a:off x="704850" y="52768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7  Security</a:t>
            </a:r>
          </a:p>
        </p:txBody>
      </p:sp>
      <p:sp>
        <p:nvSpPr>
          <p:cNvPr id="18" name="">
            <a:extLst xmlns:a="http://schemas.openxmlformats.org/drawingml/2006/main">
              <a:ext uri="{FF2B5EF4-FFF2-40B4-BE49-F238E27FC236}">
                <a16:creationId xmlns:a16="http://schemas.microsoft.com/office/drawing/2014/main" id="{D5DD00BF-D1C8-4720-B7E0-F5289ACEA1D0}"/>
              </a:ext>
            </a:extLst>
          </p:cNvPr>
          <p:cNvSpPr>
            <a:spLocks xmlns:a="http://schemas.openxmlformats.org/drawingml/2006/main" noGrp="1"/>
          </p:cNvSpPr>
          <p:nvPr/>
        </p:nvSpPr>
        <p:spPr>
          <a:xfrm xmlns:a="http://schemas.openxmlformats.org/drawingml/2006/main">
            <a:off x="4114800" y="52768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Explain access, retention and agency incident-response boundary.</a:t>
            </a:r>
          </a:p>
        </p:txBody>
      </p:sp>
    </p:spTree>
    <p:extLst>
      <p:ext uri="{BB962C8B-B14F-4D97-AF65-F5344CB8AC3E}">
        <p14:creationId xmlns:p14="http://schemas.microsoft.com/office/powerpoint/2010/main" val="559298773"/>
      </p:ext>
    </p:extLst>
  </p:cSld>
</p:sld>
</file>

<file path=ppt/slides/slide2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76A0B15-1961-4A4C-8BA7-14DBB11EE22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ORAL RFI COVERAGE</a:t>
            </a:r>
          </a:p>
        </p:txBody>
      </p:sp>
      <p:sp>
        <p:nvSpPr>
          <p:cNvPr id="2" name="">
            <a:extLst xmlns:a="http://schemas.openxmlformats.org/drawingml/2006/main">
              <a:ext uri="{FF2B5EF4-FFF2-40B4-BE49-F238E27FC236}">
                <a16:creationId xmlns:a16="http://schemas.microsoft.com/office/drawing/2014/main" id="{C25BB302-D848-47BB-9210-7DA6F597F75B}"/>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Questions 8–14: what remains to establish</a:t>
            </a:r>
          </a:p>
        </p:txBody>
      </p:sp>
      <p:sp>
        <p:nvSpPr>
          <p:cNvPr id="3" name="">
            <a:extLst xmlns:a="http://schemas.openxmlformats.org/drawingml/2006/main">
              <a:ext uri="{FF2B5EF4-FFF2-40B4-BE49-F238E27FC236}">
                <a16:creationId xmlns:a16="http://schemas.microsoft.com/office/drawing/2014/main" id="{24A32B5E-4941-4A1A-BCB3-8E0ED46E8C9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C15836D5-474F-4DD2-9B31-7441C634256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21</a:t>
            </a:r>
          </a:p>
        </p:txBody>
      </p:sp>
      <p:sp>
        <p:nvSpPr>
          <p:cNvPr id="5" name="">
            <a:extLst xmlns:a="http://schemas.openxmlformats.org/drawingml/2006/main">
              <a:ext uri="{FF2B5EF4-FFF2-40B4-BE49-F238E27FC236}">
                <a16:creationId xmlns:a16="http://schemas.microsoft.com/office/drawing/2014/main" id="{BF86FF6B-2ED8-4674-A2A9-67E6F1CA9137}"/>
              </a:ext>
            </a:extLst>
          </p:cNvPr>
          <p:cNvSpPr>
            <a:spLocks xmlns:a="http://schemas.openxmlformats.org/drawingml/2006/main" noGrp="1"/>
          </p:cNvSpPr>
          <p:nvPr/>
        </p:nvSpPr>
        <p:spPr>
          <a:xfrm xmlns:a="http://schemas.openxmlformats.org/drawingml/2006/main">
            <a:off x="704850" y="16764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8  Interoperability</a:t>
            </a:r>
          </a:p>
        </p:txBody>
      </p:sp>
      <p:sp>
        <p:nvSpPr>
          <p:cNvPr id="6" name="">
            <a:extLst xmlns:a="http://schemas.openxmlformats.org/drawingml/2006/main">
              <a:ext uri="{FF2B5EF4-FFF2-40B4-BE49-F238E27FC236}">
                <a16:creationId xmlns:a16="http://schemas.microsoft.com/office/drawing/2014/main" id="{9611A019-D945-4F91-A082-5D586C99DCBF}"/>
              </a:ext>
            </a:extLst>
          </p:cNvPr>
          <p:cNvSpPr>
            <a:spLocks xmlns:a="http://schemas.openxmlformats.org/drawingml/2006/main" noGrp="1"/>
          </p:cNvSpPr>
          <p:nvPr/>
        </p:nvSpPr>
        <p:spPr>
          <a:xfrm xmlns:a="http://schemas.openxmlformats.org/drawingml/2006/main">
            <a:off x="4114800" y="16764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Python source and portable data help; platform services need replacement.</a:t>
            </a:r>
          </a:p>
        </p:txBody>
      </p:sp>
      <p:sp>
        <p:nvSpPr>
          <p:cNvPr id="7" name="">
            <a:extLst xmlns:a="http://schemas.openxmlformats.org/drawingml/2006/main">
              <a:ext uri="{FF2B5EF4-FFF2-40B4-BE49-F238E27FC236}">
                <a16:creationId xmlns:a16="http://schemas.microsoft.com/office/drawing/2014/main" id="{16F22151-6334-418C-8AEF-6B0E6C5D51DF}"/>
              </a:ext>
            </a:extLst>
          </p:cNvPr>
          <p:cNvSpPr>
            <a:spLocks xmlns:a="http://schemas.openxmlformats.org/drawingml/2006/main" noGrp="1"/>
          </p:cNvSpPr>
          <p:nvPr/>
        </p:nvSpPr>
        <p:spPr>
          <a:xfrm xmlns:a="http://schemas.openxmlformats.org/drawingml/2006/main">
            <a:off x="704850" y="22764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9  Vendor exit</a:t>
            </a:r>
          </a:p>
        </p:txBody>
      </p:sp>
      <p:sp>
        <p:nvSpPr>
          <p:cNvPr id="8" name="">
            <a:extLst xmlns:a="http://schemas.openxmlformats.org/drawingml/2006/main">
              <a:ext uri="{FF2B5EF4-FFF2-40B4-BE49-F238E27FC236}">
                <a16:creationId xmlns:a16="http://schemas.microsoft.com/office/drawing/2014/main" id="{406DD0F5-B40F-4EDF-84C1-0ABDD4D921EE}"/>
              </a:ext>
            </a:extLst>
          </p:cNvPr>
          <p:cNvSpPr>
            <a:spLocks xmlns:a="http://schemas.openxmlformats.org/drawingml/2006/main" noGrp="1"/>
          </p:cNvSpPr>
          <p:nvPr/>
        </p:nvSpPr>
        <p:spPr>
          <a:xfrm xmlns:a="http://schemas.openxmlformats.org/drawingml/2006/main">
            <a:off x="4114800" y="22764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Government-owned code, exportable artifacts, reproducible run history.</a:t>
            </a:r>
          </a:p>
        </p:txBody>
      </p:sp>
      <p:sp>
        <p:nvSpPr>
          <p:cNvPr id="9" name="">
            <a:extLst xmlns:a="http://schemas.openxmlformats.org/drawingml/2006/main">
              <a:ext uri="{FF2B5EF4-FFF2-40B4-BE49-F238E27FC236}">
                <a16:creationId xmlns:a16="http://schemas.microsoft.com/office/drawing/2014/main" id="{89E4342C-94D3-484E-B1E2-AE425D1A692D}"/>
              </a:ext>
            </a:extLst>
          </p:cNvPr>
          <p:cNvSpPr>
            <a:spLocks xmlns:a="http://schemas.openxmlformats.org/drawingml/2006/main" noGrp="1"/>
          </p:cNvSpPr>
          <p:nvPr/>
        </p:nvSpPr>
        <p:spPr>
          <a:xfrm xmlns:a="http://schemas.openxmlformats.org/drawingml/2006/main">
            <a:off x="704850" y="28765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10  Model change</a:t>
            </a:r>
          </a:p>
        </p:txBody>
      </p:sp>
      <p:sp>
        <p:nvSpPr>
          <p:cNvPr id="10" name="">
            <a:extLst xmlns:a="http://schemas.openxmlformats.org/drawingml/2006/main">
              <a:ext uri="{FF2B5EF4-FFF2-40B4-BE49-F238E27FC236}">
                <a16:creationId xmlns:a16="http://schemas.microsoft.com/office/drawing/2014/main" id="{F2EBEAD9-9CA6-4116-8D54-BD55D2833381}"/>
              </a:ext>
            </a:extLst>
          </p:cNvPr>
          <p:cNvSpPr>
            <a:spLocks xmlns:a="http://schemas.openxmlformats.org/drawingml/2006/main" noGrp="1"/>
          </p:cNvSpPr>
          <p:nvPr/>
        </p:nvSpPr>
        <p:spPr>
          <a:xfrm xmlns:a="http://schemas.openxmlformats.org/drawingml/2006/main">
            <a:off x="4114800" y="28765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Record promotion, retraining criteria, version selection and rollback.</a:t>
            </a:r>
          </a:p>
        </p:txBody>
      </p:sp>
      <p:sp>
        <p:nvSpPr>
          <p:cNvPr id="11" name="">
            <a:extLst xmlns:a="http://schemas.openxmlformats.org/drawingml/2006/main">
              <a:ext uri="{FF2B5EF4-FFF2-40B4-BE49-F238E27FC236}">
                <a16:creationId xmlns:a16="http://schemas.microsoft.com/office/drawing/2014/main" id="{76259CFF-A9A2-4B89-874D-3E67471862BC}"/>
              </a:ext>
            </a:extLst>
          </p:cNvPr>
          <p:cNvSpPr>
            <a:spLocks xmlns:a="http://schemas.openxmlformats.org/drawingml/2006/main" noGrp="1"/>
          </p:cNvSpPr>
          <p:nvPr/>
        </p:nvSpPr>
        <p:spPr>
          <a:xfrm xmlns:a="http://schemas.openxmlformats.org/drawingml/2006/main">
            <a:off x="704850" y="34766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11  Human oversight</a:t>
            </a:r>
          </a:p>
        </p:txBody>
      </p:sp>
      <p:sp>
        <p:nvSpPr>
          <p:cNvPr id="12" name="">
            <a:extLst xmlns:a="http://schemas.openxmlformats.org/drawingml/2006/main">
              <a:ext uri="{FF2B5EF4-FFF2-40B4-BE49-F238E27FC236}">
                <a16:creationId xmlns:a16="http://schemas.microsoft.com/office/drawing/2014/main" id="{72098B1C-6781-49EF-9525-615D5D5D167E}"/>
              </a:ext>
            </a:extLst>
          </p:cNvPr>
          <p:cNvSpPr>
            <a:spLocks xmlns:a="http://schemas.openxmlformats.org/drawingml/2006/main" noGrp="1"/>
          </p:cNvSpPr>
          <p:nvPr/>
        </p:nvSpPr>
        <p:spPr>
          <a:xfrm xmlns:a="http://schemas.openxmlformats.org/drawingml/2006/main">
            <a:off x="4114800" y="347662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Analyst reviews evidence; pending queue is not a completed disposition.</a:t>
            </a:r>
          </a:p>
        </p:txBody>
      </p:sp>
      <p:sp>
        <p:nvSpPr>
          <p:cNvPr id="13" name="">
            <a:extLst xmlns:a="http://schemas.openxmlformats.org/drawingml/2006/main">
              <a:ext uri="{FF2B5EF4-FFF2-40B4-BE49-F238E27FC236}">
                <a16:creationId xmlns:a16="http://schemas.microsoft.com/office/drawing/2014/main" id="{82128F5C-8540-46A6-A2B4-962772AF7115}"/>
              </a:ext>
            </a:extLst>
          </p:cNvPr>
          <p:cNvSpPr>
            <a:spLocks xmlns:a="http://schemas.openxmlformats.org/drawingml/2006/main" noGrp="1"/>
          </p:cNvSpPr>
          <p:nvPr/>
        </p:nvSpPr>
        <p:spPr>
          <a:xfrm xmlns:a="http://schemas.openxmlformats.org/drawingml/2006/main">
            <a:off x="704850" y="40767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12  AI declined</a:t>
            </a:r>
          </a:p>
        </p:txBody>
      </p:sp>
      <p:sp>
        <p:nvSpPr>
          <p:cNvPr id="14" name="">
            <a:extLst xmlns:a="http://schemas.openxmlformats.org/drawingml/2006/main">
              <a:ext uri="{FF2B5EF4-FFF2-40B4-BE49-F238E27FC236}">
                <a16:creationId xmlns:a16="http://schemas.microsoft.com/office/drawing/2014/main" id="{A9212560-D82D-4416-9B48-BF9E53E9FFBE}"/>
              </a:ext>
            </a:extLst>
          </p:cNvPr>
          <p:cNvSpPr>
            <a:spLocks xmlns:a="http://schemas.openxmlformats.org/drawingml/2006/main" noGrp="1"/>
          </p:cNvSpPr>
          <p:nvPr/>
        </p:nvSpPr>
        <p:spPr>
          <a:xfrm xmlns:a="http://schemas.openxmlformats.org/drawingml/2006/main">
            <a:off x="4114800" y="40767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Need a verified past-client example; this classifier is only a live case.</a:t>
            </a:r>
          </a:p>
        </p:txBody>
      </p:sp>
      <p:sp>
        <p:nvSpPr>
          <p:cNvPr id="15" name="">
            <a:extLst xmlns:a="http://schemas.openxmlformats.org/drawingml/2006/main">
              <a:ext uri="{FF2B5EF4-FFF2-40B4-BE49-F238E27FC236}">
                <a16:creationId xmlns:a16="http://schemas.microsoft.com/office/drawing/2014/main" id="{FEB2F7E1-2055-4B3D-9DCE-C52635AD69E2}"/>
              </a:ext>
            </a:extLst>
          </p:cNvPr>
          <p:cNvSpPr>
            <a:spLocks xmlns:a="http://schemas.openxmlformats.org/drawingml/2006/main" noGrp="1"/>
          </p:cNvSpPr>
          <p:nvPr/>
        </p:nvSpPr>
        <p:spPr>
          <a:xfrm xmlns:a="http://schemas.openxmlformats.org/drawingml/2006/main">
            <a:off x="704850" y="46767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13  Authorization</a:t>
            </a:r>
          </a:p>
        </p:txBody>
      </p:sp>
      <p:sp>
        <p:nvSpPr>
          <p:cNvPr id="16" name="">
            <a:extLst xmlns:a="http://schemas.openxmlformats.org/drawingml/2006/main">
              <a:ext uri="{FF2B5EF4-FFF2-40B4-BE49-F238E27FC236}">
                <a16:creationId xmlns:a16="http://schemas.microsoft.com/office/drawing/2014/main" id="{816D68A3-EFD1-489B-B8BA-E6DD687C389D}"/>
              </a:ext>
            </a:extLst>
          </p:cNvPr>
          <p:cNvSpPr>
            <a:spLocks xmlns:a="http://schemas.openxmlformats.org/drawingml/2006/main" noGrp="1"/>
          </p:cNvSpPr>
          <p:nvPr/>
        </p:nvSpPr>
        <p:spPr>
          <a:xfrm xmlns:a="http://schemas.openxmlformats.org/drawingml/2006/main">
            <a:off x="4114800" y="46767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Assess the agency boundary, privacy, controls and monitoring cadence.</a:t>
            </a:r>
          </a:p>
        </p:txBody>
      </p:sp>
      <p:sp>
        <p:nvSpPr>
          <p:cNvPr id="17" name="">
            <a:extLst xmlns:a="http://schemas.openxmlformats.org/drawingml/2006/main">
              <a:ext uri="{FF2B5EF4-FFF2-40B4-BE49-F238E27FC236}">
                <a16:creationId xmlns:a16="http://schemas.microsoft.com/office/drawing/2014/main" id="{31314363-417C-4CCF-8E9C-85DFADEC17FC}"/>
              </a:ext>
            </a:extLst>
          </p:cNvPr>
          <p:cNvSpPr>
            <a:spLocks xmlns:a="http://schemas.openxmlformats.org/drawingml/2006/main" noGrp="1"/>
          </p:cNvSpPr>
          <p:nvPr/>
        </p:nvSpPr>
        <p:spPr>
          <a:xfrm xmlns:a="http://schemas.openxmlformats.org/drawingml/2006/main">
            <a:off x="704850" y="52768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14  Team transfer</a:t>
            </a:r>
          </a:p>
        </p:txBody>
      </p:sp>
      <p:sp>
        <p:nvSpPr>
          <p:cNvPr id="18" name="">
            <a:extLst xmlns:a="http://schemas.openxmlformats.org/drawingml/2006/main">
              <a:ext uri="{FF2B5EF4-FFF2-40B4-BE49-F238E27FC236}">
                <a16:creationId xmlns:a16="http://schemas.microsoft.com/office/drawing/2014/main" id="{21F6F212-DBA8-4AF4-A3DA-451339C0AE00}"/>
              </a:ext>
            </a:extLst>
          </p:cNvPr>
          <p:cNvSpPr>
            <a:spLocks xmlns:a="http://schemas.openxmlformats.org/drawingml/2006/main" noGrp="1"/>
          </p:cNvSpPr>
          <p:nvPr/>
        </p:nvSpPr>
        <p:spPr>
          <a:xfrm xmlns:a="http://schemas.openxmlformats.org/drawingml/2006/main">
            <a:off x="4114800" y="52768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Receiving team reruns, investigates failure and practices rollback.</a:t>
            </a:r>
          </a:p>
        </p:txBody>
      </p:sp>
    </p:spTree>
    <p:extLst>
      <p:ext uri="{BB962C8B-B14F-4D97-AF65-F5344CB8AC3E}">
        <p14:creationId xmlns:p14="http://schemas.microsoft.com/office/powerpoint/2010/main" val="2070173445"/>
      </p:ext>
    </p:extLst>
  </p:cSld>
</p:sld>
</file>

<file path=ppt/slides/slide2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F9FF6D-0D8B-4762-B10C-906ABA3BE235}"/>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CLOSE</a:t>
            </a:r>
          </a:p>
        </p:txBody>
      </p:sp>
      <p:sp>
        <p:nvSpPr>
          <p:cNvPr id="2" name="">
            <a:extLst xmlns:a="http://schemas.openxmlformats.org/drawingml/2006/main">
              <a:ext uri="{FF2B5EF4-FFF2-40B4-BE49-F238E27FC236}">
                <a16:creationId xmlns:a16="http://schemas.microsoft.com/office/drawing/2014/main" id="{EF351708-3BAB-4BBE-BBDC-881BAAA9AF8B}"/>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The demo’s useful decision is visible</a:t>
            </a:r>
          </a:p>
        </p:txBody>
      </p:sp>
      <p:sp>
        <p:nvSpPr>
          <p:cNvPr id="3" name="">
            <a:extLst xmlns:a="http://schemas.openxmlformats.org/drawingml/2006/main">
              <a:ext uri="{FF2B5EF4-FFF2-40B4-BE49-F238E27FC236}">
                <a16:creationId xmlns:a16="http://schemas.microsoft.com/office/drawing/2014/main" id="{40770B68-7303-403B-BEC1-4B801F4C3C22}"/>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FB2C0B80-96F7-4B54-92AC-A88CE3CCC85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22</a:t>
            </a:r>
          </a:p>
        </p:txBody>
      </p:sp>
      <p:sp>
        <p:nvSpPr>
          <p:cNvPr id="5" name="">
            <a:extLst xmlns:a="http://schemas.openxmlformats.org/drawingml/2006/main">
              <a:ext uri="{FF2B5EF4-FFF2-40B4-BE49-F238E27FC236}">
                <a16:creationId xmlns:a16="http://schemas.microsoft.com/office/drawing/2014/main" id="{6B27188F-75C2-411A-8552-7D971490ED8F}"/>
              </a:ext>
            </a:extLst>
          </p:cNvPr>
          <p:cNvSpPr>
            <a:spLocks xmlns:a="http://schemas.openxmlformats.org/drawingml/2006/main" noGrp="1"/>
          </p:cNvSpPr>
          <p:nvPr/>
        </p:nvSpPr>
        <p:spPr>
          <a:xfrm xmlns:a="http://schemas.openxmlformats.org/drawingml/2006/main">
            <a:off x="704850" y="1847850"/>
            <a:ext cx="1057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1">
                <a:solidFill>
                  <a:srgbClr val="153246"/>
                </a:solidFill>
                <a:latin typeface="Bitstream Charter"/>
                <a:ea typeface="Bitstream Charter"/>
                <a:cs typeface="Bitstream Charter"/>
              </a:defRPr>
            </a:pPr>
            <a:r>
              <a:rPr sz="2475" b="1">
                <a:solidFill>
                  <a:srgbClr val="153246"/>
                </a:solidFill>
                <a:latin typeface="Bitstream Charter"/>
                <a:ea typeface="Bitstream Charter"/>
                <a:cs typeface="Bitstream Charter"/>
              </a:rPr>
              <a:t>SPC makes unusual movement visible.</a:t>
            </a:r>
          </a:p>
        </p:txBody>
      </p:sp>
      <p:sp>
        <p:nvSpPr>
          <p:cNvPr id="6" name="">
            <a:extLst xmlns:a="http://schemas.openxmlformats.org/drawingml/2006/main">
              <a:ext uri="{FF2B5EF4-FFF2-40B4-BE49-F238E27FC236}">
                <a16:creationId xmlns:a16="http://schemas.microsoft.com/office/drawing/2014/main" id="{C4C3A1F7-DDD5-4A3A-BEBF-CFD99F412624}"/>
              </a:ext>
            </a:extLst>
          </p:cNvPr>
          <p:cNvSpPr>
            <a:spLocks xmlns:a="http://schemas.openxmlformats.org/drawingml/2006/main" noGrp="1"/>
          </p:cNvSpPr>
          <p:nvPr/>
        </p:nvSpPr>
        <p:spPr>
          <a:xfrm xmlns:a="http://schemas.openxmlformats.org/drawingml/2006/main">
            <a:off x="704850" y="2762250"/>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B45136"/>
                </a:solidFill>
                <a:latin typeface="Bitstream Charter"/>
                <a:ea typeface="Bitstream Charter"/>
                <a:cs typeface="Bitstream Charter"/>
              </a:defRPr>
            </a:pPr>
            <a:r>
              <a:rPr sz="2250" b="0">
                <a:solidFill>
                  <a:srgbClr val="B45136"/>
                </a:solidFill>
                <a:latin typeface="Bitstream Charter"/>
                <a:ea typeface="Bitstream Charter"/>
                <a:cs typeface="Bitstream Charter"/>
              </a:rPr>
              <a:t>The classifier adds no value to a label the rules already compute.</a:t>
            </a:r>
          </a:p>
        </p:txBody>
      </p:sp>
      <p:sp>
        <p:nvSpPr>
          <p:cNvPr id="7" name="">
            <a:extLst xmlns:a="http://schemas.openxmlformats.org/drawingml/2006/main">
              <a:ext uri="{FF2B5EF4-FFF2-40B4-BE49-F238E27FC236}">
                <a16:creationId xmlns:a16="http://schemas.microsoft.com/office/drawing/2014/main" id="{1214E5D3-5652-4058-BFF3-683BADB344CB}"/>
              </a:ext>
            </a:extLst>
          </p:cNvPr>
          <p:cNvSpPr>
            <a:spLocks xmlns:a="http://schemas.openxmlformats.org/drawingml/2006/main" noGrp="1"/>
          </p:cNvSpPr>
          <p:nvPr/>
        </p:nvSpPr>
        <p:spPr>
          <a:xfrm xmlns:a="http://schemas.openxmlformats.org/drawingml/2006/main">
            <a:off x="704850" y="411480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087F77"/>
                </a:solidFill>
                <a:latin typeface="Bitstream Charter"/>
                <a:ea typeface="Bitstream Charter"/>
                <a:cs typeface="Bitstream Charter"/>
              </a:defRPr>
            </a:pPr>
            <a:r>
              <a:rPr sz="2175" b="0">
                <a:solidFill>
                  <a:srgbClr val="087F77"/>
                </a:solidFill>
                <a:latin typeface="Bitstream Charter"/>
                <a:ea typeface="Bitstream Charter"/>
                <a:cs typeface="Bitstream Charter"/>
              </a:rPr>
              <a:t>The forecast merits further testing. The reference offers lineage and retraining design ideas, with alert grouping still planned.</a:t>
            </a:r>
          </a:p>
        </p:txBody>
      </p:sp>
      <p:sp>
        <p:nvSpPr>
          <p:cNvPr id="8" name="">
            <a:extLst xmlns:a="http://schemas.openxmlformats.org/drawingml/2006/main">
              <a:ext uri="{FF2B5EF4-FFF2-40B4-BE49-F238E27FC236}">
                <a16:creationId xmlns:a16="http://schemas.microsoft.com/office/drawing/2014/main" id="{8B27450A-69A7-499C-A7D8-91BBEA950672}"/>
              </a:ext>
            </a:extLst>
          </p:cNvPr>
          <p:cNvSpPr>
            <a:spLocks xmlns:a="http://schemas.openxmlformats.org/drawingml/2006/main" noGrp="1"/>
          </p:cNvSpPr>
          <p:nvPr/>
        </p:nvSpPr>
        <p:spPr>
          <a:xfrm xmlns:a="http://schemas.openxmlformats.org/drawingml/2006/main">
            <a:off x="704850" y="5562600"/>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526675"/>
                </a:solidFill>
                <a:latin typeface="Bitstream Charter"/>
                <a:ea typeface="Bitstream Charter"/>
                <a:cs typeface="Bitstream Charter"/>
              </a:defRPr>
            </a:pPr>
            <a:r>
              <a:rPr sz="1800" b="0">
                <a:solidFill>
                  <a:srgbClr val="526675"/>
                </a:solidFill>
                <a:latin typeface="Bitstream Charter"/>
                <a:ea typeface="Bitstream Charter"/>
                <a:cs typeface="Bitstream Charter"/>
              </a:rPr>
              <a:t>Live notebook first. Oral explanation and evidence afterward.</a:t>
            </a:r>
          </a:p>
        </p:txBody>
      </p:sp>
    </p:spTree>
    <p:extLst>
      <p:ext uri="{BB962C8B-B14F-4D97-AF65-F5344CB8AC3E}">
        <p14:creationId xmlns:p14="http://schemas.microsoft.com/office/powerpoint/2010/main" val="4775645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2026-09-23T20:36:19.2000000Z</dcterms:created>
  <dcterms:modified xsi:type="dcterms:W3CDTF">2026-09-23T20:36:19.2000000Z</dcterms:modified>
</coreProperties>
</file>