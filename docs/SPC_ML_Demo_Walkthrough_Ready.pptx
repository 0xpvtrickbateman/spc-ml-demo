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601d45e980b45ab" /><Relationship Type="http://schemas.openxmlformats.org/officeDocument/2006/relationships/extended-properties" Target="/docProps/app.xml" Id="R1eb4b242865e4488" /><Relationship Type="http://schemas.openxmlformats.org/officeDocument/2006/relationships/officeDocument" Target="/ppt/presentation.xml" Id="Rd00e561ef4344a9c" /></Relationships>
</file>

<file path=ppt/presentation.xml><?xml version="1.0" encoding="utf-8"?>
<p:presentation xmlns:p="http://schemas.openxmlformats.org/presentationml/2006/main">
  <p:sldMasterIdLst>
    <p:sldMasterId xmlns:r="http://schemas.openxmlformats.org/officeDocument/2006/relationships" id="2147483648" r:id="Rab8a3aae5493476a"/>
  </p:sldMasterIdLst>
  <p:notesMasterIdLst>
    <p:notesMasterId xmlns:r="http://schemas.openxmlformats.org/officeDocument/2006/relationships" r:id="Rfe5c1606bf0741d9"/>
  </p:notesMasterIdLst>
  <p:sldIdLst>
    <p:sldId xmlns:r="http://schemas.openxmlformats.org/officeDocument/2006/relationships" id="256" r:id="R6f2a97461a8d452a"/>
    <p:sldId xmlns:r="http://schemas.openxmlformats.org/officeDocument/2006/relationships" id="257" r:id="R3f6c8c5e16184740"/>
    <p:sldId xmlns:r="http://schemas.openxmlformats.org/officeDocument/2006/relationships" id="258" r:id="R824bcb1b164d4caa"/>
    <p:sldId xmlns:r="http://schemas.openxmlformats.org/officeDocument/2006/relationships" id="259" r:id="R44037779af374f81"/>
    <p:sldId xmlns:r="http://schemas.openxmlformats.org/officeDocument/2006/relationships" id="260" r:id="R086c10e6884846b8"/>
    <p:sldId xmlns:r="http://schemas.openxmlformats.org/officeDocument/2006/relationships" id="261" r:id="R7d17a97a59294249"/>
    <p:sldId xmlns:r="http://schemas.openxmlformats.org/officeDocument/2006/relationships" id="262" r:id="R7274cf153f474f3f"/>
    <p:sldId xmlns:r="http://schemas.openxmlformats.org/officeDocument/2006/relationships" id="263" r:id="Rb73323299fbd432e"/>
    <p:sldId xmlns:r="http://schemas.openxmlformats.org/officeDocument/2006/relationships" id="264" r:id="R8b0f2fa756c34704"/>
    <p:sldId xmlns:r="http://schemas.openxmlformats.org/officeDocument/2006/relationships" id="265" r:id="Rf025394a6e9648dc"/>
    <p:sldId xmlns:r="http://schemas.openxmlformats.org/officeDocument/2006/relationships" id="266" r:id="R2e440ea178924539"/>
    <p:sldId xmlns:r="http://schemas.openxmlformats.org/officeDocument/2006/relationships" id="267" r:id="R741aae5eb0d647be"/>
    <p:sldId xmlns:r="http://schemas.openxmlformats.org/officeDocument/2006/relationships" id="268" r:id="R0d692d859064427a"/>
    <p:sldId xmlns:r="http://schemas.openxmlformats.org/officeDocument/2006/relationships" id="269" r:id="R928ea9a9966c43dd"/>
    <p:sldId xmlns:r="http://schemas.openxmlformats.org/officeDocument/2006/relationships" id="270" r:id="R6c1f3b7976654b6f"/>
    <p:sldId xmlns:r="http://schemas.openxmlformats.org/officeDocument/2006/relationships" id="271" r:id="R6376810d06c94ef5"/>
    <p:sldId xmlns:r="http://schemas.openxmlformats.org/officeDocument/2006/relationships" id="272" r:id="Rf242c9f7bd1c4a89"/>
    <p:sldId xmlns:r="http://schemas.openxmlformats.org/officeDocument/2006/relationships" id="273" r:id="Rde8d4346afe8428f"/>
    <p:sldId xmlns:r="http://schemas.openxmlformats.org/officeDocument/2006/relationships" id="274" r:id="R616cdee22ffc46ed"/>
    <p:sldId xmlns:r="http://schemas.openxmlformats.org/officeDocument/2006/relationships" id="275" r:id="R3321097b468b4f91"/>
    <p:sldId xmlns:r="http://schemas.openxmlformats.org/officeDocument/2006/relationships" id="276" r:id="R385f1ed27f5f4047"/>
    <p:sldId xmlns:r="http://schemas.openxmlformats.org/officeDocument/2006/relationships" id="277" r:id="R3204dd587cbd4d6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f9fc77d7d09426f" /><Relationship Type="http://schemas.openxmlformats.org/officeDocument/2006/relationships/slideMaster" Target="/ppt/slideMasters/slideMaster1.xml" Id="Rab8a3aae5493476a" /><Relationship Type="http://schemas.openxmlformats.org/officeDocument/2006/relationships/notesMaster" Target="/ppt/notesMasters/notesMaster1.xml" Id="Rfe5c1606bf0741d9" /><Relationship Type="http://schemas.openxmlformats.org/officeDocument/2006/relationships/presProps" Target="/ppt/presProps.xml" Id="Rad4ae92647cb4546" /><Relationship Type="http://schemas.openxmlformats.org/officeDocument/2006/relationships/tableStyles" Target="/ppt/tableStyles.xml" Id="Rda89552cb0b043a1" /><Relationship Type="http://schemas.openxmlformats.org/officeDocument/2006/relationships/slide" Target="/ppt/slides/slide1.xml" Id="R6f2a97461a8d452a" /><Relationship Type="http://schemas.openxmlformats.org/officeDocument/2006/relationships/slide" Target="/ppt/slides/slide2.xml" Id="R3f6c8c5e16184740" /><Relationship Type="http://schemas.openxmlformats.org/officeDocument/2006/relationships/slide" Target="/ppt/slides/slide3.xml" Id="R824bcb1b164d4caa" /><Relationship Type="http://schemas.openxmlformats.org/officeDocument/2006/relationships/slide" Target="/ppt/slides/slide4.xml" Id="R44037779af374f81" /><Relationship Type="http://schemas.openxmlformats.org/officeDocument/2006/relationships/slide" Target="/ppt/slides/slide5.xml" Id="R086c10e6884846b8" /><Relationship Type="http://schemas.openxmlformats.org/officeDocument/2006/relationships/slide" Target="/ppt/slides/slide6.xml" Id="R7d17a97a59294249" /><Relationship Type="http://schemas.openxmlformats.org/officeDocument/2006/relationships/slide" Target="/ppt/slides/slide7.xml" Id="R7274cf153f474f3f" /><Relationship Type="http://schemas.openxmlformats.org/officeDocument/2006/relationships/slide" Target="/ppt/slides/slide8.xml" Id="Rb73323299fbd432e" /><Relationship Type="http://schemas.openxmlformats.org/officeDocument/2006/relationships/slide" Target="/ppt/slides/slide9.xml" Id="R8b0f2fa756c34704" /><Relationship Type="http://schemas.openxmlformats.org/officeDocument/2006/relationships/slide" Target="/ppt/slides/slide10.xml" Id="Rf025394a6e9648dc" /><Relationship Type="http://schemas.openxmlformats.org/officeDocument/2006/relationships/slide" Target="/ppt/slides/slide11.xml" Id="R2e440ea178924539" /><Relationship Type="http://schemas.openxmlformats.org/officeDocument/2006/relationships/slide" Target="/ppt/slides/slide12.xml" Id="R741aae5eb0d647be" /><Relationship Type="http://schemas.openxmlformats.org/officeDocument/2006/relationships/slide" Target="/ppt/slides/slide13.xml" Id="R0d692d859064427a" /><Relationship Type="http://schemas.openxmlformats.org/officeDocument/2006/relationships/slide" Target="/ppt/slides/slide14.xml" Id="R928ea9a9966c43dd" /><Relationship Type="http://schemas.openxmlformats.org/officeDocument/2006/relationships/slide" Target="/ppt/slides/slide15.xml" Id="R6c1f3b7976654b6f" /><Relationship Type="http://schemas.openxmlformats.org/officeDocument/2006/relationships/slide" Target="/ppt/slides/slide16.xml" Id="R6376810d06c94ef5" /><Relationship Type="http://schemas.openxmlformats.org/officeDocument/2006/relationships/slide" Target="/ppt/slides/slide17.xml" Id="Rf242c9f7bd1c4a89" /><Relationship Type="http://schemas.openxmlformats.org/officeDocument/2006/relationships/slide" Target="/ppt/slides/slide18.xml" Id="Rde8d4346afe8428f" /><Relationship Type="http://schemas.openxmlformats.org/officeDocument/2006/relationships/slide" Target="/ppt/slides/slide19.xml" Id="R616cdee22ffc46ed" /><Relationship Type="http://schemas.openxmlformats.org/officeDocument/2006/relationships/slide" Target="/ppt/slides/slide20.xml" Id="R3321097b468b4f91" /><Relationship Type="http://schemas.openxmlformats.org/officeDocument/2006/relationships/slide" Target="/ppt/slides/slide21.xml" Id="R385f1ed27f5f4047" /><Relationship Type="http://schemas.openxmlformats.org/officeDocument/2006/relationships/slide" Target="/ppt/slides/slide22.xml" Id="R3204dd587cbd4d6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d56e1beadba417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db5da535b2a4b32" /><Relationship Type="http://schemas.openxmlformats.org/officeDocument/2006/relationships/notesMaster" Target="/ppt/notesMasters/notesMaster1.xml" Id="R9247bb7f16aa49c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12ce11b8166455f" /><Relationship Type="http://schemas.openxmlformats.org/officeDocument/2006/relationships/notesMaster" Target="/ppt/notesMasters/notesMaster1.xml" Id="Raaafb7f211834b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8b2601ebce4c4c97" /><Relationship Type="http://schemas.openxmlformats.org/officeDocument/2006/relationships/notesMaster" Target="/ppt/notesMasters/notesMaster1.xml" Id="R843f8f101545467f" /></Relationships>
</file>

<file path=ppt/notesSlides/_rels/notesSlide4.xml.rels>&#65279;<?xml version="1.0" encoding="utf-8"?><Relationships xmlns="http://schemas.openxmlformats.org/package/2006/relationships"><Relationship Type="http://schemas.openxmlformats.org/officeDocument/2006/relationships/slide" Target="/ppt/slides/slide4.xml" Id="R23acd9fe986042a0" /><Relationship Type="http://schemas.openxmlformats.org/officeDocument/2006/relationships/notesMaster" Target="/ppt/notesMasters/notesMaster1.xml" Id="R76ab948eadde497e" /></Relationships>
</file>

<file path=ppt/notesSlides/_rels/notesSlide5.xml.rels>&#65279;<?xml version="1.0" encoding="utf-8"?><Relationships xmlns="http://schemas.openxmlformats.org/package/2006/relationships"><Relationship Type="http://schemas.openxmlformats.org/officeDocument/2006/relationships/slide" Target="/ppt/slides/slide5.xml" Id="R024b17d8e9854110" /><Relationship Type="http://schemas.openxmlformats.org/officeDocument/2006/relationships/notesMaster" Target="/ppt/notesMasters/notesMaster1.xml" Id="R29b6e093109d40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7c82fc8c65e74833" /><Relationship Type="http://schemas.openxmlformats.org/officeDocument/2006/relationships/notesMaster" Target="/ppt/notesMasters/notesMaster1.xml" Id="Rf10f659c9e434f04" /></Relationships>
</file>

<file path=ppt/notesSlides/_rels/notesSlide7.xml.rels>&#65279;<?xml version="1.0" encoding="utf-8"?><Relationships xmlns="http://schemas.openxmlformats.org/package/2006/relationships"><Relationship Type="http://schemas.openxmlformats.org/officeDocument/2006/relationships/slide" Target="/ppt/slides/slide7.xml" Id="R08332abe662b40d0" /><Relationship Type="http://schemas.openxmlformats.org/officeDocument/2006/relationships/notesMaster" Target="/ppt/notesMasters/notesMaster1.xml" Id="R0a5c810af0ef45a1" /></Relationships>
</file>

<file path=ppt/notesSlides/_rels/notesSlide8.xml.rels>&#65279;<?xml version="1.0" encoding="utf-8"?><Relationships xmlns="http://schemas.openxmlformats.org/package/2006/relationships"><Relationship Type="http://schemas.openxmlformats.org/officeDocument/2006/relationships/slide" Target="/ppt/slides/slide8.xml" Id="Rfc1438938ddc431c" /><Relationship Type="http://schemas.openxmlformats.org/officeDocument/2006/relationships/notesMaster" Target="/ppt/notesMasters/notesMaster1.xml" Id="R97a3b4ed40ad46a4" /></Relationships>
</file>

<file path=ppt/notesSlides/_rels/notesSlide9.xml.rels>&#65279;<?xml version="1.0" encoding="utf-8"?><Relationships xmlns="http://schemas.openxmlformats.org/package/2006/relationships"><Relationship Type="http://schemas.openxmlformats.org/officeDocument/2006/relationships/slide" Target="/ppt/slides/slide9.xml" Id="R48a4edf2c39c40cd" /><Relationship Type="http://schemas.openxmlformats.org/officeDocument/2006/relationships/notesMaster" Target="/ppt/notesMasters/notesMaster1.xml" Id="R21568004cba1423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7ff9f9094bf4b7e" /><Relationship Type="http://schemas.openxmlformats.org/officeDocument/2006/relationships/notesMaster" Target="/ppt/notesMasters/notesMaster1.xml" Id="Rece1f788c29a492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648cabf7159446a" /><Relationship Type="http://schemas.openxmlformats.org/officeDocument/2006/relationships/notesMaster" Target="/ppt/notesMasters/notesMaster1.xml" Id="R39bf0beeb7894bf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5066327e6ae4e09" /><Relationship Type="http://schemas.openxmlformats.org/officeDocument/2006/relationships/notesMaster" Target="/ppt/notesMasters/notesMaster1.xml" Id="Ra6f4210891ef462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36d39edccee4a70" /><Relationship Type="http://schemas.openxmlformats.org/officeDocument/2006/relationships/notesMaster" Target="/ppt/notesMasters/notesMaster1.xml" Id="R2a3201ed05af4bc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dfabb0a2cf9465e" /><Relationship Type="http://schemas.openxmlformats.org/officeDocument/2006/relationships/notesMaster" Target="/ppt/notesMasters/notesMaster1.xml" Id="R46e40f835c24431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11dbc3e2c9a4dfd" /><Relationship Type="http://schemas.openxmlformats.org/officeDocument/2006/relationships/notesMaster" Target="/ppt/notesMasters/notesMaster1.xml" Id="R0ba7a81a7bfc4d1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310cdb213964da7" /><Relationship Type="http://schemas.openxmlformats.org/officeDocument/2006/relationships/notesMaster" Target="/ppt/notesMasters/notesMaster1.xml" Id="R70f91fba58b34da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2896ca448384b83" /><Relationship Type="http://schemas.openxmlformats.org/officeDocument/2006/relationships/notesMaster" Target="/ppt/notesMasters/notesMaster1.xml" Id="Rdf42369f8f13476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b74f7b3125841dc" /><Relationship Type="http://schemas.openxmlformats.org/officeDocument/2006/relationships/notesMaster" Target="/ppt/notesMasters/notesMaster1.xml" Id="R7045f4fb22e048c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38f12c0702045f3" /><Relationship Type="http://schemas.openxmlformats.org/officeDocument/2006/relationships/notesMaster" Target="/ppt/notesMasters/notesMaster1.xml" Id="R8c67f3f3e5b545b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d7c0fdc395e4ade" /><Relationship Type="http://schemas.openxmlformats.org/officeDocument/2006/relationships/notesMaster" Target="/ppt/notesMasters/notesMaster1.xml" Id="R261445be554046e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bacb4967f1046ad" /><Relationship Type="http://schemas.openxmlformats.org/officeDocument/2006/relationships/notesMaster" Target="/ppt/notesMasters/notesMaster1.xml" Id="R97a17ca75d6046e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407312b105749e0" /><Relationship Type="http://schemas.openxmlformats.org/officeDocument/2006/relationships/notesMaster" Target="/ppt/notesMasters/notesMaster1.xml" Id="Re9bb19a8ade64d3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These are fictional counts and fixture metadata. We demonstrate decisions and execution, not USCIS outcomes. Start with the rules, compare forecasts, then investigate and review. Twenty code cells are grouped across these 22 slides.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SPC asks whether observed movement deserves investigation. This editable chart is an illustrative example retained from the deck. Current run charts are in the notebook. A signal does not establish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Cell 3 computes the three original checks. Cell 9 adds critical, warning, watch and normal zones from simple point and run rules. Zone thresholds are demo settings requiring calibration; they are not universal alert policies.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separate a rule label, an unusualness score, a future workload estimate and an investigation hypothesis. Those outputs answer different questions. None authorizes operational 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configuration then daily_df. The dataset ID is attainx_demo_v2_seed42. Last observed date is September 8, 2026. Installing the locked dependencies reproduces this local environment; target compute still requires a full rehearsal.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signals_df, the three flags, logical OR, and feature columns. The overall rule-positive share is 52.3%. Window boundaries are separated in evaluation, while earlier reference histories may overlap. Explain that distinction before citing 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holdout contains 46 true negatives, 4 false positives, 53 false negatives and 125 true positives relative to the rule label. It does not represent confirmed operational incidents. Class mix explains why accuracy needs a baseline.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actual-versus-predicted chart. Previous-count baseline MAE is 10.99. The federal-holiday calendar changed weekday features, so the updated result is 8.99 rather than the old 8.85. This is separate from the five-day statistical forecasts.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three initial figures. Consecutive rule-positive dates form episodes. Later cells add a separate fictional reviewer exercise and prepared notice outbox; they do not turn this queue into completed operational decisions.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zone_df and both exploration figures. The office split is fictional, with a planted North workload shift. Lagged subgroup means and standard deviations support anomaly evidence. Office forecasts later are independent and need not reconcile to the total.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Fold averages differ from Cell 5's single holdout and must not be presented as the same experiment. Labels remain direct-rule labels. Logistic regression is useful as a simpler comparison, not a reason to replace rules. Feature importance is predictive association.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ARIMA is selected using only the first five origins. The final origin is held out for lifecycle advice; pooled chart metrics include all six origins and are descriptive, not the selection score. Forecast dates exclude U.S. federal holidays. Office predictions are independent, not reconciled.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scores and rule/model disagreement. Disagreement can focus analyst review. The final model uses a fixed 8% contamination setting and the time folds explore bounded settings. It does not discover an objectively correct anomaly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lineage_df, column_lineage_df and upstream_profile_df. Trace the daily-count table to its source export and office lookup branch. A late upstream table provides a possible explanation to investigate, not proof that the count signal is caused by ingestion.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generated operational events and hypotheses_df. Time matching prevents a recent freshness issue from explaining every older episode. Explain alternative causes and the need to inspect the source before recording a real disposition.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forecast_ledger_df and assessment_df. A one-observation partial result is explicitly insufficient. Only the latest origin can drive current advice. A very poor worsening result suggests architecture review, while improvement should not trigger retraining. Direction compares target movement with its origin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lifecycle_df and the registry exercise. The candidate was chosen before this final forecast origin. This small example demonstrates the decision record and a rollback sequence, not a verified registry transaction or real human approval.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outbox_df: two prepared notices and four suppressed repeats. Show operator_disposition_df and the dashboard figure. Replay deduplication is local to this run; durable delivery idempotency and live scheduling need platform implementation and verification.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model artifacts: rule classifier, one-day regressor, logistic classifier and Isolation Forest. Five-day statsmodels fits are not logged as model artifacts; their predictions and assessments are tables. Local stub tests verify API and SQL contracts, not actual service acceptance.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questions follow the supplied oral handoff, not an independently verified solicitation. Local execution is demonstrated. A pilot still needs owners, approved real data and prospective success and stop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invent a historical engagement for question 12. The current classifier decision is only a current demo example. No agency approval, staffing assignment, contract term or production deployment is established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The expanded demo now represents the major reference workflow areas. The remaining differences are depth, exact agency algorithms and live integrations. Do not claim identical results, complete production parity or verified operational benefit.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56a2613d30e488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6b423aac9db45d2" /><Relationship Type="http://schemas.openxmlformats.org/officeDocument/2006/relationships/slideLayout" Target="/ppt/slideLayouts/slideLayout1.xml" Id="R12d590ca465c479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2d590ca465c479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e2a215129f7494b" /><Relationship Type="http://schemas.openxmlformats.org/officeDocument/2006/relationships/notesSlide" Target="/ppt/notesSlides/notesSlide1.xml" Id="Rbe62a801380e44e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341b7c4168a4630" /><Relationship Type="http://schemas.openxmlformats.org/officeDocument/2006/relationships/chart" Target="/ppt/slides/charts/chart1.xml" Id="Re88c49691e6e4982" /><Relationship Type="http://schemas.openxmlformats.org/officeDocument/2006/relationships/notesSlide" Target="/ppt/notesSlides/notesSlide2.xml" Id="R004732dc447142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7d8dbc58b64483d" /><Relationship Type="http://schemas.openxmlformats.org/officeDocument/2006/relationships/notesSlide" Target="/ppt/notesSlides/notesSlide3.xml" Id="R49f51722d92d45f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da3c5b4cecd4f02" /><Relationship Type="http://schemas.openxmlformats.org/officeDocument/2006/relationships/notesSlide" Target="/ppt/notesSlides/notesSlide4.xml" Id="R35eb475b4e6c4d9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1fe854add904896" /><Relationship Type="http://schemas.openxmlformats.org/officeDocument/2006/relationships/notesSlide" Target="/ppt/notesSlides/notesSlide5.xml" Id="R53db7225af834b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6f819bcca154841" /><Relationship Type="http://schemas.openxmlformats.org/officeDocument/2006/relationships/notesSlide" Target="/ppt/notesSlides/notesSlide6.xml" Id="R5a2b1c5c525b41d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e8e3becd8144b12" /><Relationship Type="http://schemas.openxmlformats.org/officeDocument/2006/relationships/notesSlide" Target="/ppt/notesSlides/notesSlide7.xml" Id="R080e6fdab11b497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756150adc084dff" /><Relationship Type="http://schemas.openxmlformats.org/officeDocument/2006/relationships/notesSlide" Target="/ppt/notesSlides/notesSlide8.xml" Id="R5b177cdf67f641a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005f8fb74224415" /><Relationship Type="http://schemas.openxmlformats.org/officeDocument/2006/relationships/notesSlide" Target="/ppt/notesSlides/notesSlide9.xml" Id="R93d881b1af044b4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32716f865d24837" /><Relationship Type="http://schemas.openxmlformats.org/officeDocument/2006/relationships/notesSlide" Target="/ppt/notesSlides/notesSlide10.xml" Id="R05b52dac4936497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809a928b17245e9" /><Relationship Type="http://schemas.openxmlformats.org/officeDocument/2006/relationships/notesSlide" Target="/ppt/notesSlides/notesSlide11.xml" Id="R5bd6edc532b0481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b8953d2131149a4" /><Relationship Type="http://schemas.openxmlformats.org/officeDocument/2006/relationships/notesSlide" Target="/ppt/notesSlides/notesSlide12.xml" Id="R6514bb3a44f4408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139e3f844d642fb" /><Relationship Type="http://schemas.openxmlformats.org/officeDocument/2006/relationships/notesSlide" Target="/ppt/notesSlides/notesSlide13.xml" Id="R8f35348090a7411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50fc0fe09c84595" /><Relationship Type="http://schemas.openxmlformats.org/officeDocument/2006/relationships/notesSlide" Target="/ppt/notesSlides/notesSlide14.xml" Id="Rcccc4c389cfc4f1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2fe9200d18b44df" /><Relationship Type="http://schemas.openxmlformats.org/officeDocument/2006/relationships/notesSlide" Target="/ppt/notesSlides/notesSlide15.xml" Id="Rb756733a2ffe49b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a0e02fc1b1a40f3" /><Relationship Type="http://schemas.openxmlformats.org/officeDocument/2006/relationships/notesSlide" Target="/ppt/notesSlides/notesSlide16.xml" Id="Rd1c1cfa8c78140a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e520ef1ebc14982" /><Relationship Type="http://schemas.openxmlformats.org/officeDocument/2006/relationships/notesSlide" Target="/ppt/notesSlides/notesSlide17.xml" Id="Rf739626ff9194d0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1237e8a7b014c1f" /><Relationship Type="http://schemas.openxmlformats.org/officeDocument/2006/relationships/notesSlide" Target="/ppt/notesSlides/notesSlide18.xml" Id="R5f6f2a84cc974fb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88265daeb374882" /><Relationship Type="http://schemas.openxmlformats.org/officeDocument/2006/relationships/notesSlide" Target="/ppt/notesSlides/notesSlide19.xml" Id="Ra24155eaaf73459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77f18e1c1094f2d" /><Relationship Type="http://schemas.openxmlformats.org/officeDocument/2006/relationships/notesSlide" Target="/ppt/notesSlides/notesSlide20.xml" Id="R18eb1498f18e4a7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d80d39bc981458d" /><Relationship Type="http://schemas.openxmlformats.org/officeDocument/2006/relationships/notesSlide" Target="/ppt/notesSlides/notesSlide21.xml" Id="R95c0be815f914a5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694a9eca6c5402f" /><Relationship Type="http://schemas.openxmlformats.org/officeDocument/2006/relationships/notesSlide" Target="/ppt/notesSlides/notesSlide22.xml" Id="Rfe7a09e2b9c4482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ser>
          <c:idx val="0"/>
          <c:order val="0"/>
          <c:tx>
            <c:v>Daily count</c:v>
          </c:tx>
          <c:spPr>
            <a:ln xmlns:a="http://schemas.openxmlformats.org/drawingml/2006/main" w="28575">
              <a:solidFill>
                <a:srgbClr val="087F77"/>
              </a:solidFill>
              <a:prstDash val="solid"/>
            </a:ln>
          </c:spPr>
          <c:marker>
            <c:symbol val="none"/>
          </c:marker>
          <c:cat>
            <c:strRef>
              <c:f>'Chart Data'!$A$2:$A$13</c:f>
              <c:strCache>
                <c:ptCount val="12"/>
                <c:pt idx="0">
                  <c:v>07-14</c:v>
                </c:pt>
                <c:pt idx="1">
                  <c:v>07-16</c:v>
                </c:pt>
                <c:pt idx="2">
                  <c:v>07-20</c:v>
                </c:pt>
                <c:pt idx="3">
                  <c:v>07-22</c:v>
                </c:pt>
                <c:pt idx="4">
                  <c:v>07-24</c:v>
                </c:pt>
                <c:pt idx="5">
                  <c:v>07-28</c:v>
                </c:pt>
                <c:pt idx="6">
                  <c:v>07-30</c:v>
                </c:pt>
                <c:pt idx="7">
                  <c:v>08-03</c:v>
                </c:pt>
                <c:pt idx="8">
                  <c:v>08-05</c:v>
                </c:pt>
                <c:pt idx="9">
                  <c:v>08-07</c:v>
                </c:pt>
                <c:pt idx="10">
                  <c:v>08-11</c:v>
                </c:pt>
                <c:pt idx="11">
                  <c:v>08-13</c:v>
                </c:pt>
              </c:strCache>
            </c:strRef>
          </c:cat>
          <c:val>
            <c:numRef>
              <c:f>'Chart Data'!$B$2:$B$13</c:f>
              <c:numCache>
                <c:formatCode>General</c:formatCode>
                <c:ptCount val="12"/>
                <c:pt idx="0">
                  <c:v>112</c:v>
                </c:pt>
                <c:pt idx="1">
                  <c:v>114</c:v>
                </c:pt>
                <c:pt idx="2">
                  <c:v>99</c:v>
                </c:pt>
                <c:pt idx="3">
                  <c:v>115</c:v>
                </c:pt>
                <c:pt idx="4">
                  <c:v>104</c:v>
                </c:pt>
                <c:pt idx="5">
                  <c:v>107</c:v>
                </c:pt>
                <c:pt idx="6">
                  <c:v>121</c:v>
                </c:pt>
                <c:pt idx="7">
                  <c:v>93</c:v>
                </c:pt>
                <c:pt idx="8">
                  <c:v>87</c:v>
                </c:pt>
                <c:pt idx="9">
                  <c:v>116</c:v>
                </c:pt>
                <c:pt idx="10">
                  <c:v>112</c:v>
                </c:pt>
                <c:pt idx="11">
                  <c:v>126</c:v>
                </c:pt>
              </c:numCache>
            </c:numRef>
          </c:val>
        </c:ser>
        <c:ser>
          <c:idx val="1"/>
          <c:order val="1"/>
          <c:tx>
            <c:v>XmR upper limit</c:v>
          </c:tx>
          <c:spPr>
            <a:ln xmlns:a="http://schemas.openxmlformats.org/drawingml/2006/main" w="19050">
              <a:solidFill>
                <a:srgbClr val="B45136"/>
              </a:solidFill>
              <a:prstDash val="solid"/>
            </a:ln>
          </c:spPr>
          <c:marker>
            <c:symbol val="none"/>
          </c:marker>
          <c:cat>
            <c:strRef>
              <c:f>'Chart Data'!$C$2:$C$13</c:f>
              <c:strCache>
                <c:ptCount val="12"/>
                <c:pt idx="0">
                  <c:v>07-14</c:v>
                </c:pt>
                <c:pt idx="1">
                  <c:v>07-16</c:v>
                </c:pt>
                <c:pt idx="2">
                  <c:v>07-20</c:v>
                </c:pt>
                <c:pt idx="3">
                  <c:v>07-22</c:v>
                </c:pt>
                <c:pt idx="4">
                  <c:v>07-24</c:v>
                </c:pt>
                <c:pt idx="5">
                  <c:v>07-28</c:v>
                </c:pt>
                <c:pt idx="6">
                  <c:v>07-30</c:v>
                </c:pt>
                <c:pt idx="7">
                  <c:v>08-03</c:v>
                </c:pt>
                <c:pt idx="8">
                  <c:v>08-05</c:v>
                </c:pt>
                <c:pt idx="9">
                  <c:v>08-07</c:v>
                </c:pt>
                <c:pt idx="10">
                  <c:v>08-11</c:v>
                </c:pt>
                <c:pt idx="11">
                  <c:v>08-13</c:v>
                </c:pt>
              </c:strCache>
            </c:strRef>
          </c:cat>
          <c:val>
            <c:numRef>
              <c:f>'Chart Data'!$D$2:$D$13</c:f>
              <c:numCache>
                <c:formatCode>General</c:formatCode>
                <c:ptCount val="12"/>
                <c:pt idx="0">
                  <c:v>144.2</c:v>
                </c:pt>
                <c:pt idx="1">
                  <c:v>144.4</c:v>
                </c:pt>
                <c:pt idx="2">
                  <c:v>142.4</c:v>
                </c:pt>
                <c:pt idx="3">
                  <c:v>138.1</c:v>
                </c:pt>
                <c:pt idx="4">
                  <c:v>134.3</c:v>
                </c:pt>
                <c:pt idx="5">
                  <c:v>133.5</c:v>
                </c:pt>
                <c:pt idx="6">
                  <c:v>131.9</c:v>
                </c:pt>
                <c:pt idx="7">
                  <c:v>134.7</c:v>
                </c:pt>
                <c:pt idx="8">
                  <c:v>132.2</c:v>
                </c:pt>
                <c:pt idx="9">
                  <c:v>132.1</c:v>
                </c:pt>
                <c:pt idx="10">
                  <c:v>132</c:v>
                </c:pt>
                <c:pt idx="11">
                  <c:v>133.5</c:v>
                </c:pt>
              </c:numCache>
            </c:numRef>
          </c:val>
        </c:ser>
        <c:ser>
          <c:idx val="2"/>
          <c:order val="2"/>
          <c:tx>
            <c:v>XmR lower limit</c:v>
          </c:tx>
          <c:spPr>
            <a:ln xmlns:a="http://schemas.openxmlformats.org/drawingml/2006/main" w="19050">
              <a:solidFill>
                <a:srgbClr val="A98E79"/>
              </a:solidFill>
              <a:prstDash val="solid"/>
            </a:ln>
          </c:spPr>
          <c:marker>
            <c:symbol val="none"/>
          </c:marker>
          <c:cat>
            <c:strRef>
              <c:f>'Chart Data'!$E$2:$E$13</c:f>
              <c:strCache>
                <c:ptCount val="12"/>
                <c:pt idx="0">
                  <c:v>07-14</c:v>
                </c:pt>
                <c:pt idx="1">
                  <c:v>07-16</c:v>
                </c:pt>
                <c:pt idx="2">
                  <c:v>07-20</c:v>
                </c:pt>
                <c:pt idx="3">
                  <c:v>07-22</c:v>
                </c:pt>
                <c:pt idx="4">
                  <c:v>07-24</c:v>
                </c:pt>
                <c:pt idx="5">
                  <c:v>07-28</c:v>
                </c:pt>
                <c:pt idx="6">
                  <c:v>07-30</c:v>
                </c:pt>
                <c:pt idx="7">
                  <c:v>08-03</c:v>
                </c:pt>
                <c:pt idx="8">
                  <c:v>08-05</c:v>
                </c:pt>
                <c:pt idx="9">
                  <c:v>08-07</c:v>
                </c:pt>
                <c:pt idx="10">
                  <c:v>08-11</c:v>
                </c:pt>
                <c:pt idx="11">
                  <c:v>08-13</c:v>
                </c:pt>
              </c:strCache>
            </c:strRef>
          </c:cat>
          <c:val>
            <c:numRef>
              <c:f>'Chart Data'!$F$2:$F$13</c:f>
              <c:numCache>
                <c:formatCode>General</c:formatCode>
                <c:ptCount val="12"/>
                <c:pt idx="0">
                  <c:v>75.3</c:v>
                </c:pt>
                <c:pt idx="1">
                  <c:v>74.1</c:v>
                </c:pt>
                <c:pt idx="2">
                  <c:v>74.8</c:v>
                </c:pt>
                <c:pt idx="3">
                  <c:v>77.1</c:v>
                </c:pt>
                <c:pt idx="4">
                  <c:v>81.6</c:v>
                </c:pt>
                <c:pt idx="5">
                  <c:v>83</c:v>
                </c:pt>
                <c:pt idx="6">
                  <c:v>85.6</c:v>
                </c:pt>
                <c:pt idx="7">
                  <c:v>82.4</c:v>
                </c:pt>
                <c:pt idx="8">
                  <c:v>81.8</c:v>
                </c:pt>
                <c:pt idx="9">
                  <c:v>81.1</c:v>
                </c:pt>
                <c:pt idx="10">
                  <c:v>84.4</c:v>
                </c:pt>
                <c:pt idx="11">
                  <c:v>85.4</c:v>
                </c:pt>
              </c:numCache>
            </c:numRef>
          </c:val>
        </c:ser>
        <c:dLbls>
          <c:txPr>
            <a:bodyPr xmlns:a="http://schemas.openxmlformats.org/drawingml/2006/main" anchorCtr="1"/>
            <a:lstStyle xmlns:a="http://schemas.openxmlformats.org/drawingml/2006/main"/>
            <a:p xmlns:a="http://schemas.openxmlformats.org/drawingml/2006/main">
              <a:pPr>
                <a:defRPr>
                  <a:latin typeface="Bitstream Charter"/>
                  <a:ea typeface="Bitstream Charter"/>
                  <a:cs typeface="Bitstream Charter"/>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Bitstream Charter"/>
                <a:ea typeface="Bitstream Charter"/>
                <a:cs typeface="Bitstream Charter"/>
              </a:defRPr>
            </a:pPr>
          </a:p>
        </c:txPr>
        <c:crossAx val="48672768"/>
      </c:catAx>
      <c:valAx>
        <c:axId val="48672768"/>
        <c:scaling>
          <c:orientation val="minMax"/>
        </c:scaling>
        <c:delete val="0"/>
        <c:axPos val="l"/>
        <c:majorGridlines>
          <c:spPr>
            <a:ln xmlns:a="http://schemas.openxmlformats.org/drawingml/2006/main" w="9525">
              <a:solidFill>
                <a:srgbClr val="DDE5E6"/>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Bitstream Charter"/>
                <a:ea typeface="Bitstream Charter"/>
                <a:cs typeface="Bitstream Charter"/>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Bitstream Charter"/>
              <a:ea typeface="Bitstream Charter"/>
              <a:cs typeface="Bitstream Charter"/>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53246"/>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E3E873F0-081D-4656-A8AC-3217060A9AEB}"/>
              </a:ext>
            </a:extLst>
          </p:cNvPr>
          <p:cNvSpPr>
            <a:spLocks xmlns:a="http://schemas.openxmlformats.org/drawingml/2006/main" noGrp="1"/>
          </p:cNvSpPr>
          <p:nvPr/>
        </p:nvSpPr>
        <p:spPr>
          <a:xfrm xmlns:a="http://schemas.openxmlformats.org/drawingml/2006/main">
            <a:off x="704850" y="1333500"/>
            <a:ext cx="10572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975" b="1">
                <a:solidFill>
                  <a:srgbClr val="FFFFFF"/>
                </a:solidFill>
                <a:latin typeface="Bitstream Charter"/>
                <a:ea typeface="Bitstream Charter"/>
                <a:cs typeface="Bitstream Charter"/>
              </a:defRPr>
            </a:pPr>
            <a:r>
              <a:rPr sz="3975" b="1">
                <a:solidFill>
                  <a:srgbClr val="FFFFFF"/>
                </a:solidFill>
                <a:latin typeface="Bitstream Charter"/>
                <a:ea typeface="Bitstream Charter"/>
                <a:cs typeface="Bitstream Charter"/>
              </a:rPr>
              <a:t>Statistical process control + machine learning</a:t>
            </a:r>
          </a:p>
        </p:txBody>
      </p:sp>
      <p:sp>
        <p:nvSpPr>
          <p:cNvPr id="2" name="">
            <a:extLst xmlns:a="http://schemas.openxmlformats.org/drawingml/2006/main">
              <a:ext uri="{FF2B5EF4-FFF2-40B4-BE49-F238E27FC236}">
                <a16:creationId xmlns:a16="http://schemas.microsoft.com/office/drawing/2014/main" id="{C07DE56B-3A76-4F6C-81D1-E7AE0EF46851}"/>
              </a:ext>
            </a:extLst>
          </p:cNvPr>
          <p:cNvSpPr>
            <a:spLocks xmlns:a="http://schemas.openxmlformats.org/drawingml/2006/main" noGrp="1"/>
          </p:cNvSpPr>
          <p:nvPr/>
        </p:nvSpPr>
        <p:spPr>
          <a:xfrm xmlns:a="http://schemas.openxmlformats.org/drawingml/2006/main">
            <a:off x="704850" y="3086100"/>
            <a:ext cx="10477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325" b="0">
                <a:solidFill>
                  <a:srgbClr val="E2EFEF"/>
                </a:solidFill>
                <a:latin typeface="Bitstream Charter"/>
                <a:ea typeface="Bitstream Charter"/>
                <a:cs typeface="Bitstream Charter"/>
              </a:defRPr>
            </a:pPr>
            <a:r>
              <a:rPr sz="2325" b="0">
                <a:solidFill>
                  <a:srgbClr val="E2EFEF"/>
                </a:solidFill>
                <a:latin typeface="Bitstream Charter"/>
                <a:ea typeface="Bitstream Charter"/>
                <a:cs typeface="Bitstream Charter"/>
              </a:rPr>
              <a:t>A plain-English walkthrough of the expanded Databricks notebook</a:t>
            </a:r>
          </a:p>
        </p:txBody>
      </p:sp>
      <p:sp>
        <p:nvSpPr>
          <p:cNvPr id="3" name="">
            <a:extLst xmlns:a="http://schemas.openxmlformats.org/drawingml/2006/main">
              <a:ext uri="{FF2B5EF4-FFF2-40B4-BE49-F238E27FC236}">
                <a16:creationId xmlns:a16="http://schemas.microsoft.com/office/drawing/2014/main" id="{7E1C1059-9250-4B8F-A77C-F08F53FF51B9}"/>
              </a:ext>
            </a:extLst>
          </p:cNvPr>
          <p:cNvSpPr>
            <a:spLocks xmlns:a="http://schemas.openxmlformats.org/drawingml/2006/main" noGrp="1"/>
          </p:cNvSpPr>
          <p:nvPr/>
        </p:nvSpPr>
        <p:spPr>
          <a:xfrm xmlns:a="http://schemas.openxmlformats.org/drawingml/2006/main">
            <a:off x="704850" y="5143500"/>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FFFFFF"/>
                </a:solidFill>
                <a:latin typeface="Bitstream Charter"/>
                <a:ea typeface="Bitstream Charter"/>
                <a:cs typeface="Bitstream Charter"/>
              </a:defRPr>
            </a:pPr>
            <a:r>
              <a:rPr sz="1575" b="0">
                <a:solidFill>
                  <a:srgbClr val="FFFFFF"/>
                </a:solidFill>
                <a:latin typeface="Bitstream Charter"/>
                <a:ea typeface="Bitstream Charter"/>
                <a:cs typeface="Bitstream Charter"/>
              </a:rPr>
              <a:t>AttainX fictional-data demonstration  •  20 cells  •  Presenter companion</a:t>
            </a:r>
          </a:p>
        </p:txBody>
      </p:sp>
    </p:spTree>
    <p:extLst>
      <p:ext uri="{BB962C8B-B14F-4D97-AF65-F5344CB8AC3E}">
        <p14:creationId xmlns:p14="http://schemas.microsoft.com/office/powerpoint/2010/main" val="1505350317"/>
      </p:ext>
    </p:extLst>
  </p:cSld>
</p:sld>
</file>

<file path=ppt/slides/slide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5C08D4E-A379-4454-A3B3-0B1F6A0ABA98}"/>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SPC PRIMER</a:t>
            </a:r>
          </a:p>
        </p:txBody>
      </p:sp>
      <p:sp>
        <p:nvSpPr>
          <p:cNvPr id="2" name="">
            <a:extLst xmlns:a="http://schemas.openxmlformats.org/drawingml/2006/main">
              <a:ext uri="{FF2B5EF4-FFF2-40B4-BE49-F238E27FC236}">
                <a16:creationId xmlns:a16="http://schemas.microsoft.com/office/drawing/2014/main" id="{95ADE7D7-4B17-49D0-8CFF-082FC4B73471}"/>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What statistical process control asks</a:t>
            </a:r>
          </a:p>
        </p:txBody>
      </p:sp>
      <p:sp>
        <p:nvSpPr>
          <p:cNvPr id="3" name="">
            <a:extLst xmlns:a="http://schemas.openxmlformats.org/drawingml/2006/main">
              <a:ext uri="{FF2B5EF4-FFF2-40B4-BE49-F238E27FC236}">
                <a16:creationId xmlns:a16="http://schemas.microsoft.com/office/drawing/2014/main" id="{D0DFF58F-F755-4279-B279-D8F9B33A3F12}"/>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F574C29F-9DAA-4748-BB14-721D1678AE47}"/>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02</a:t>
            </a:r>
          </a:p>
        </p:txBody>
      </p:sp>
      <p:sp>
        <p:nvSpPr>
          <p:cNvPr id="5" name="">
            <a:extLst xmlns:a="http://schemas.openxmlformats.org/drawingml/2006/main">
              <a:ext uri="{FF2B5EF4-FFF2-40B4-BE49-F238E27FC236}">
                <a16:creationId xmlns:a16="http://schemas.microsoft.com/office/drawing/2014/main" id="{1A6B397E-C683-4E3D-82CB-3637349E3F70}"/>
              </a:ext>
            </a:extLst>
          </p:cNvPr>
          <p:cNvSpPr>
            <a:spLocks xmlns:a="http://schemas.openxmlformats.org/drawingml/2006/main" noGrp="1"/>
          </p:cNvSpPr>
          <p:nvPr/>
        </p:nvSpPr>
        <p:spPr>
          <a:xfrm xmlns:a="http://schemas.openxmlformats.org/drawingml/2006/main">
            <a:off x="704850" y="1657350"/>
            <a:ext cx="9429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1">
                <a:solidFill>
                  <a:srgbClr val="153246"/>
                </a:solidFill>
                <a:latin typeface="Bitstream Charter"/>
                <a:ea typeface="Bitstream Charter"/>
                <a:cs typeface="Bitstream Charter"/>
              </a:defRPr>
            </a:pPr>
            <a:r>
              <a:rPr sz="2250" b="1">
                <a:solidFill>
                  <a:srgbClr val="153246"/>
                </a:solidFill>
                <a:latin typeface="Bitstream Charter"/>
                <a:ea typeface="Bitstream Charter"/>
                <a:cs typeface="Bitstream Charter"/>
              </a:rPr>
              <a:t>Daily work counts naturally rise and fall.</a:t>
            </a:r>
          </a:p>
        </p:txBody>
      </p:sp>
      <p:graphicFrame>
        <p:nvGraphicFramePr>
          <p:cNvPr id="15" name="Chart"/>
          <p:cNvGraphicFramePr/>
          <p:nvPr/>
        </p:nvGraphicFramePr>
        <p:xfrm>
          <a:off xmlns:a="http://schemas.openxmlformats.org/drawingml/2006/main" x="704850" y="2171700"/>
          <a:ext xmlns:a="http://schemas.openxmlformats.org/drawingml/2006/main" cx="10477500" cy="3114675"/>
        </p:xfrm>
        <a:graphic xmlns:a="http://schemas.openxmlformats.org/drawingml/2006/main">
          <a:graphicData uri="http://schemas.openxmlformats.org/drawingml/2006/chart">
            <c:chart xmlns:r="http://schemas.openxmlformats.org/officeDocument/2006/relationships" xmlns:c="http://schemas.openxmlformats.org/drawingml/2006/chart" r:id="Re88c49691e6e4982"/>
          </a:graphicData>
        </a:graphic>
      </p:graphicFrame>
      <p:sp>
        <p:nvSpPr>
          <p:cNvPr id="7" name="">
            <a:extLst xmlns:a="http://schemas.openxmlformats.org/drawingml/2006/main">
              <a:ext uri="{FF2B5EF4-FFF2-40B4-BE49-F238E27FC236}">
                <a16:creationId xmlns:a16="http://schemas.microsoft.com/office/drawing/2014/main" id="{0DD3BAA6-F21B-4898-995F-7125ADC75849}"/>
              </a:ext>
            </a:extLst>
          </p:cNvPr>
          <p:cNvSpPr>
            <a:spLocks xmlns:a="http://schemas.openxmlformats.org/drawingml/2006/main" noGrp="1"/>
          </p:cNvSpPr>
          <p:nvPr/>
        </p:nvSpPr>
        <p:spPr>
          <a:xfrm xmlns:a="http://schemas.openxmlformats.org/drawingml/2006/main">
            <a:off x="704850" y="555307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75" b="0">
                <a:solidFill>
                  <a:srgbClr val="526675"/>
                </a:solidFill>
                <a:latin typeface="Bitstream Charter"/>
                <a:ea typeface="Bitstream Charter"/>
                <a:cs typeface="Bitstream Charter"/>
              </a:defRPr>
            </a:pPr>
            <a:r>
              <a:rPr sz="1575" b="0">
                <a:solidFill>
                  <a:srgbClr val="526675"/>
                </a:solidFill>
                <a:latin typeface="Bitstream Charter"/>
                <a:ea typeface="Bitstream Charter"/>
                <a:cs typeface="Bitstream Charter"/>
              </a:rPr>
              <a:t>Illustrative count pattern and XmR limits. Inspect the current notebook charts during the live demonstration.</a:t>
            </a:r>
          </a:p>
        </p:txBody>
      </p:sp>
    </p:spTree>
    <p:extLst>
      <p:ext uri="{BB962C8B-B14F-4D97-AF65-F5344CB8AC3E}">
        <p14:creationId xmlns:p14="http://schemas.microsoft.com/office/powerpoint/2010/main" val="1515030984"/>
      </p:ext>
    </p:extLst>
  </p:cSld>
</p:sld>
</file>

<file path=ppt/slides/slide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FF83A7-4A86-4733-8987-0391DB0D4E80}"/>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SPC PRIMER</a:t>
            </a:r>
          </a:p>
        </p:txBody>
      </p:sp>
      <p:sp>
        <p:nvSpPr>
          <p:cNvPr id="2" name="">
            <a:extLst xmlns:a="http://schemas.openxmlformats.org/drawingml/2006/main">
              <a:ext uri="{FF2B5EF4-FFF2-40B4-BE49-F238E27FC236}">
                <a16:creationId xmlns:a16="http://schemas.microsoft.com/office/drawing/2014/main" id="{AD00635F-160D-454C-A77F-F16B29ED4EA1}"/>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Three checks, plus severity zones</a:t>
            </a:r>
          </a:p>
        </p:txBody>
      </p:sp>
      <p:sp>
        <p:nvSpPr>
          <p:cNvPr id="3" name="">
            <a:extLst xmlns:a="http://schemas.openxmlformats.org/drawingml/2006/main">
              <a:ext uri="{FF2B5EF4-FFF2-40B4-BE49-F238E27FC236}">
                <a16:creationId xmlns:a16="http://schemas.microsoft.com/office/drawing/2014/main" id="{C6F88D08-4B36-4FA7-8FEE-6C4749BF5139}"/>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B7A28C25-7B86-4156-944C-36C0B2EB4FED}"/>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03</a:t>
            </a:r>
          </a:p>
        </p:txBody>
      </p:sp>
      <p:sp>
        <p:nvSpPr>
          <p:cNvPr id="5" name="">
            <a:extLst xmlns:a="http://schemas.openxmlformats.org/drawingml/2006/main">
              <a:ext uri="{FF2B5EF4-FFF2-40B4-BE49-F238E27FC236}">
                <a16:creationId xmlns:a16="http://schemas.microsoft.com/office/drawing/2014/main" id="{6211C571-3AAD-40CE-A39E-9DEA10576891}"/>
              </a:ext>
            </a:extLst>
          </p:cNvPr>
          <p:cNvSpPr>
            <a:spLocks xmlns:a="http://schemas.openxmlformats.org/drawingml/2006/main" noGrp="1"/>
          </p:cNvSpPr>
          <p:nvPr/>
        </p:nvSpPr>
        <p:spPr>
          <a:xfrm xmlns:a="http://schemas.openxmlformats.org/drawingml/2006/main">
            <a:off x="704850" y="17907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XmR</a:t>
            </a:r>
          </a:p>
        </p:txBody>
      </p:sp>
      <p:sp>
        <p:nvSpPr>
          <p:cNvPr id="6" name="">
            <a:extLst xmlns:a="http://schemas.openxmlformats.org/drawingml/2006/main">
              <a:ext uri="{FF2B5EF4-FFF2-40B4-BE49-F238E27FC236}">
                <a16:creationId xmlns:a16="http://schemas.microsoft.com/office/drawing/2014/main" id="{413D44F5-B04F-41BE-8226-F2F8BF68493A}"/>
              </a:ext>
            </a:extLst>
          </p:cNvPr>
          <p:cNvSpPr>
            <a:spLocks xmlns:a="http://schemas.openxmlformats.org/drawingml/2006/main" noGrp="1"/>
          </p:cNvSpPr>
          <p:nvPr/>
        </p:nvSpPr>
        <p:spPr>
          <a:xfrm xmlns:a="http://schemas.openxmlformats.org/drawingml/2006/main">
            <a:off x="704850" y="21717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Large jumps against limits derived from moving ranges.</a:t>
            </a:r>
          </a:p>
        </p:txBody>
      </p:sp>
      <p:sp>
        <p:nvSpPr>
          <p:cNvPr id="7" name="">
            <a:extLst xmlns:a="http://schemas.openxmlformats.org/drawingml/2006/main">
              <a:ext uri="{FF2B5EF4-FFF2-40B4-BE49-F238E27FC236}">
                <a16:creationId xmlns:a16="http://schemas.microsoft.com/office/drawing/2014/main" id="{46DA8C5A-1225-45A5-BEBD-964BC9D02401}"/>
              </a:ext>
            </a:extLst>
          </p:cNvPr>
          <p:cNvSpPr>
            <a:spLocks xmlns:a="http://schemas.openxmlformats.org/drawingml/2006/main" noGrp="1"/>
          </p:cNvSpPr>
          <p:nvPr/>
        </p:nvSpPr>
        <p:spPr>
          <a:xfrm xmlns:a="http://schemas.openxmlformats.org/drawingml/2006/main">
            <a:off x="704850" y="30099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CUSUM</a:t>
            </a:r>
          </a:p>
        </p:txBody>
      </p:sp>
      <p:sp>
        <p:nvSpPr>
          <p:cNvPr id="8" name="">
            <a:extLst xmlns:a="http://schemas.openxmlformats.org/drawingml/2006/main">
              <a:ext uri="{FF2B5EF4-FFF2-40B4-BE49-F238E27FC236}">
                <a16:creationId xmlns:a16="http://schemas.microsoft.com/office/drawing/2014/main" id="{8779ED53-3F39-4160-B7B9-39686AA57CEF}"/>
              </a:ext>
            </a:extLst>
          </p:cNvPr>
          <p:cNvSpPr>
            <a:spLocks xmlns:a="http://schemas.openxmlformats.org/drawingml/2006/main" noGrp="1"/>
          </p:cNvSpPr>
          <p:nvPr/>
        </p:nvSpPr>
        <p:spPr>
          <a:xfrm xmlns:a="http://schemas.openxmlformats.org/drawingml/2006/main">
            <a:off x="704850" y="33909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Small deviations accumulate to reveal sustained shifts.</a:t>
            </a:r>
          </a:p>
        </p:txBody>
      </p:sp>
      <p:sp>
        <p:nvSpPr>
          <p:cNvPr id="9" name="">
            <a:extLst xmlns:a="http://schemas.openxmlformats.org/drawingml/2006/main">
              <a:ext uri="{FF2B5EF4-FFF2-40B4-BE49-F238E27FC236}">
                <a16:creationId xmlns:a16="http://schemas.microsoft.com/office/drawing/2014/main" id="{AA0BED44-4059-41F6-9E9F-2E416E17A0CE}"/>
              </a:ext>
            </a:extLst>
          </p:cNvPr>
          <p:cNvSpPr>
            <a:spLocks xmlns:a="http://schemas.openxmlformats.org/drawingml/2006/main" noGrp="1"/>
          </p:cNvSpPr>
          <p:nvPr/>
        </p:nvSpPr>
        <p:spPr>
          <a:xfrm xmlns:a="http://schemas.openxmlformats.org/drawingml/2006/main">
            <a:off x="704850" y="42291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EWMA</a:t>
            </a:r>
          </a:p>
        </p:txBody>
      </p:sp>
      <p:sp>
        <p:nvSpPr>
          <p:cNvPr id="10" name="">
            <a:extLst xmlns:a="http://schemas.openxmlformats.org/drawingml/2006/main">
              <a:ext uri="{FF2B5EF4-FFF2-40B4-BE49-F238E27FC236}">
                <a16:creationId xmlns:a16="http://schemas.microsoft.com/office/drawing/2014/main" id="{473E54BC-6231-40E4-8FF7-5100CDD2D20B}"/>
              </a:ext>
            </a:extLst>
          </p:cNvPr>
          <p:cNvSpPr>
            <a:spLocks xmlns:a="http://schemas.openxmlformats.org/drawingml/2006/main" noGrp="1"/>
          </p:cNvSpPr>
          <p:nvPr/>
        </p:nvSpPr>
        <p:spPr>
          <a:xfrm xmlns:a="http://schemas.openxmlformats.org/drawingml/2006/main">
            <a:off x="704850" y="46101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Recent counts carry more weight. Zone checks add severity context.</a:t>
            </a:r>
          </a:p>
        </p:txBody>
      </p:sp>
    </p:spTree>
    <p:extLst>
      <p:ext uri="{BB962C8B-B14F-4D97-AF65-F5344CB8AC3E}">
        <p14:creationId xmlns:p14="http://schemas.microsoft.com/office/powerpoint/2010/main" val="774216027"/>
      </p:ext>
    </p:extLst>
  </p:cSld>
</p:sld>
</file>

<file path=ppt/slides/slide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B25555-7037-45EB-8FE9-74989C9C60CF}"/>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WORKFLOW</a:t>
            </a:r>
          </a:p>
        </p:txBody>
      </p:sp>
      <p:sp>
        <p:nvSpPr>
          <p:cNvPr id="2" name="">
            <a:extLst xmlns:a="http://schemas.openxmlformats.org/drawingml/2006/main">
              <a:ext uri="{FF2B5EF4-FFF2-40B4-BE49-F238E27FC236}">
                <a16:creationId xmlns:a16="http://schemas.microsoft.com/office/drawing/2014/main" id="{023203B2-FE3B-4B96-980D-5256E45C5D5C}"/>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Detect, forecast, investigate, review</a:t>
            </a:r>
          </a:p>
        </p:txBody>
      </p:sp>
      <p:sp>
        <p:nvSpPr>
          <p:cNvPr id="3" name="">
            <a:extLst xmlns:a="http://schemas.openxmlformats.org/drawingml/2006/main">
              <a:ext uri="{FF2B5EF4-FFF2-40B4-BE49-F238E27FC236}">
                <a16:creationId xmlns:a16="http://schemas.microsoft.com/office/drawing/2014/main" id="{5F031F0F-C653-442F-992B-BF6DC1F675D9}"/>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21DE002A-7B83-41D3-A16B-A7B17EEB45F5}"/>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04</a:t>
            </a:r>
          </a:p>
        </p:txBody>
      </p:sp>
      <p:sp>
        <p:nvSpPr>
          <p:cNvPr id="5" name="">
            <a:extLst xmlns:a="http://schemas.openxmlformats.org/drawingml/2006/main">
              <a:ext uri="{FF2B5EF4-FFF2-40B4-BE49-F238E27FC236}">
                <a16:creationId xmlns:a16="http://schemas.microsoft.com/office/drawing/2014/main" id="{EA5A4B71-9378-480F-89B4-1B05D0D09A77}"/>
              </a:ext>
            </a:extLst>
          </p:cNvPr>
          <p:cNvSpPr>
            <a:spLocks xmlns:a="http://schemas.openxmlformats.org/drawingml/2006/main" noGrp="1"/>
          </p:cNvSpPr>
          <p:nvPr/>
        </p:nvSpPr>
        <p:spPr>
          <a:xfrm xmlns:a="http://schemas.openxmlformats.org/drawingml/2006/main">
            <a:off x="704850" y="18954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Understand the observation</a:t>
            </a:r>
          </a:p>
        </p:txBody>
      </p:sp>
      <p:sp>
        <p:nvSpPr>
          <p:cNvPr id="6" name="">
            <a:extLst xmlns:a="http://schemas.openxmlformats.org/drawingml/2006/main">
              <a:ext uri="{FF2B5EF4-FFF2-40B4-BE49-F238E27FC236}">
                <a16:creationId xmlns:a16="http://schemas.microsoft.com/office/drawing/2014/main" id="{996C924B-86C1-4F79-B3DB-8F36380C2A30}"/>
              </a:ext>
            </a:extLst>
          </p:cNvPr>
          <p:cNvSpPr>
            <a:spLocks xmlns:a="http://schemas.openxmlformats.org/drawingml/2006/main" noGrp="1"/>
          </p:cNvSpPr>
          <p:nvPr/>
        </p:nvSpPr>
        <p:spPr>
          <a:xfrm xmlns:a="http://schemas.openxmlformats.org/drawingml/2006/main">
            <a:off x="704850" y="2352675"/>
            <a:ext cx="49149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00" b="0">
                <a:solidFill>
                  <a:srgbClr val="173447"/>
                </a:solidFill>
                <a:latin typeface="Aptos"/>
                <a:ea typeface="Aptos"/>
                <a:cs typeface="Aptos"/>
              </a:defRPr>
            </a:pPr>
            <a:r>
              <a:rPr sz="1900" b="0">
                <a:solidFill>
                  <a:srgbClr val="173447"/>
                </a:solidFill>
                <a:latin typeface="Aptos"/>
                <a:ea typeface="Aptos"/>
                <a:cs typeface="Aptos"/>
              </a:rPr>
              <a:t>SPC and zones flag change.</a:t>
            </a:r>
          </a:p>
          <a:p xmlns:a="http://schemas.openxmlformats.org/drawingml/2006/main">
            <a:r>
              <a:t/>
            </a:r>
          </a:p>
          <a:p xmlns:a="http://schemas.openxmlformats.org/drawingml/2006/main">
            <a:pPr>
              <a:buNone/>
              <a:defRPr sz="1900" b="0">
                <a:solidFill>
                  <a:srgbClr val="173447"/>
                </a:solidFill>
                <a:latin typeface="Aptos"/>
                <a:ea typeface="Aptos"/>
                <a:cs typeface="Aptos"/>
              </a:defRPr>
            </a:pPr>
            <a:r>
              <a:rPr sz="1900" b="0">
                <a:solidFill>
                  <a:srgbClr val="173447"/>
                </a:solidFill>
                <a:latin typeface="Aptos"/>
                <a:ea typeface="Aptos"/>
                <a:cs typeface="Aptos"/>
              </a:rPr>
              <a:t>A separate anomaly model highlights unusual combinations of features.</a:t>
            </a:r>
          </a:p>
        </p:txBody>
      </p:sp>
      <p:sp>
        <p:nvSpPr>
          <p:cNvPr id="7" name="">
            <a:extLst xmlns:a="http://schemas.openxmlformats.org/drawingml/2006/main">
              <a:ext uri="{FF2B5EF4-FFF2-40B4-BE49-F238E27FC236}">
                <a16:creationId xmlns:a16="http://schemas.microsoft.com/office/drawing/2014/main" id="{9CDC13F3-DC85-4E69-B728-FDF653661E61}"/>
              </a:ext>
            </a:extLst>
          </p:cNvPr>
          <p:cNvSpPr>
            <a:spLocks xmlns:a="http://schemas.openxmlformats.org/drawingml/2006/main" noGrp="1"/>
          </p:cNvSpPr>
          <p:nvPr/>
        </p:nvSpPr>
        <p:spPr>
          <a:xfrm xmlns:a="http://schemas.openxmlformats.org/drawingml/2006/main">
            <a:off x="6362700" y="1895475"/>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Understand the next step</a:t>
            </a:r>
          </a:p>
        </p:txBody>
      </p:sp>
      <p:sp>
        <p:nvSpPr>
          <p:cNvPr id="8" name="">
            <a:extLst xmlns:a="http://schemas.openxmlformats.org/drawingml/2006/main">
              <a:ext uri="{FF2B5EF4-FFF2-40B4-BE49-F238E27FC236}">
                <a16:creationId xmlns:a16="http://schemas.microsoft.com/office/drawing/2014/main" id="{D3C2F343-A078-4024-B96F-386DD0174DEC}"/>
              </a:ext>
            </a:extLst>
          </p:cNvPr>
          <p:cNvSpPr>
            <a:spLocks xmlns:a="http://schemas.openxmlformats.org/drawingml/2006/main" noGrp="1"/>
          </p:cNvSpPr>
          <p:nvPr/>
        </p:nvSpPr>
        <p:spPr>
          <a:xfrm xmlns:a="http://schemas.openxmlformats.org/drawingml/2006/main">
            <a:off x="6362700" y="2352675"/>
            <a:ext cx="50482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00" b="0">
                <a:solidFill>
                  <a:srgbClr val="173447"/>
                </a:solidFill>
                <a:latin typeface="Aptos"/>
                <a:ea typeface="Aptos"/>
                <a:cs typeface="Aptos"/>
              </a:defRPr>
            </a:pPr>
            <a:r>
              <a:rPr sz="1900" b="0">
                <a:solidFill>
                  <a:srgbClr val="173447"/>
                </a:solidFill>
                <a:latin typeface="Aptos"/>
                <a:ea typeface="Aptos"/>
                <a:cs typeface="Aptos"/>
              </a:rPr>
              <a:t>Forecast future counts.</a:t>
            </a:r>
          </a:p>
          <a:p xmlns:a="http://schemas.openxmlformats.org/drawingml/2006/main">
            <a:r>
              <a:t/>
            </a:r>
          </a:p>
          <a:p xmlns:a="http://schemas.openxmlformats.org/drawingml/2006/main">
            <a:pPr>
              <a:buNone/>
              <a:defRPr sz="1900" b="0">
                <a:solidFill>
                  <a:srgbClr val="173447"/>
                </a:solidFill>
                <a:latin typeface="Aptos"/>
                <a:ea typeface="Aptos"/>
                <a:cs typeface="Aptos"/>
              </a:defRPr>
            </a:pPr>
            <a:r>
              <a:rPr sz="1900" b="0">
                <a:solidFill>
                  <a:srgbClr val="173447"/>
                </a:solidFill>
                <a:latin typeface="Aptos"/>
                <a:ea typeface="Aptos"/>
                <a:cs typeface="Aptos"/>
              </a:rPr>
              <a:t>Use subgroup changes, lineage and events to form reviewable hypotheses.</a:t>
            </a:r>
          </a:p>
        </p:txBody>
      </p:sp>
      <p:sp>
        <p:nvSpPr>
          <p:cNvPr id="9" name="">
            <a:extLst xmlns:a="http://schemas.openxmlformats.org/drawingml/2006/main">
              <a:ext uri="{FF2B5EF4-FFF2-40B4-BE49-F238E27FC236}">
                <a16:creationId xmlns:a16="http://schemas.microsoft.com/office/drawing/2014/main" id="{059D5B56-0DF3-452D-9EB0-342ED6439466}"/>
              </a:ext>
            </a:extLst>
          </p:cNvPr>
          <p:cNvSpPr>
            <a:spLocks xmlns:a="http://schemas.openxmlformats.org/drawingml/2006/main" noGrp="1"/>
          </p:cNvSpPr>
          <p:nvPr/>
        </p:nvSpPr>
        <p:spPr>
          <a:xfrm xmlns:a="http://schemas.openxmlformats.org/drawingml/2006/main">
            <a:off x="704850" y="5562600"/>
            <a:ext cx="10382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26675"/>
                </a:solidFill>
                <a:latin typeface="Bitstream Charter"/>
                <a:ea typeface="Bitstream Charter"/>
                <a:cs typeface="Bitstream Charter"/>
              </a:defRPr>
            </a:pPr>
            <a:r>
              <a:rPr sz="1725" b="0">
                <a:solidFill>
                  <a:srgbClr val="526675"/>
                </a:solidFill>
                <a:latin typeface="Bitstream Charter"/>
                <a:ea typeface="Bitstream Charter"/>
                <a:cs typeface="Bitstream Charter"/>
              </a:rPr>
              <a:t>Compare simple baselines. Preserve human review and a way to withdraw a model.</a:t>
            </a:r>
          </a:p>
        </p:txBody>
      </p:sp>
    </p:spTree>
    <p:extLst>
      <p:ext uri="{BB962C8B-B14F-4D97-AF65-F5344CB8AC3E}">
        <p14:creationId xmlns:p14="http://schemas.microsoft.com/office/powerpoint/2010/main" val="1945948430"/>
      </p:ext>
    </p:extLst>
  </p:cSld>
</p:sld>
</file>

<file path=ppt/slides/slide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0E5F37-A964-4863-9BAA-517FD3D08F51}"/>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CELLS 1–2</a:t>
            </a:r>
          </a:p>
        </p:txBody>
      </p:sp>
      <p:sp>
        <p:nvSpPr>
          <p:cNvPr id="2" name="">
            <a:extLst xmlns:a="http://schemas.openxmlformats.org/drawingml/2006/main">
              <a:ext uri="{FF2B5EF4-FFF2-40B4-BE49-F238E27FC236}">
                <a16:creationId xmlns:a16="http://schemas.microsoft.com/office/drawing/2014/main" id="{0EDFCF03-FACB-47F2-B1BC-0BD0471D7C35}"/>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Fictional counts, explicit calendar</a:t>
            </a:r>
          </a:p>
        </p:txBody>
      </p:sp>
      <p:sp>
        <p:nvSpPr>
          <p:cNvPr id="3" name="">
            <a:extLst xmlns:a="http://schemas.openxmlformats.org/drawingml/2006/main">
              <a:ext uri="{FF2B5EF4-FFF2-40B4-BE49-F238E27FC236}">
                <a16:creationId xmlns:a16="http://schemas.microsoft.com/office/drawing/2014/main" id="{CF815B48-3182-4948-A87C-0ADF1C09E54D}"/>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D698A180-8F4E-4CD8-A2DF-128D45234C79}"/>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05</a:t>
            </a:r>
          </a:p>
        </p:txBody>
      </p:sp>
      <p:sp>
        <p:nvSpPr>
          <p:cNvPr id="5" name="">
            <a:extLst xmlns:a="http://schemas.openxmlformats.org/drawingml/2006/main">
              <a:ext uri="{FF2B5EF4-FFF2-40B4-BE49-F238E27FC236}">
                <a16:creationId xmlns:a16="http://schemas.microsoft.com/office/drawing/2014/main" id="{A1FDC57D-8FD0-4A19-AA09-F29AF1797178}"/>
              </a:ext>
            </a:extLst>
          </p:cNvPr>
          <p:cNvSpPr>
            <a:spLocks xmlns:a="http://schemas.openxmlformats.org/drawingml/2006/main" noGrp="1"/>
          </p:cNvSpPr>
          <p:nvPr/>
        </p:nvSpPr>
        <p:spPr>
          <a:xfrm xmlns:a="http://schemas.openxmlformats.org/drawingml/2006/main">
            <a:off x="704850" y="18192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What runs locally</a:t>
            </a:r>
          </a:p>
        </p:txBody>
      </p:sp>
      <p:sp>
        <p:nvSpPr>
          <p:cNvPr id="6" name="">
            <a:extLst xmlns:a="http://schemas.openxmlformats.org/drawingml/2006/main">
              <a:ext uri="{FF2B5EF4-FFF2-40B4-BE49-F238E27FC236}">
                <a16:creationId xmlns:a16="http://schemas.microsoft.com/office/drawing/2014/main" id="{105A2207-6220-4866-ACCC-95775282996D}"/>
              </a:ext>
            </a:extLst>
          </p:cNvPr>
          <p:cNvSpPr>
            <a:spLocks xmlns:a="http://schemas.openxmlformats.org/drawingml/2006/main" noGrp="1"/>
          </p:cNvSpPr>
          <p:nvPr/>
        </p:nvSpPr>
        <p:spPr>
          <a:xfrm xmlns:a="http://schemas.openxmlformats.org/drawingml/2006/main">
            <a:off x="704850" y="2200275"/>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Three queues across 420 business days: 1,260 counts, planted shifts and spikes. Fixed seed 42 supports repeatable inspection.</a:t>
            </a:r>
          </a:p>
        </p:txBody>
      </p:sp>
      <p:sp>
        <p:nvSpPr>
          <p:cNvPr id="7" name="">
            <a:extLst xmlns:a="http://schemas.openxmlformats.org/drawingml/2006/main">
              <a:ext uri="{FF2B5EF4-FFF2-40B4-BE49-F238E27FC236}">
                <a16:creationId xmlns:a16="http://schemas.microsoft.com/office/drawing/2014/main" id="{36400334-33C9-4715-87E4-0E111746F30B}"/>
              </a:ext>
            </a:extLst>
          </p:cNvPr>
          <p:cNvSpPr>
            <a:spLocks xmlns:a="http://schemas.openxmlformats.org/drawingml/2006/main" noGrp="1"/>
          </p:cNvSpPr>
          <p:nvPr/>
        </p:nvSpPr>
        <p:spPr>
          <a:xfrm xmlns:a="http://schemas.openxmlformats.org/drawingml/2006/main">
            <a:off x="704850" y="393382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Calendar and boundaries</a:t>
            </a:r>
          </a:p>
        </p:txBody>
      </p:sp>
      <p:sp>
        <p:nvSpPr>
          <p:cNvPr id="8" name="">
            <a:extLst xmlns:a="http://schemas.openxmlformats.org/drawingml/2006/main">
              <a:ext uri="{FF2B5EF4-FFF2-40B4-BE49-F238E27FC236}">
                <a16:creationId xmlns:a16="http://schemas.microsoft.com/office/drawing/2014/main" id="{241893B8-2681-4D4C-9C82-57CE0733038C}"/>
              </a:ext>
            </a:extLst>
          </p:cNvPr>
          <p:cNvSpPr>
            <a:spLocks xmlns:a="http://schemas.openxmlformats.org/drawingml/2006/main" noGrp="1"/>
          </p:cNvSpPr>
          <p:nvPr/>
        </p:nvSpPr>
        <p:spPr>
          <a:xfrm xmlns:a="http://schemas.openxmlformats.org/drawingml/2006/main">
            <a:off x="704850" y="4314825"/>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Weekends and U.S. federal holidays are excluded. This is a demo calendar, not an agency-specific operating calendar. Delta and registry destinations begin empty.</a:t>
            </a:r>
          </a:p>
        </p:txBody>
      </p:sp>
    </p:spTree>
    <p:extLst>
      <p:ext uri="{BB962C8B-B14F-4D97-AF65-F5344CB8AC3E}">
        <p14:creationId xmlns:p14="http://schemas.microsoft.com/office/powerpoint/2010/main" val="1052093894"/>
      </p:ext>
    </p:extLst>
  </p:cSld>
</p:sld>
</file>

<file path=ppt/slides/slide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07E216A-5546-452B-A33F-B69D655F2CEA}"/>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CELLS 3–4</a:t>
            </a:r>
          </a:p>
        </p:txBody>
      </p:sp>
      <p:sp>
        <p:nvSpPr>
          <p:cNvPr id="2" name="">
            <a:extLst xmlns:a="http://schemas.openxmlformats.org/drawingml/2006/main">
              <a:ext uri="{FF2B5EF4-FFF2-40B4-BE49-F238E27FC236}">
                <a16:creationId xmlns:a16="http://schemas.microsoft.com/office/drawing/2014/main" id="{574284A7-E55D-4E96-869A-6F6D7AB77934}"/>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Historical rules become labels</a:t>
            </a:r>
          </a:p>
        </p:txBody>
      </p:sp>
      <p:sp>
        <p:nvSpPr>
          <p:cNvPr id="3" name="">
            <a:extLst xmlns:a="http://schemas.openxmlformats.org/drawingml/2006/main">
              <a:ext uri="{FF2B5EF4-FFF2-40B4-BE49-F238E27FC236}">
                <a16:creationId xmlns:a16="http://schemas.microsoft.com/office/drawing/2014/main" id="{8C6A1C49-5D4D-43FB-B17A-6F50042ED839}"/>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18878A78-CF08-490A-A820-FEE4303C406F}"/>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06</a:t>
            </a:r>
          </a:p>
        </p:txBody>
      </p:sp>
      <p:sp>
        <p:nvSpPr>
          <p:cNvPr id="5" name="">
            <a:extLst xmlns:a="http://schemas.openxmlformats.org/drawingml/2006/main">
              <a:ext uri="{FF2B5EF4-FFF2-40B4-BE49-F238E27FC236}">
                <a16:creationId xmlns:a16="http://schemas.microsoft.com/office/drawing/2014/main" id="{56E8C438-3B58-4B0F-9352-A65A668FD5B1}"/>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Compute</a:t>
            </a:r>
          </a:p>
        </p:txBody>
      </p:sp>
      <p:sp>
        <p:nvSpPr>
          <p:cNvPr id="6" name="">
            <a:extLst xmlns:a="http://schemas.openxmlformats.org/drawingml/2006/main">
              <a:ext uri="{FF2B5EF4-FFF2-40B4-BE49-F238E27FC236}">
                <a16:creationId xmlns:a16="http://schemas.microsoft.com/office/drawing/2014/main" id="{E712C7D2-C727-4685-A4BD-B2B5E1D29229}"/>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Apply XmR, CUSUM and EWMA to completed 25-day windows.</a:t>
            </a:r>
          </a:p>
        </p:txBody>
      </p:sp>
      <p:sp>
        <p:nvSpPr>
          <p:cNvPr id="7" name="">
            <a:extLst xmlns:a="http://schemas.openxmlformats.org/drawingml/2006/main">
              <a:ext uri="{FF2B5EF4-FFF2-40B4-BE49-F238E27FC236}">
                <a16:creationId xmlns:a16="http://schemas.microsoft.com/office/drawing/2014/main" id="{F4600A5E-FDAC-437E-BCB0-47E6B0B4189F}"/>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Build features</a:t>
            </a:r>
          </a:p>
        </p:txBody>
      </p:sp>
      <p:sp>
        <p:nvSpPr>
          <p:cNvPr id="8" name="">
            <a:extLst xmlns:a="http://schemas.openxmlformats.org/drawingml/2006/main">
              <a:ext uri="{FF2B5EF4-FFF2-40B4-BE49-F238E27FC236}">
                <a16:creationId xmlns:a16="http://schemas.microsoft.com/office/drawing/2014/main" id="{C9957B4F-F7D0-428D-9790-1C565EDB5952}"/>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Summarize each window against an earlier 90-day reference.</a:t>
            </a:r>
          </a:p>
        </p:txBody>
      </p:sp>
      <p:sp>
        <p:nvSpPr>
          <p:cNvPr id="9" name="">
            <a:extLst xmlns:a="http://schemas.openxmlformats.org/drawingml/2006/main">
              <a:ext uri="{FF2B5EF4-FFF2-40B4-BE49-F238E27FC236}">
                <a16:creationId xmlns:a16="http://schemas.microsoft.com/office/drawing/2014/main" id="{134D4A60-542A-4D9A-BD76-45482B549A59}"/>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Inspect</a:t>
            </a:r>
          </a:p>
        </p:txBody>
      </p:sp>
      <p:sp>
        <p:nvSpPr>
          <p:cNvPr id="10" name="">
            <a:extLst xmlns:a="http://schemas.openxmlformats.org/drawingml/2006/main">
              <a:ext uri="{FF2B5EF4-FFF2-40B4-BE49-F238E27FC236}">
                <a16:creationId xmlns:a16="http://schemas.microsoft.com/office/drawing/2014/main" id="{B6E5615A-4D32-438B-91B6-B12E9ABBFA4F}"/>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915 labeled windows; any rule flag creates a review candidate.</a:t>
            </a:r>
          </a:p>
        </p:txBody>
      </p:sp>
      <p:sp>
        <p:nvSpPr>
          <p:cNvPr id="11" name="">
            <a:extLst xmlns:a="http://schemas.openxmlformats.org/drawingml/2006/main">
              <a:ext uri="{FF2B5EF4-FFF2-40B4-BE49-F238E27FC236}">
                <a16:creationId xmlns:a16="http://schemas.microsoft.com/office/drawing/2014/main" id="{62542164-641C-4CA2-80D9-EEFB5015E0FC}"/>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
            </a:r>
          </a:p>
        </p:txBody>
      </p:sp>
      <p:sp>
        <p:nvSpPr>
          <p:cNvPr id="12" name="">
            <a:extLst xmlns:a="http://schemas.openxmlformats.org/drawingml/2006/main">
              <a:ext uri="{FF2B5EF4-FFF2-40B4-BE49-F238E27FC236}">
                <a16:creationId xmlns:a16="http://schemas.microsoft.com/office/drawing/2014/main" id="{E7E512B1-C73C-4D1B-9EDF-B784903D27F8}"/>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 classifier imitates rules on past windows. It is not an early-warning outcome model.</a:t>
            </a:r>
          </a:p>
        </p:txBody>
      </p:sp>
    </p:spTree>
    <p:extLst>
      <p:ext uri="{BB962C8B-B14F-4D97-AF65-F5344CB8AC3E}">
        <p14:creationId xmlns:p14="http://schemas.microsoft.com/office/powerpoint/2010/main" val="511608742"/>
      </p:ext>
    </p:extLst>
  </p:cSld>
</p:sld>
</file>

<file path=ppt/slides/slide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593A89-2AC3-49FE-A094-A16BD8BBB942}"/>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5</a:t>
            </a:r>
          </a:p>
        </p:txBody>
      </p:sp>
      <p:sp>
        <p:nvSpPr>
          <p:cNvPr id="2" name="">
            <a:extLst xmlns:a="http://schemas.openxmlformats.org/drawingml/2006/main">
              <a:ext uri="{FF2B5EF4-FFF2-40B4-BE49-F238E27FC236}">
                <a16:creationId xmlns:a16="http://schemas.microsoft.com/office/drawing/2014/main" id="{B2F1C5EA-72FD-485D-A66C-F9AD0DA5EB3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Keep the direct rules</a:t>
            </a:r>
          </a:p>
        </p:txBody>
      </p:sp>
      <p:sp>
        <p:nvSpPr>
          <p:cNvPr id="3" name="">
            <a:extLst xmlns:a="http://schemas.openxmlformats.org/drawingml/2006/main">
              <a:ext uri="{FF2B5EF4-FFF2-40B4-BE49-F238E27FC236}">
                <a16:creationId xmlns:a16="http://schemas.microsoft.com/office/drawing/2014/main" id="{1A79207C-C939-4E20-8265-EB83D9FAC5EE}"/>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92393DC3-8A51-4C18-B9F6-FA14ED799755}"/>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07</a:t>
            </a:r>
          </a:p>
        </p:txBody>
      </p:sp>
      <p:sp>
        <p:nvSpPr>
          <p:cNvPr id="5" name="">
            <a:extLst xmlns:a="http://schemas.openxmlformats.org/drawingml/2006/main">
              <a:ext uri="{FF2B5EF4-FFF2-40B4-BE49-F238E27FC236}">
                <a16:creationId xmlns:a16="http://schemas.microsoft.com/office/drawing/2014/main" id="{818C75E8-8575-412C-A5F2-4120861C8F84}"/>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Model</a:t>
            </a:r>
          </a:p>
        </p:txBody>
      </p:sp>
      <p:sp>
        <p:nvSpPr>
          <p:cNvPr id="6" name="">
            <a:extLst xmlns:a="http://schemas.openxmlformats.org/drawingml/2006/main">
              <a:ext uri="{FF2B5EF4-FFF2-40B4-BE49-F238E27FC236}">
                <a16:creationId xmlns:a16="http://schemas.microsoft.com/office/drawing/2014/main" id="{D9EB4553-45B5-4CE9-9CC5-22E055428603}"/>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Random forest classifies the historical SPC label.</a:t>
            </a:r>
          </a:p>
        </p:txBody>
      </p:sp>
      <p:sp>
        <p:nvSpPr>
          <p:cNvPr id="7" name="">
            <a:extLst xmlns:a="http://schemas.openxmlformats.org/drawingml/2006/main">
              <a:ext uri="{FF2B5EF4-FFF2-40B4-BE49-F238E27FC236}">
                <a16:creationId xmlns:a16="http://schemas.microsoft.com/office/drawing/2014/main" id="{98103DBB-A99E-4F60-A5C5-D8FCA6DC5F27}"/>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Evaluation</a:t>
            </a:r>
          </a:p>
        </p:txBody>
      </p:sp>
      <p:sp>
        <p:nvSpPr>
          <p:cNvPr id="8" name="">
            <a:extLst xmlns:a="http://schemas.openxmlformats.org/drawingml/2006/main">
              <a:ext uri="{FF2B5EF4-FFF2-40B4-BE49-F238E27FC236}">
                <a16:creationId xmlns:a16="http://schemas.microsoft.com/office/drawing/2014/main" id="{7D62B5B6-73F8-41C3-89F4-7C12D3B96B4E}"/>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Chronological holdout with a gap; 228 windows and ROC AUC 0.917.</a:t>
            </a:r>
          </a:p>
        </p:txBody>
      </p:sp>
      <p:sp>
        <p:nvSpPr>
          <p:cNvPr id="9" name="">
            <a:extLst xmlns:a="http://schemas.openxmlformats.org/drawingml/2006/main">
              <a:ext uri="{FF2B5EF4-FFF2-40B4-BE49-F238E27FC236}">
                <a16:creationId xmlns:a16="http://schemas.microsoft.com/office/drawing/2014/main" id="{AC92526F-E2C6-40A7-AC2D-EEB34DDB94DD}"/>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Result</a:t>
            </a:r>
          </a:p>
        </p:txBody>
      </p:sp>
      <p:sp>
        <p:nvSpPr>
          <p:cNvPr id="10" name="">
            <a:extLst xmlns:a="http://schemas.openxmlformats.org/drawingml/2006/main">
              <a:ext uri="{FF2B5EF4-FFF2-40B4-BE49-F238E27FC236}">
                <a16:creationId xmlns:a16="http://schemas.microsoft.com/office/drawing/2014/main" id="{3F1170B1-9866-4C6A-8843-87C337A273C2}"/>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75.0% accuracy versus 78.1% from always predicting a signal.</a:t>
            </a:r>
          </a:p>
        </p:txBody>
      </p:sp>
      <p:sp>
        <p:nvSpPr>
          <p:cNvPr id="11" name="">
            <a:extLst xmlns:a="http://schemas.openxmlformats.org/drawingml/2006/main">
              <a:ext uri="{FF2B5EF4-FFF2-40B4-BE49-F238E27FC236}">
                <a16:creationId xmlns:a16="http://schemas.microsoft.com/office/drawing/2014/main" id="{BD74FB48-10B9-458D-B977-DA1B177A4BDE}"/>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Decision</a:t>
            </a:r>
          </a:p>
        </p:txBody>
      </p:sp>
      <p:sp>
        <p:nvSpPr>
          <p:cNvPr id="12" name="">
            <a:extLst xmlns:a="http://schemas.openxmlformats.org/drawingml/2006/main">
              <a:ext uri="{FF2B5EF4-FFF2-40B4-BE49-F238E27FC236}">
                <a16:creationId xmlns:a16="http://schemas.microsoft.com/office/drawing/2014/main" id="{B956B19A-7FF0-4CD3-8849-F82C4DED1FD4}"/>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Use the known rules for their own label. High AUC alone does not establish mission value.</a:t>
            </a:r>
          </a:p>
        </p:txBody>
      </p:sp>
    </p:spTree>
    <p:extLst>
      <p:ext uri="{BB962C8B-B14F-4D97-AF65-F5344CB8AC3E}">
        <p14:creationId xmlns:p14="http://schemas.microsoft.com/office/powerpoint/2010/main" val="1579564285"/>
      </p:ext>
    </p:extLst>
  </p:cSld>
</p:sld>
</file>

<file path=ppt/slides/slide8.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2013349-F1C9-4375-86B4-0A827E34D9BE}"/>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6</a:t>
            </a:r>
          </a:p>
        </p:txBody>
      </p:sp>
      <p:sp>
        <p:nvSpPr>
          <p:cNvPr id="2" name="">
            <a:extLst xmlns:a="http://schemas.openxmlformats.org/drawingml/2006/main">
              <a:ext uri="{FF2B5EF4-FFF2-40B4-BE49-F238E27FC236}">
                <a16:creationId xmlns:a16="http://schemas.microsoft.com/office/drawing/2014/main" id="{6F017E79-F62B-4085-BE97-FE9846D55470}"/>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Forecast the next business day</a:t>
            </a:r>
          </a:p>
        </p:txBody>
      </p:sp>
      <p:sp>
        <p:nvSpPr>
          <p:cNvPr id="3" name="">
            <a:extLst xmlns:a="http://schemas.openxmlformats.org/drawingml/2006/main">
              <a:ext uri="{FF2B5EF4-FFF2-40B4-BE49-F238E27FC236}">
                <a16:creationId xmlns:a16="http://schemas.microsoft.com/office/drawing/2014/main" id="{3FB062C3-A4D8-4230-BF22-48AEF029DC64}"/>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E2CC7DC5-041A-422F-8CE8-61B7C3C6CDB6}"/>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08</a:t>
            </a:r>
          </a:p>
        </p:txBody>
      </p:sp>
      <p:sp>
        <p:nvSpPr>
          <p:cNvPr id="5" name="">
            <a:extLst xmlns:a="http://schemas.openxmlformats.org/drawingml/2006/main">
              <a:ext uri="{FF2B5EF4-FFF2-40B4-BE49-F238E27FC236}">
                <a16:creationId xmlns:a16="http://schemas.microsoft.com/office/drawing/2014/main" id="{E927099C-2FEC-4710-99FF-547C69383DDC}"/>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Model</a:t>
            </a:r>
          </a:p>
        </p:txBody>
      </p:sp>
      <p:sp>
        <p:nvSpPr>
          <p:cNvPr id="6" name="">
            <a:extLst xmlns:a="http://schemas.openxmlformats.org/drawingml/2006/main">
              <a:ext uri="{FF2B5EF4-FFF2-40B4-BE49-F238E27FC236}">
                <a16:creationId xmlns:a16="http://schemas.microsoft.com/office/drawing/2014/main" id="{8DBE1BBB-8B71-40C6-A9BB-638FA4995306}"/>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A separate random forest predicts the next count from information already known.</a:t>
            </a:r>
          </a:p>
        </p:txBody>
      </p:sp>
      <p:sp>
        <p:nvSpPr>
          <p:cNvPr id="7" name="">
            <a:extLst xmlns:a="http://schemas.openxmlformats.org/drawingml/2006/main">
              <a:ext uri="{FF2B5EF4-FFF2-40B4-BE49-F238E27FC236}">
                <a16:creationId xmlns:a16="http://schemas.microsoft.com/office/drawing/2014/main" id="{C3380812-99C6-434B-AFB0-8C25DF7C5EEC}"/>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Evaluation</a:t>
            </a:r>
          </a:p>
        </p:txBody>
      </p:sp>
      <p:sp>
        <p:nvSpPr>
          <p:cNvPr id="8" name="">
            <a:extLst xmlns:a="http://schemas.openxmlformats.org/drawingml/2006/main">
              <a:ext uri="{FF2B5EF4-FFF2-40B4-BE49-F238E27FC236}">
                <a16:creationId xmlns:a16="http://schemas.microsoft.com/office/drawing/2014/main" id="{74B13D82-48B4-4A79-A5FF-7843715BA4F3}"/>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Later-date holdout, 225 forecasts; mean absolute error is measured in counts.</a:t>
            </a:r>
          </a:p>
        </p:txBody>
      </p:sp>
      <p:sp>
        <p:nvSpPr>
          <p:cNvPr id="9" name="">
            <a:extLst xmlns:a="http://schemas.openxmlformats.org/drawingml/2006/main">
              <a:ext uri="{FF2B5EF4-FFF2-40B4-BE49-F238E27FC236}">
                <a16:creationId xmlns:a16="http://schemas.microsoft.com/office/drawing/2014/main" id="{71792A3F-D1C3-4831-A63B-6D876990F2A7}"/>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Result</a:t>
            </a:r>
          </a:p>
        </p:txBody>
      </p:sp>
      <p:sp>
        <p:nvSpPr>
          <p:cNvPr id="10" name="">
            <a:extLst xmlns:a="http://schemas.openxmlformats.org/drawingml/2006/main">
              <a:ext uri="{FF2B5EF4-FFF2-40B4-BE49-F238E27FC236}">
                <a16:creationId xmlns:a16="http://schemas.microsoft.com/office/drawing/2014/main" id="{320754A8-511C-485A-9C1F-DCBF3289DFB9}"/>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8.99 counts MAE versus 9.73 for the trailing-five-day mean.</a:t>
            </a:r>
          </a:p>
        </p:txBody>
      </p:sp>
      <p:sp>
        <p:nvSpPr>
          <p:cNvPr id="11" name="">
            <a:extLst xmlns:a="http://schemas.openxmlformats.org/drawingml/2006/main">
              <a:ext uri="{FF2B5EF4-FFF2-40B4-BE49-F238E27FC236}">
                <a16:creationId xmlns:a16="http://schemas.microsoft.com/office/drawing/2014/main" id="{2C534821-5B76-4F02-99B5-A18DD90D5B24}"/>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Decision</a:t>
            </a:r>
          </a:p>
        </p:txBody>
      </p:sp>
      <p:sp>
        <p:nvSpPr>
          <p:cNvPr id="12" name="">
            <a:extLst xmlns:a="http://schemas.openxmlformats.org/drawingml/2006/main">
              <a:ext uri="{FF2B5EF4-FFF2-40B4-BE49-F238E27FC236}">
                <a16:creationId xmlns:a16="http://schemas.microsoft.com/office/drawing/2014/main" id="{90FDD2F0-9450-49BE-AC80-A2D75FFD4BD9}"/>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A candidate for further evaluation. This advantage is measured only on fictional data.</a:t>
            </a:r>
          </a:p>
        </p:txBody>
      </p:sp>
    </p:spTree>
    <p:extLst>
      <p:ext uri="{BB962C8B-B14F-4D97-AF65-F5344CB8AC3E}">
        <p14:creationId xmlns:p14="http://schemas.microsoft.com/office/powerpoint/2010/main" val="745824216"/>
      </p:ext>
    </p:extLst>
  </p:cSld>
</p:sld>
</file>

<file path=ppt/slides/slide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0DE194F-A72A-4FBF-8CD1-F9D1BBFB6C3B}"/>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CELLS 7–8</a:t>
            </a:r>
          </a:p>
        </p:txBody>
      </p:sp>
      <p:sp>
        <p:nvSpPr>
          <p:cNvPr id="2" name="">
            <a:extLst xmlns:a="http://schemas.openxmlformats.org/drawingml/2006/main">
              <a:ext uri="{FF2B5EF4-FFF2-40B4-BE49-F238E27FC236}">
                <a16:creationId xmlns:a16="http://schemas.microsoft.com/office/drawing/2014/main" id="{A7056BB7-3074-4D34-9FEB-71A0EAAD0EB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Visual evidence and review episodes</a:t>
            </a:r>
          </a:p>
        </p:txBody>
      </p:sp>
      <p:sp>
        <p:nvSpPr>
          <p:cNvPr id="3" name="">
            <a:extLst xmlns:a="http://schemas.openxmlformats.org/drawingml/2006/main">
              <a:ext uri="{FF2B5EF4-FFF2-40B4-BE49-F238E27FC236}">
                <a16:creationId xmlns:a16="http://schemas.microsoft.com/office/drawing/2014/main" id="{5B1F6414-558B-4546-8208-C3D99DB30C7F}"/>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6E086E2F-D092-467C-98CC-F707F4C2DC8A}"/>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09</a:t>
            </a:r>
          </a:p>
        </p:txBody>
      </p:sp>
      <p:sp>
        <p:nvSpPr>
          <p:cNvPr id="5" name="">
            <a:extLst xmlns:a="http://schemas.openxmlformats.org/drawingml/2006/main">
              <a:ext uri="{FF2B5EF4-FFF2-40B4-BE49-F238E27FC236}">
                <a16:creationId xmlns:a16="http://schemas.microsoft.com/office/drawing/2014/main" id="{E7B34054-DD96-4DA7-904D-E0D9D013B673}"/>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Charts</a:t>
            </a:r>
          </a:p>
        </p:txBody>
      </p:sp>
      <p:sp>
        <p:nvSpPr>
          <p:cNvPr id="6" name="">
            <a:extLst xmlns:a="http://schemas.openxmlformats.org/drawingml/2006/main">
              <a:ext uri="{FF2B5EF4-FFF2-40B4-BE49-F238E27FC236}">
                <a16:creationId xmlns:a16="http://schemas.microsoft.com/office/drawing/2014/main" id="{CA3E705F-36E5-45DB-9DAD-2D5F280E877A}"/>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Show the control chart, confusion matrix and one-day forecast.</a:t>
            </a:r>
          </a:p>
        </p:txBody>
      </p:sp>
      <p:sp>
        <p:nvSpPr>
          <p:cNvPr id="7" name="">
            <a:extLst xmlns:a="http://schemas.openxmlformats.org/drawingml/2006/main">
              <a:ext uri="{FF2B5EF4-FFF2-40B4-BE49-F238E27FC236}">
                <a16:creationId xmlns:a16="http://schemas.microsoft.com/office/drawing/2014/main" id="{C999DB7F-C448-4AE7-A786-70DC82BFBD1E}"/>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Grouping</a:t>
            </a:r>
          </a:p>
        </p:txBody>
      </p:sp>
      <p:sp>
        <p:nvSpPr>
          <p:cNvPr id="8" name="">
            <a:extLst xmlns:a="http://schemas.openxmlformats.org/drawingml/2006/main">
              <a:ext uri="{FF2B5EF4-FFF2-40B4-BE49-F238E27FC236}">
                <a16:creationId xmlns:a16="http://schemas.microsoft.com/office/drawing/2014/main" id="{987638ED-4040-4310-93A4-FA7D28482BBD}"/>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479 flagged windows consolidate into 30 episodes.</a:t>
            </a:r>
          </a:p>
        </p:txBody>
      </p:sp>
      <p:sp>
        <p:nvSpPr>
          <p:cNvPr id="9" name="">
            <a:extLst xmlns:a="http://schemas.openxmlformats.org/drawingml/2006/main">
              <a:ext uri="{FF2B5EF4-FFF2-40B4-BE49-F238E27FC236}">
                <a16:creationId xmlns:a16="http://schemas.microsoft.com/office/drawing/2014/main" id="{E34180D3-C5C7-4124-AF2A-8A1BCF4F347C}"/>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Queue</a:t>
            </a:r>
          </a:p>
        </p:txBody>
      </p:sp>
      <p:sp>
        <p:nvSpPr>
          <p:cNvPr id="10" name="">
            <a:extLst xmlns:a="http://schemas.openxmlformats.org/drawingml/2006/main">
              <a:ext uri="{FF2B5EF4-FFF2-40B4-BE49-F238E27FC236}">
                <a16:creationId xmlns:a16="http://schemas.microsoft.com/office/drawing/2014/main" id="{5A927F16-C723-40E8-B598-67898A180FEA}"/>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Display the 15 episodes with the latest signal dates; all remain pending.</a:t>
            </a:r>
          </a:p>
        </p:txBody>
      </p:sp>
      <p:sp>
        <p:nvSpPr>
          <p:cNvPr id="11" name="">
            <a:extLst xmlns:a="http://schemas.openxmlformats.org/drawingml/2006/main">
              <a:ext uri="{FF2B5EF4-FFF2-40B4-BE49-F238E27FC236}">
                <a16:creationId xmlns:a16="http://schemas.microsoft.com/office/drawing/2014/main" id="{EBDDD28B-F9C4-476D-A28D-953B582F494E}"/>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Interpret</a:t>
            </a:r>
          </a:p>
        </p:txBody>
      </p:sp>
      <p:sp>
        <p:nvSpPr>
          <p:cNvPr id="12" name="">
            <a:extLst xmlns:a="http://schemas.openxmlformats.org/drawingml/2006/main">
              <a:ext uri="{FF2B5EF4-FFF2-40B4-BE49-F238E27FC236}">
                <a16:creationId xmlns:a16="http://schemas.microsoft.com/office/drawing/2014/main" id="{B494C0FB-1CDA-4258-8E9F-981EDDDDC62E}"/>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A circled point reflects a preceding-window signal. Grouping is not a measured labor saving.</a:t>
            </a:r>
          </a:p>
        </p:txBody>
      </p:sp>
    </p:spTree>
    <p:extLst>
      <p:ext uri="{BB962C8B-B14F-4D97-AF65-F5344CB8AC3E}">
        <p14:creationId xmlns:p14="http://schemas.microsoft.com/office/powerpoint/2010/main" val="1507807830"/>
      </p:ext>
    </p:extLst>
  </p:cSld>
</p:sld>
</file>

<file path=ppt/slides/slide1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1F2FD37-106C-4820-9231-C455540D60D3}"/>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CELLS 9–10</a:t>
            </a:r>
          </a:p>
        </p:txBody>
      </p:sp>
      <p:sp>
        <p:nvSpPr>
          <p:cNvPr id="2" name="">
            <a:extLst xmlns:a="http://schemas.openxmlformats.org/drawingml/2006/main">
              <a:ext uri="{FF2B5EF4-FFF2-40B4-BE49-F238E27FC236}">
                <a16:creationId xmlns:a16="http://schemas.microsoft.com/office/drawing/2014/main" id="{C6F385AF-4E7E-4357-90A9-762EA8FC5AA2}"/>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Severity, distribution and subgroups</a:t>
            </a:r>
          </a:p>
        </p:txBody>
      </p:sp>
      <p:sp>
        <p:nvSpPr>
          <p:cNvPr id="3" name="">
            <a:extLst xmlns:a="http://schemas.openxmlformats.org/drawingml/2006/main">
              <a:ext uri="{FF2B5EF4-FFF2-40B4-BE49-F238E27FC236}">
                <a16:creationId xmlns:a16="http://schemas.microsoft.com/office/drawing/2014/main" id="{EF0F422D-6AD2-49EA-85DF-C3B90E073774}"/>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A2BB4A66-1C65-4EBC-A111-4281B349CCBC}"/>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10</a:t>
            </a:r>
          </a:p>
        </p:txBody>
      </p:sp>
      <p:sp>
        <p:nvSpPr>
          <p:cNvPr id="5" name="">
            <a:extLst xmlns:a="http://schemas.openxmlformats.org/drawingml/2006/main">
              <a:ext uri="{FF2B5EF4-FFF2-40B4-BE49-F238E27FC236}">
                <a16:creationId xmlns:a16="http://schemas.microsoft.com/office/drawing/2014/main" id="{BC510073-C337-4649-916C-9ABAFF102C23}"/>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Zones</a:t>
            </a:r>
          </a:p>
        </p:txBody>
      </p:sp>
      <p:sp>
        <p:nvSpPr>
          <p:cNvPr id="6" name="">
            <a:extLst xmlns:a="http://schemas.openxmlformats.org/drawingml/2006/main">
              <a:ext uri="{FF2B5EF4-FFF2-40B4-BE49-F238E27FC236}">
                <a16:creationId xmlns:a16="http://schemas.microsoft.com/office/drawing/2014/main" id="{167A32CF-CD2A-440F-BF1F-3113B5726057}"/>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Critical, warning, watch and normal states make the signal easier to inspect.</a:t>
            </a:r>
          </a:p>
        </p:txBody>
      </p:sp>
      <p:sp>
        <p:nvSpPr>
          <p:cNvPr id="7" name="">
            <a:extLst xmlns:a="http://schemas.openxmlformats.org/drawingml/2006/main">
              <a:ext uri="{FF2B5EF4-FFF2-40B4-BE49-F238E27FC236}">
                <a16:creationId xmlns:a16="http://schemas.microsoft.com/office/drawing/2014/main" id="{6882C20E-74E3-4249-AACB-DE48745F0755}"/>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Profiles</a:t>
            </a:r>
          </a:p>
        </p:txBody>
      </p:sp>
      <p:sp>
        <p:nvSpPr>
          <p:cNvPr id="8" name="">
            <a:extLst xmlns:a="http://schemas.openxmlformats.org/drawingml/2006/main">
              <a:ext uri="{FF2B5EF4-FFF2-40B4-BE49-F238E27FC236}">
                <a16:creationId xmlns:a16="http://schemas.microsoft.com/office/drawing/2014/main" id="{C6676D64-52CD-4A48-95F2-7C3CFE74DC43}"/>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Distribution plots and correlations expose scale and redundant inputs.</a:t>
            </a:r>
          </a:p>
        </p:txBody>
      </p:sp>
      <p:sp>
        <p:nvSpPr>
          <p:cNvPr id="9" name="">
            <a:extLst xmlns:a="http://schemas.openxmlformats.org/drawingml/2006/main">
              <a:ext uri="{FF2B5EF4-FFF2-40B4-BE49-F238E27FC236}">
                <a16:creationId xmlns:a16="http://schemas.microsoft.com/office/drawing/2014/main" id="{6C436A18-6A37-45AB-BC58-FA94D05AD9A6}"/>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Subgroups</a:t>
            </a:r>
          </a:p>
        </p:txBody>
      </p:sp>
      <p:sp>
        <p:nvSpPr>
          <p:cNvPr id="10" name="">
            <a:extLst xmlns:a="http://schemas.openxmlformats.org/drawingml/2006/main">
              <a:ext uri="{FF2B5EF4-FFF2-40B4-BE49-F238E27FC236}">
                <a16:creationId xmlns:a16="http://schemas.microsoft.com/office/drawing/2014/main" id="{B3A49041-E302-438B-B76C-16D27C44E82D}"/>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North and South counts reconcile to each parent series; inspect changing workload shares.</a:t>
            </a:r>
          </a:p>
        </p:txBody>
      </p:sp>
      <p:sp>
        <p:nvSpPr>
          <p:cNvPr id="11" name="">
            <a:extLst xmlns:a="http://schemas.openxmlformats.org/drawingml/2006/main">
              <a:ext uri="{FF2B5EF4-FFF2-40B4-BE49-F238E27FC236}">
                <a16:creationId xmlns:a16="http://schemas.microsoft.com/office/drawing/2014/main" id="{6AD69ED6-D9AE-415E-A635-17F712C2D331}"/>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Quality</a:t>
            </a:r>
          </a:p>
        </p:txBody>
      </p:sp>
      <p:sp>
        <p:nvSpPr>
          <p:cNvPr id="12" name="">
            <a:extLst xmlns:a="http://schemas.openxmlformats.org/drawingml/2006/main">
              <a:ext uri="{FF2B5EF4-FFF2-40B4-BE49-F238E27FC236}">
                <a16:creationId xmlns:a16="http://schemas.microsoft.com/office/drawing/2014/main" id="{AA4A2906-6797-445A-8CDF-B84237787904}"/>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Measure missing values, cardinality and placeholder counts. The redundant channel is excluded from modeling.</a:t>
            </a:r>
          </a:p>
        </p:txBody>
      </p:sp>
    </p:spTree>
    <p:extLst>
      <p:ext uri="{BB962C8B-B14F-4D97-AF65-F5344CB8AC3E}">
        <p14:creationId xmlns:p14="http://schemas.microsoft.com/office/powerpoint/2010/main" val="389071557"/>
      </p:ext>
    </p:extLst>
  </p:cSld>
</p:sld>
</file>

<file path=ppt/slides/slide11.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B647C8-5A90-4515-B25A-EBDF33294DB8}"/>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11</a:t>
            </a:r>
          </a:p>
        </p:txBody>
      </p:sp>
      <p:sp>
        <p:nvSpPr>
          <p:cNvPr id="2" name="">
            <a:extLst xmlns:a="http://schemas.openxmlformats.org/drawingml/2006/main">
              <a:ext uri="{FF2B5EF4-FFF2-40B4-BE49-F238E27FC236}">
                <a16:creationId xmlns:a16="http://schemas.microsoft.com/office/drawing/2014/main" id="{4BBA3B37-4024-4729-AC89-B3A3770C7E0D}"/>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Compare models across five time folds</a:t>
            </a:r>
          </a:p>
        </p:txBody>
      </p:sp>
      <p:sp>
        <p:nvSpPr>
          <p:cNvPr id="3" name="">
            <a:extLst xmlns:a="http://schemas.openxmlformats.org/drawingml/2006/main">
              <a:ext uri="{FF2B5EF4-FFF2-40B4-BE49-F238E27FC236}">
                <a16:creationId xmlns:a16="http://schemas.microsoft.com/office/drawing/2014/main" id="{7286793B-C216-4E22-9D77-F4BAB5E0EC05}"/>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30B60FBF-8AD1-479D-AB75-756C06660A8D}"/>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11</a:t>
            </a:r>
          </a:p>
        </p:txBody>
      </p:sp>
      <p:sp>
        <p:nvSpPr>
          <p:cNvPr id="5" name="">
            <a:extLst xmlns:a="http://schemas.openxmlformats.org/drawingml/2006/main">
              <a:ext uri="{FF2B5EF4-FFF2-40B4-BE49-F238E27FC236}">
                <a16:creationId xmlns:a16="http://schemas.microsoft.com/office/drawing/2014/main" id="{90D8E859-84DA-4CAA-A612-D255D1ECE961}"/>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Comparison</a:t>
            </a:r>
          </a:p>
        </p:txBody>
      </p:sp>
      <p:sp>
        <p:nvSpPr>
          <p:cNvPr id="6" name="">
            <a:extLst xmlns:a="http://schemas.openxmlformats.org/drawingml/2006/main">
              <a:ext uri="{FF2B5EF4-FFF2-40B4-BE49-F238E27FC236}">
                <a16:creationId xmlns:a16="http://schemas.microsoft.com/office/drawing/2014/main" id="{BF8E9399-84E6-4A52-BB5C-A036D15A52AD}"/>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Random forest versus scaled logistic regression across five chronological test folds.</a:t>
            </a:r>
          </a:p>
        </p:txBody>
      </p:sp>
      <p:sp>
        <p:nvSpPr>
          <p:cNvPr id="7" name="">
            <a:extLst xmlns:a="http://schemas.openxmlformats.org/drawingml/2006/main">
              <a:ext uri="{FF2B5EF4-FFF2-40B4-BE49-F238E27FC236}">
                <a16:creationId xmlns:a16="http://schemas.microsoft.com/office/drawing/2014/main" id="{77423CAA-FD45-44B5-AD1E-74F3BF7A057B}"/>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Validation</a:t>
            </a:r>
          </a:p>
        </p:txBody>
      </p:sp>
      <p:sp>
        <p:nvSpPr>
          <p:cNvPr id="8" name="">
            <a:extLst xmlns:a="http://schemas.openxmlformats.org/drawingml/2006/main">
              <a:ext uri="{FF2B5EF4-FFF2-40B4-BE49-F238E27FC236}">
                <a16:creationId xmlns:a16="http://schemas.microsoft.com/office/drawing/2014/main" id="{72E74775-B115-427F-9061-EA9F6E252F2A}"/>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Each fold keeps a gap between training and test windows.</a:t>
            </a:r>
          </a:p>
        </p:txBody>
      </p:sp>
      <p:sp>
        <p:nvSpPr>
          <p:cNvPr id="9" name="">
            <a:extLst xmlns:a="http://schemas.openxmlformats.org/drawingml/2006/main">
              <a:ext uri="{FF2B5EF4-FFF2-40B4-BE49-F238E27FC236}">
                <a16:creationId xmlns:a16="http://schemas.microsoft.com/office/drawing/2014/main" id="{B0D07289-D548-42E0-AB21-A939AF9CAC5A}"/>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Result</a:t>
            </a:r>
          </a:p>
        </p:txBody>
      </p:sp>
      <p:sp>
        <p:nvSpPr>
          <p:cNvPr id="10" name="">
            <a:extLst xmlns:a="http://schemas.openxmlformats.org/drawingml/2006/main">
              <a:ext uri="{FF2B5EF4-FFF2-40B4-BE49-F238E27FC236}">
                <a16:creationId xmlns:a16="http://schemas.microsoft.com/office/drawing/2014/main" id="{54E75774-BE09-4BC0-9504-E4012EC6DE09}"/>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Mean fold accuracy: logistic 81.3%; forest 78.4%. Inspect each fold and its majority baseline.</a:t>
            </a:r>
          </a:p>
        </p:txBody>
      </p:sp>
      <p:sp>
        <p:nvSpPr>
          <p:cNvPr id="11" name="">
            <a:extLst xmlns:a="http://schemas.openxmlformats.org/drawingml/2006/main">
              <a:ext uri="{FF2B5EF4-FFF2-40B4-BE49-F238E27FC236}">
                <a16:creationId xmlns:a16="http://schemas.microsoft.com/office/drawing/2014/main" id="{544A460D-4EDB-4592-B815-420BE206F395}"/>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Explanation</a:t>
            </a:r>
          </a:p>
        </p:txBody>
      </p:sp>
      <p:sp>
        <p:nvSpPr>
          <p:cNvPr id="12" name="">
            <a:extLst xmlns:a="http://schemas.openxmlformats.org/drawingml/2006/main">
              <a:ext uri="{FF2B5EF4-FFF2-40B4-BE49-F238E27FC236}">
                <a16:creationId xmlns:a16="http://schemas.microsoft.com/office/drawing/2014/main" id="{90935880-6D64-468B-B3E2-D6859702129B}"/>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Permutation importance shows which features the fitted forest relies on, not causes.</a:t>
            </a:r>
          </a:p>
        </p:txBody>
      </p:sp>
    </p:spTree>
    <p:extLst>
      <p:ext uri="{BB962C8B-B14F-4D97-AF65-F5344CB8AC3E}">
        <p14:creationId xmlns:p14="http://schemas.microsoft.com/office/powerpoint/2010/main" val="2038327918"/>
      </p:ext>
    </p:extLst>
  </p:cSld>
</p:sld>
</file>

<file path=ppt/slides/slide1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7E8AEC3-6128-497A-A0CA-60EA59F17E8B}"/>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12</a:t>
            </a:r>
          </a:p>
        </p:txBody>
      </p:sp>
      <p:sp>
        <p:nvSpPr>
          <p:cNvPr id="2" name="">
            <a:extLst xmlns:a="http://schemas.openxmlformats.org/drawingml/2006/main">
              <a:ext uri="{FF2B5EF4-FFF2-40B4-BE49-F238E27FC236}">
                <a16:creationId xmlns:a16="http://schemas.microsoft.com/office/drawing/2014/main" id="{94EFE0A6-7115-4623-ADA8-55265C05F2F4}"/>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Five-day forecasts and future dates</a:t>
            </a:r>
          </a:p>
        </p:txBody>
      </p:sp>
      <p:sp>
        <p:nvSpPr>
          <p:cNvPr id="3" name="">
            <a:extLst xmlns:a="http://schemas.openxmlformats.org/drawingml/2006/main">
              <a:ext uri="{FF2B5EF4-FFF2-40B4-BE49-F238E27FC236}">
                <a16:creationId xmlns:a16="http://schemas.microsoft.com/office/drawing/2014/main" id="{176EEF0B-7B6B-4353-803E-9D91DB9F0A5C}"/>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2AA120C4-3F87-426C-8488-1431815F6DEB}"/>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12</a:t>
            </a:r>
          </a:p>
        </p:txBody>
      </p:sp>
      <p:sp>
        <p:nvSpPr>
          <p:cNvPr id="5" name="">
            <a:extLst xmlns:a="http://schemas.openxmlformats.org/drawingml/2006/main">
              <a:ext uri="{FF2B5EF4-FFF2-40B4-BE49-F238E27FC236}">
                <a16:creationId xmlns:a16="http://schemas.microsoft.com/office/drawing/2014/main" id="{6DF52C77-497F-40E8-BD2B-0F454268B2F8}"/>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Candidates</a:t>
            </a:r>
          </a:p>
        </p:txBody>
      </p:sp>
      <p:sp>
        <p:nvSpPr>
          <p:cNvPr id="6" name="">
            <a:extLst xmlns:a="http://schemas.openxmlformats.org/drawingml/2006/main">
              <a:ext uri="{FF2B5EF4-FFF2-40B4-BE49-F238E27FC236}">
                <a16:creationId xmlns:a16="http://schemas.microsoft.com/office/drawing/2014/main" id="{0F7218B7-09D1-42B2-A104-807DC039309C}"/>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ARIMA and Holt-Winters compete against a seasonal-naive baseline.</a:t>
            </a:r>
          </a:p>
        </p:txBody>
      </p:sp>
      <p:sp>
        <p:nvSpPr>
          <p:cNvPr id="7" name="">
            <a:extLst xmlns:a="http://schemas.openxmlformats.org/drawingml/2006/main">
              <a:ext uri="{FF2B5EF4-FFF2-40B4-BE49-F238E27FC236}">
                <a16:creationId xmlns:a16="http://schemas.microsoft.com/office/drawing/2014/main" id="{3ACA8670-5B4E-4C7B-95A0-1D3AC5FC5241}"/>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Backtest</a:t>
            </a:r>
          </a:p>
        </p:txBody>
      </p:sp>
      <p:sp>
        <p:nvSpPr>
          <p:cNvPr id="8" name="">
            <a:extLst xmlns:a="http://schemas.openxmlformats.org/drawingml/2006/main">
              <a:ext uri="{FF2B5EF4-FFF2-40B4-BE49-F238E27FC236}">
                <a16:creationId xmlns:a16="http://schemas.microsoft.com/office/drawing/2014/main" id="{F609E242-2626-464C-BDF2-80299FD7BABF}"/>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Six historical origins per series, five steps per origin: 270 scored predictions.</a:t>
            </a:r>
          </a:p>
        </p:txBody>
      </p:sp>
      <p:sp>
        <p:nvSpPr>
          <p:cNvPr id="9" name="">
            <a:extLst xmlns:a="http://schemas.openxmlformats.org/drawingml/2006/main">
              <a:ext uri="{FF2B5EF4-FFF2-40B4-BE49-F238E27FC236}">
                <a16:creationId xmlns:a16="http://schemas.microsoft.com/office/drawing/2014/main" id="{9B4682EB-1A2C-4475-8396-2C09B4831997}"/>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Result</a:t>
            </a:r>
          </a:p>
        </p:txBody>
      </p:sp>
      <p:sp>
        <p:nvSpPr>
          <p:cNvPr id="10" name="">
            <a:extLst xmlns:a="http://schemas.openxmlformats.org/drawingml/2006/main">
              <a:ext uri="{FF2B5EF4-FFF2-40B4-BE49-F238E27FC236}">
                <a16:creationId xmlns:a16="http://schemas.microsoft.com/office/drawing/2014/main" id="{BB58B308-8E5C-477B-917C-D18D8B361B7D}"/>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Pooled MAE: ARIMA 10.15; Holt-Winters 10.38; seasonal baseline 12.92.</a:t>
            </a:r>
          </a:p>
        </p:txBody>
      </p:sp>
      <p:sp>
        <p:nvSpPr>
          <p:cNvPr id="11" name="">
            <a:extLst xmlns:a="http://schemas.openxmlformats.org/drawingml/2006/main">
              <a:ext uri="{FF2B5EF4-FFF2-40B4-BE49-F238E27FC236}">
                <a16:creationId xmlns:a16="http://schemas.microsoft.com/office/drawing/2014/main" id="{45D0B1C5-9152-4F54-AD6E-D99848326910}"/>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Future</a:t>
            </a:r>
          </a:p>
        </p:txBody>
      </p:sp>
      <p:sp>
        <p:nvSpPr>
          <p:cNvPr id="12" name="">
            <a:extLst xmlns:a="http://schemas.openxmlformats.org/drawingml/2006/main">
              <a:ext uri="{FF2B5EF4-FFF2-40B4-BE49-F238E27FC236}">
                <a16:creationId xmlns:a16="http://schemas.microsoft.com/office/drawing/2014/main" id="{6E04347A-894E-460C-B8BA-F4B995606A8A}"/>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75 dated future predictions cover totals and offices. First five origins select; the last origin checks the choice.</a:t>
            </a:r>
          </a:p>
        </p:txBody>
      </p:sp>
    </p:spTree>
    <p:extLst>
      <p:ext uri="{BB962C8B-B14F-4D97-AF65-F5344CB8AC3E}">
        <p14:creationId xmlns:p14="http://schemas.microsoft.com/office/powerpoint/2010/main" val="1660821016"/>
      </p:ext>
    </p:extLst>
  </p:cSld>
</p:sld>
</file>

<file path=ppt/slides/slide13.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6B34627-BABE-4520-B178-B95AEED31BF1}"/>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13</a:t>
            </a:r>
          </a:p>
        </p:txBody>
      </p:sp>
      <p:sp>
        <p:nvSpPr>
          <p:cNvPr id="2" name="">
            <a:extLst xmlns:a="http://schemas.openxmlformats.org/drawingml/2006/main">
              <a:ext uri="{FF2B5EF4-FFF2-40B4-BE49-F238E27FC236}">
                <a16:creationId xmlns:a16="http://schemas.microsoft.com/office/drawing/2014/main" id="{4FC1E671-4F98-442A-AE4E-9EB1FE00DB27}"/>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A separate unusualness signal</a:t>
            </a:r>
          </a:p>
        </p:txBody>
      </p:sp>
      <p:sp>
        <p:nvSpPr>
          <p:cNvPr id="3" name="">
            <a:extLst xmlns:a="http://schemas.openxmlformats.org/drawingml/2006/main">
              <a:ext uri="{FF2B5EF4-FFF2-40B4-BE49-F238E27FC236}">
                <a16:creationId xmlns:a16="http://schemas.microsoft.com/office/drawing/2014/main" id="{7D26CCA1-59AB-4160-8686-69B1DBFD536F}"/>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A8A265E0-3263-4132-9B95-49A74257A3A3}"/>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13</a:t>
            </a:r>
          </a:p>
        </p:txBody>
      </p:sp>
      <p:sp>
        <p:nvSpPr>
          <p:cNvPr id="5" name="">
            <a:extLst xmlns:a="http://schemas.openxmlformats.org/drawingml/2006/main">
              <a:ext uri="{FF2B5EF4-FFF2-40B4-BE49-F238E27FC236}">
                <a16:creationId xmlns:a16="http://schemas.microsoft.com/office/drawing/2014/main" id="{90679DE1-686F-4463-85C6-86A73D5B5E8E}"/>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Method</a:t>
            </a:r>
          </a:p>
        </p:txBody>
      </p:sp>
      <p:sp>
        <p:nvSpPr>
          <p:cNvPr id="6" name="">
            <a:extLst xmlns:a="http://schemas.openxmlformats.org/drawingml/2006/main">
              <a:ext uri="{FF2B5EF4-FFF2-40B4-BE49-F238E27FC236}">
                <a16:creationId xmlns:a16="http://schemas.microsoft.com/office/drawing/2014/main" id="{3A0BA942-3A7F-4D08-BDA5-B3A7B97DDF1F}"/>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Isolation Forest spots feature combinations that differ from its training history.</a:t>
            </a:r>
          </a:p>
        </p:txBody>
      </p:sp>
      <p:sp>
        <p:nvSpPr>
          <p:cNvPr id="7" name="">
            <a:extLst xmlns:a="http://schemas.openxmlformats.org/drawingml/2006/main">
              <a:ext uri="{FF2B5EF4-FFF2-40B4-BE49-F238E27FC236}">
                <a16:creationId xmlns:a16="http://schemas.microsoft.com/office/drawing/2014/main" id="{59B3DACB-0725-456B-BF21-F8DAE687B7E5}"/>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Calibration</a:t>
            </a:r>
          </a:p>
        </p:txBody>
      </p:sp>
      <p:sp>
        <p:nvSpPr>
          <p:cNvPr id="8" name="">
            <a:extLst xmlns:a="http://schemas.openxmlformats.org/drawingml/2006/main">
              <a:ext uri="{FF2B5EF4-FFF2-40B4-BE49-F238E27FC236}">
                <a16:creationId xmlns:a16="http://schemas.microsoft.com/office/drawing/2014/main" id="{B11CC230-24B3-416A-AF8D-3A0F6908C8D9}"/>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Each time fold sets its contamination from training data only, within bounded demo limits.</a:t>
            </a:r>
          </a:p>
        </p:txBody>
      </p:sp>
      <p:sp>
        <p:nvSpPr>
          <p:cNvPr id="9" name="">
            <a:extLst xmlns:a="http://schemas.openxmlformats.org/drawingml/2006/main">
              <a:ext uri="{FF2B5EF4-FFF2-40B4-BE49-F238E27FC236}">
                <a16:creationId xmlns:a16="http://schemas.microsoft.com/office/drawing/2014/main" id="{5576801B-DB03-4D1F-9699-57DABBE66CAA}"/>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Inspect</a:t>
            </a:r>
          </a:p>
        </p:txBody>
      </p:sp>
      <p:sp>
        <p:nvSpPr>
          <p:cNvPr id="10" name="">
            <a:extLst xmlns:a="http://schemas.openxmlformats.org/drawingml/2006/main">
              <a:ext uri="{FF2B5EF4-FFF2-40B4-BE49-F238E27FC236}">
                <a16:creationId xmlns:a16="http://schemas.microsoft.com/office/drawing/2014/main" id="{27D0DC90-6E59-4DDB-A136-48501F519362}"/>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25 of 228 held-out windows are flagged by the final anomaly model.</a:t>
            </a:r>
          </a:p>
        </p:txBody>
      </p:sp>
      <p:sp>
        <p:nvSpPr>
          <p:cNvPr id="11" name="">
            <a:extLst xmlns:a="http://schemas.openxmlformats.org/drawingml/2006/main">
              <a:ext uri="{FF2B5EF4-FFF2-40B4-BE49-F238E27FC236}">
                <a16:creationId xmlns:a16="http://schemas.microsoft.com/office/drawing/2014/main" id="{E891BC61-464A-434C-8872-BE93482A0AF2}"/>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Boundary</a:t>
            </a:r>
          </a:p>
        </p:txBody>
      </p:sp>
      <p:sp>
        <p:nvSpPr>
          <p:cNvPr id="12" name="">
            <a:extLst xmlns:a="http://schemas.openxmlformats.org/drawingml/2006/main">
              <a:ext uri="{FF2B5EF4-FFF2-40B4-BE49-F238E27FC236}">
                <a16:creationId xmlns:a16="http://schemas.microsoft.com/office/drawing/2014/main" id="{3AC64767-BC22-463D-A64B-46C2C065BC97}"/>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Rule agreement is a comparison proxy. It is not incident-detection accuracy or validated truth.</a:t>
            </a:r>
          </a:p>
        </p:txBody>
      </p:sp>
    </p:spTree>
    <p:extLst>
      <p:ext uri="{BB962C8B-B14F-4D97-AF65-F5344CB8AC3E}">
        <p14:creationId xmlns:p14="http://schemas.microsoft.com/office/powerpoint/2010/main" val="2012597719"/>
      </p:ext>
    </p:extLst>
  </p:cSld>
</p:sld>
</file>

<file path=ppt/slides/slide14.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FCC5A28-450A-4454-9FAF-4E17E2825B46}"/>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14</a:t>
            </a:r>
          </a:p>
        </p:txBody>
      </p:sp>
      <p:sp>
        <p:nvSpPr>
          <p:cNvPr id="2" name="">
            <a:extLst xmlns:a="http://schemas.openxmlformats.org/drawingml/2006/main">
              <a:ext uri="{FF2B5EF4-FFF2-40B4-BE49-F238E27FC236}">
                <a16:creationId xmlns:a16="http://schemas.microsoft.com/office/drawing/2014/main" id="{51828536-F8EE-441A-99A1-F72293B60355}"/>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Follow upstream dependencies</a:t>
            </a:r>
          </a:p>
        </p:txBody>
      </p:sp>
      <p:sp>
        <p:nvSpPr>
          <p:cNvPr id="3" name="">
            <a:extLst xmlns:a="http://schemas.openxmlformats.org/drawingml/2006/main">
              <a:ext uri="{FF2B5EF4-FFF2-40B4-BE49-F238E27FC236}">
                <a16:creationId xmlns:a16="http://schemas.microsoft.com/office/drawing/2014/main" id="{F6F01C83-3D7F-40F5-889F-3D273AF15B56}"/>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D80D8CAC-BBFE-4AE3-8BF2-0EDBB530BEF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14</a:t>
            </a:r>
          </a:p>
        </p:txBody>
      </p:sp>
      <p:sp>
        <p:nvSpPr>
          <p:cNvPr id="5" name="">
            <a:extLst xmlns:a="http://schemas.openxmlformats.org/drawingml/2006/main">
              <a:ext uri="{FF2B5EF4-FFF2-40B4-BE49-F238E27FC236}">
                <a16:creationId xmlns:a16="http://schemas.microsoft.com/office/drawing/2014/main" id="{73FCF644-956A-4FF6-8399-CEADF06F37B7}"/>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Lineage</a:t>
            </a:r>
          </a:p>
        </p:txBody>
      </p:sp>
      <p:sp>
        <p:nvSpPr>
          <p:cNvPr id="6" name="">
            <a:extLst xmlns:a="http://schemas.openxmlformats.org/drawingml/2006/main">
              <a:ext uri="{FF2B5EF4-FFF2-40B4-BE49-F238E27FC236}">
                <a16:creationId xmlns:a16="http://schemas.microsoft.com/office/drawing/2014/main" id="{4C3A5134-9D71-4F71-8A8D-EC875562F525}"/>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Traverse a branching fixture graph up to five upstream hops, with cycle protection.</a:t>
            </a:r>
          </a:p>
        </p:txBody>
      </p:sp>
      <p:sp>
        <p:nvSpPr>
          <p:cNvPr id="7" name="">
            <a:extLst xmlns:a="http://schemas.openxmlformats.org/drawingml/2006/main">
              <a:ext uri="{FF2B5EF4-FFF2-40B4-BE49-F238E27FC236}">
                <a16:creationId xmlns:a16="http://schemas.microsoft.com/office/drawing/2014/main" id="{5F611DF6-AE37-4488-879E-42B87FEA6100}"/>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Columns</a:t>
            </a:r>
          </a:p>
        </p:txBody>
      </p:sp>
      <p:sp>
        <p:nvSpPr>
          <p:cNvPr id="8" name="">
            <a:extLst xmlns:a="http://schemas.openxmlformats.org/drawingml/2006/main">
              <a:ext uri="{FF2B5EF4-FFF2-40B4-BE49-F238E27FC236}">
                <a16:creationId xmlns:a16="http://schemas.microsoft.com/office/drawing/2014/main" id="{63DCBA53-ACD2-4EB6-9485-95293C885CFB}"/>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Inspect example source-to-target column mappings and inferred table roles.</a:t>
            </a:r>
          </a:p>
        </p:txBody>
      </p:sp>
      <p:sp>
        <p:nvSpPr>
          <p:cNvPr id="9" name="">
            <a:extLst xmlns:a="http://schemas.openxmlformats.org/drawingml/2006/main">
              <a:ext uri="{FF2B5EF4-FFF2-40B4-BE49-F238E27FC236}">
                <a16:creationId xmlns:a16="http://schemas.microsoft.com/office/drawing/2014/main" id="{8FB7E031-B406-4D81-92B2-3675B10620BA}"/>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Freshness</a:t>
            </a:r>
          </a:p>
        </p:txBody>
      </p:sp>
      <p:sp>
        <p:nvSpPr>
          <p:cNvPr id="10" name="">
            <a:extLst xmlns:a="http://schemas.openxmlformats.org/drawingml/2006/main">
              <a:ext uri="{FF2B5EF4-FFF2-40B4-BE49-F238E27FC236}">
                <a16:creationId xmlns:a16="http://schemas.microsoft.com/office/drawing/2014/main" id="{D5B16BD6-3AD8-41E5-BF87-ACB5F8BAFAC4}"/>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Compare update ages with a demo threshold; one upstream source is deliberately late.</a:t>
            </a:r>
          </a:p>
        </p:txBody>
      </p:sp>
      <p:sp>
        <p:nvSpPr>
          <p:cNvPr id="11" name="">
            <a:extLst xmlns:a="http://schemas.openxmlformats.org/drawingml/2006/main">
              <a:ext uri="{FF2B5EF4-FFF2-40B4-BE49-F238E27FC236}">
                <a16:creationId xmlns:a16="http://schemas.microsoft.com/office/drawing/2014/main" id="{5A019A35-686D-411A-8EE8-417BDE96C7B1}"/>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Boundary</a:t>
            </a:r>
          </a:p>
        </p:txBody>
      </p:sp>
      <p:sp>
        <p:nvSpPr>
          <p:cNvPr id="12" name="">
            <a:extLst xmlns:a="http://schemas.openxmlformats.org/drawingml/2006/main">
              <a:ext uri="{FF2B5EF4-FFF2-40B4-BE49-F238E27FC236}">
                <a16:creationId xmlns:a16="http://schemas.microsoft.com/office/drawing/2014/main" id="{F4C98BF4-0F7B-4185-B906-B6F9771B06DA}"/>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These are fixture metadata. Live Unity Catalog discovery and permissions remain unverified.</a:t>
            </a:r>
          </a:p>
        </p:txBody>
      </p:sp>
    </p:spTree>
    <p:extLst>
      <p:ext uri="{BB962C8B-B14F-4D97-AF65-F5344CB8AC3E}">
        <p14:creationId xmlns:p14="http://schemas.microsoft.com/office/powerpoint/2010/main" val="689562487"/>
      </p:ext>
    </p:extLst>
  </p:cSld>
</p:sld>
</file>

<file path=ppt/slides/slide15.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786674E-1451-4B66-B000-DE3A8343D6C0}"/>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15</a:t>
            </a:r>
          </a:p>
        </p:txBody>
      </p:sp>
      <p:sp>
        <p:nvSpPr>
          <p:cNvPr id="2" name="">
            <a:extLst xmlns:a="http://schemas.openxmlformats.org/drawingml/2006/main">
              <a:ext uri="{FF2B5EF4-FFF2-40B4-BE49-F238E27FC236}">
                <a16:creationId xmlns:a16="http://schemas.microsoft.com/office/drawing/2014/main" id="{164DE90A-8B5C-42B1-96F2-5F94086A0D1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Make a hypothesis, then verify it</a:t>
            </a:r>
          </a:p>
        </p:txBody>
      </p:sp>
      <p:sp>
        <p:nvSpPr>
          <p:cNvPr id="3" name="">
            <a:extLst xmlns:a="http://schemas.openxmlformats.org/drawingml/2006/main">
              <a:ext uri="{FF2B5EF4-FFF2-40B4-BE49-F238E27FC236}">
                <a16:creationId xmlns:a16="http://schemas.microsoft.com/office/drawing/2014/main" id="{D96AC551-113D-425B-BF00-5BCC0A051B8A}"/>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22BB01B8-3A30-4DD9-ACDE-A112F6D9B653}"/>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15</a:t>
            </a:r>
          </a:p>
        </p:txBody>
      </p:sp>
      <p:sp>
        <p:nvSpPr>
          <p:cNvPr id="5" name="">
            <a:extLst xmlns:a="http://schemas.openxmlformats.org/drawingml/2006/main">
              <a:ext uri="{FF2B5EF4-FFF2-40B4-BE49-F238E27FC236}">
                <a16:creationId xmlns:a16="http://schemas.microsoft.com/office/drawing/2014/main" id="{4861A07F-BE1E-482E-8AC0-3454E0600B8D}"/>
              </a:ext>
            </a:extLst>
          </p:cNvPr>
          <p:cNvSpPr>
            <a:spLocks xmlns:a="http://schemas.openxmlformats.org/drawingml/2006/main" noGrp="1"/>
          </p:cNvSpPr>
          <p:nvPr/>
        </p:nvSpPr>
        <p:spPr>
          <a:xfrm xmlns:a="http://schemas.openxmlformats.org/drawingml/2006/main">
            <a:off x="704850" y="182880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Context</a:t>
            </a:r>
          </a:p>
        </p:txBody>
      </p:sp>
      <p:sp>
        <p:nvSpPr>
          <p:cNvPr id="6" name="">
            <a:extLst xmlns:a="http://schemas.openxmlformats.org/drawingml/2006/main">
              <a:ext uri="{FF2B5EF4-FFF2-40B4-BE49-F238E27FC236}">
                <a16:creationId xmlns:a16="http://schemas.microsoft.com/office/drawing/2014/main" id="{7BCE48F8-F85C-41A0-981D-672E08FD1BF5}"/>
              </a:ext>
            </a:extLst>
          </p:cNvPr>
          <p:cNvSpPr>
            <a:spLocks xmlns:a="http://schemas.openxmlformats.org/drawingml/2006/main" noGrp="1"/>
          </p:cNvSpPr>
          <p:nvPr/>
        </p:nvSpPr>
        <p:spPr>
          <a:xfrm xmlns:a="http://schemas.openxmlformats.org/drawingml/2006/main">
            <a:off x="704850" y="2200275"/>
            <a:ext cx="4905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Attach nearby fictional events and matching subgroup evidence to a review episode.</a:t>
            </a:r>
          </a:p>
        </p:txBody>
      </p:sp>
      <p:sp>
        <p:nvSpPr>
          <p:cNvPr id="7" name="">
            <a:extLst xmlns:a="http://schemas.openxmlformats.org/drawingml/2006/main">
              <a:ext uri="{FF2B5EF4-FFF2-40B4-BE49-F238E27FC236}">
                <a16:creationId xmlns:a16="http://schemas.microsoft.com/office/drawing/2014/main" id="{9B76D9CB-37B3-4148-9648-E530579B6336}"/>
              </a:ext>
            </a:extLst>
          </p:cNvPr>
          <p:cNvSpPr>
            <a:spLocks xmlns:a="http://schemas.openxmlformats.org/drawingml/2006/main" noGrp="1"/>
          </p:cNvSpPr>
          <p:nvPr/>
        </p:nvSpPr>
        <p:spPr>
          <a:xfrm xmlns:a="http://schemas.openxmlformats.org/drawingml/2006/main">
            <a:off x="704850" y="3562350"/>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Investigation</a:t>
            </a:r>
          </a:p>
        </p:txBody>
      </p:sp>
      <p:sp>
        <p:nvSpPr>
          <p:cNvPr id="8" name="">
            <a:extLst xmlns:a="http://schemas.openxmlformats.org/drawingml/2006/main">
              <a:ext uri="{FF2B5EF4-FFF2-40B4-BE49-F238E27FC236}">
                <a16:creationId xmlns:a16="http://schemas.microsoft.com/office/drawing/2014/main" id="{A88142C4-DF37-4C91-B4FF-0CBDAB3FB376}"/>
              </a:ext>
            </a:extLst>
          </p:cNvPr>
          <p:cNvSpPr>
            <a:spLocks xmlns:a="http://schemas.openxmlformats.org/drawingml/2006/main" noGrp="1"/>
          </p:cNvSpPr>
          <p:nvPr/>
        </p:nvSpPr>
        <p:spPr>
          <a:xfrm xmlns:a="http://schemas.openxmlformats.org/drawingml/2006/main">
            <a:off x="704850" y="3962400"/>
            <a:ext cx="490537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Combine the rule, top office deviation and relevant upstream freshness.</a:t>
            </a:r>
          </a:p>
        </p:txBody>
      </p:sp>
      <p:sp>
        <p:nvSpPr>
          <p:cNvPr id="9" name="">
            <a:extLst xmlns:a="http://schemas.openxmlformats.org/drawingml/2006/main">
              <a:ext uri="{FF2B5EF4-FFF2-40B4-BE49-F238E27FC236}">
                <a16:creationId xmlns:a16="http://schemas.microsoft.com/office/drawing/2014/main" id="{B7DF7083-54D5-41C5-A935-A1D35BEE8A40}"/>
              </a:ext>
            </a:extLst>
          </p:cNvPr>
          <p:cNvSpPr>
            <a:spLocks xmlns:a="http://schemas.openxmlformats.org/drawingml/2006/main" noGrp="1"/>
          </p:cNvSpPr>
          <p:nvPr/>
        </p:nvSpPr>
        <p:spPr>
          <a:xfrm xmlns:a="http://schemas.openxmlformats.org/drawingml/2006/main">
            <a:off x="6286500" y="1828800"/>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Output</a:t>
            </a:r>
          </a:p>
        </p:txBody>
      </p:sp>
      <p:sp>
        <p:nvSpPr>
          <p:cNvPr id="10" name="">
            <a:extLst xmlns:a="http://schemas.openxmlformats.org/drawingml/2006/main">
              <a:ext uri="{FF2B5EF4-FFF2-40B4-BE49-F238E27FC236}">
                <a16:creationId xmlns:a16="http://schemas.microsoft.com/office/drawing/2014/main" id="{98C847E6-20D9-446B-878A-FBB5BC44066D}"/>
              </a:ext>
            </a:extLst>
          </p:cNvPr>
          <p:cNvSpPr>
            <a:spLocks xmlns:a="http://schemas.openxmlformats.org/drawingml/2006/main" noGrp="1"/>
          </p:cNvSpPr>
          <p:nvPr/>
        </p:nvSpPr>
        <p:spPr>
          <a:xfrm xmlns:a="http://schemas.openxmlformats.org/drawingml/2006/main">
            <a:off x="6286500" y="2200275"/>
            <a:ext cx="4810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0">
                <a:solidFill>
                  <a:srgbClr val="153246"/>
                </a:solidFill>
                <a:latin typeface="Bitstream Charter"/>
                <a:ea typeface="Bitstream Charter"/>
                <a:cs typeface="Bitstream Charter"/>
              </a:defRPr>
            </a:pPr>
            <a:r>
              <a:rPr sz="1950" b="0">
                <a:solidFill>
                  <a:srgbClr val="153246"/>
                </a:solidFill>
                <a:latin typeface="Bitstream Charter"/>
                <a:ea typeface="Bitstream Charter"/>
                <a:cs typeface="Bitstream Charter"/>
              </a:rPr>
              <a:t>A traceable hypothesis identifies the evidence that informed it.</a:t>
            </a:r>
          </a:p>
        </p:txBody>
      </p:sp>
      <p:sp>
        <p:nvSpPr>
          <p:cNvPr id="11" name="">
            <a:extLst xmlns:a="http://schemas.openxmlformats.org/drawingml/2006/main">
              <a:ext uri="{FF2B5EF4-FFF2-40B4-BE49-F238E27FC236}">
                <a16:creationId xmlns:a16="http://schemas.microsoft.com/office/drawing/2014/main" id="{97CABF37-5F13-4CE8-8F24-A7975D25B030}"/>
              </a:ext>
            </a:extLst>
          </p:cNvPr>
          <p:cNvSpPr>
            <a:spLocks xmlns:a="http://schemas.openxmlformats.org/drawingml/2006/main" noGrp="1"/>
          </p:cNvSpPr>
          <p:nvPr/>
        </p:nvSpPr>
        <p:spPr>
          <a:xfrm xmlns:a="http://schemas.openxmlformats.org/drawingml/2006/main">
            <a:off x="6286500" y="3667125"/>
            <a:ext cx="481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Boundary</a:t>
            </a:r>
          </a:p>
        </p:txBody>
      </p:sp>
      <p:sp>
        <p:nvSpPr>
          <p:cNvPr id="12" name="">
            <a:extLst xmlns:a="http://schemas.openxmlformats.org/drawingml/2006/main">
              <a:ext uri="{FF2B5EF4-FFF2-40B4-BE49-F238E27FC236}">
                <a16:creationId xmlns:a16="http://schemas.microsoft.com/office/drawing/2014/main" id="{4E759F3E-E176-4E4C-B661-443BDA1160BF}"/>
              </a:ext>
            </a:extLst>
          </p:cNvPr>
          <p:cNvSpPr>
            <a:spLocks xmlns:a="http://schemas.openxmlformats.org/drawingml/2006/main" noGrp="1"/>
          </p:cNvSpPr>
          <p:nvPr/>
        </p:nvSpPr>
        <p:spPr>
          <a:xfrm xmlns:a="http://schemas.openxmlformats.org/drawingml/2006/main">
            <a:off x="6286500" y="4057650"/>
            <a:ext cx="4810125"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53246"/>
                </a:solidFill>
                <a:latin typeface="Bitstream Charter"/>
                <a:ea typeface="Bitstream Charter"/>
                <a:cs typeface="Bitstream Charter"/>
              </a:defRPr>
            </a:pPr>
            <a:r>
              <a:rPr sz="1800" b="0">
                <a:solidFill>
                  <a:srgbClr val="153246"/>
                </a:solidFill>
                <a:latin typeface="Bitstream Charter"/>
                <a:ea typeface="Bitstream Charter"/>
                <a:cs typeface="Bitstream Charter"/>
              </a:rPr>
              <a:t>Every result is labeled unverified. No causal model or automatic operational remedy is claimed.</a:t>
            </a:r>
          </a:p>
        </p:txBody>
      </p:sp>
    </p:spTree>
    <p:extLst>
      <p:ext uri="{BB962C8B-B14F-4D97-AF65-F5344CB8AC3E}">
        <p14:creationId xmlns:p14="http://schemas.microsoft.com/office/powerpoint/2010/main" val="1037132997"/>
      </p:ext>
    </p:extLst>
  </p:cSld>
</p:sld>
</file>

<file path=ppt/slides/slide16.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8E4AAD8-7A80-42FE-B80E-450B0064E0E2}"/>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16</a:t>
            </a:r>
          </a:p>
        </p:txBody>
      </p:sp>
      <p:sp>
        <p:nvSpPr>
          <p:cNvPr id="2" name="">
            <a:extLst xmlns:a="http://schemas.openxmlformats.org/drawingml/2006/main">
              <a:ext uri="{FF2B5EF4-FFF2-40B4-BE49-F238E27FC236}">
                <a16:creationId xmlns:a16="http://schemas.microsoft.com/office/drawing/2014/main" id="{BD410CC5-5014-43F0-AAB4-7EB812DEBC32}"/>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Keep history; assess only mature evidence</a:t>
            </a:r>
          </a:p>
        </p:txBody>
      </p:sp>
      <p:sp>
        <p:nvSpPr>
          <p:cNvPr id="3" name="">
            <a:extLst xmlns:a="http://schemas.openxmlformats.org/drawingml/2006/main">
              <a:ext uri="{FF2B5EF4-FFF2-40B4-BE49-F238E27FC236}">
                <a16:creationId xmlns:a16="http://schemas.microsoft.com/office/drawing/2014/main" id="{8A381E90-CB9D-458A-AC46-E5B40A864EDD}"/>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3429B1F1-E803-489E-B00A-FA97BDE77E5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16</a:t>
            </a:r>
          </a:p>
        </p:txBody>
      </p:sp>
      <p:sp>
        <p:nvSpPr>
          <p:cNvPr id="5" name="">
            <a:extLst xmlns:a="http://schemas.openxmlformats.org/drawingml/2006/main">
              <a:ext uri="{FF2B5EF4-FFF2-40B4-BE49-F238E27FC236}">
                <a16:creationId xmlns:a16="http://schemas.microsoft.com/office/drawing/2014/main" id="{35C3940A-197C-49A3-BCA0-0292EA1B17F4}"/>
              </a:ext>
            </a:extLst>
          </p:cNvPr>
          <p:cNvSpPr>
            <a:spLocks xmlns:a="http://schemas.openxmlformats.org/drawingml/2006/main" noGrp="1"/>
          </p:cNvSpPr>
          <p:nvPr/>
        </p:nvSpPr>
        <p:spPr>
          <a:xfrm xmlns:a="http://schemas.openxmlformats.org/drawingml/2006/main">
            <a:off x="704850" y="18954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Forecast ledger</a:t>
            </a:r>
          </a:p>
        </p:txBody>
      </p:sp>
      <p:sp>
        <p:nvSpPr>
          <p:cNvPr id="6" name="">
            <a:extLst xmlns:a="http://schemas.openxmlformats.org/drawingml/2006/main">
              <a:ext uri="{FF2B5EF4-FFF2-40B4-BE49-F238E27FC236}">
                <a16:creationId xmlns:a16="http://schemas.microsoft.com/office/drawing/2014/main" id="{E28A4621-CFE5-489A-85DE-271E3DC940FE}"/>
              </a:ext>
            </a:extLst>
          </p:cNvPr>
          <p:cNvSpPr>
            <a:spLocks xmlns:a="http://schemas.openxmlformats.org/drawingml/2006/main" noGrp="1"/>
          </p:cNvSpPr>
          <p:nvPr/>
        </p:nvSpPr>
        <p:spPr>
          <a:xfrm xmlns:a="http://schemas.openxmlformats.org/drawingml/2006/main">
            <a:off x="704850" y="2352675"/>
            <a:ext cx="491490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00" b="0">
                <a:solidFill>
                  <a:srgbClr val="173447"/>
                </a:solidFill>
                <a:latin typeface="Aptos"/>
                <a:ea typeface="Aptos"/>
                <a:cs typeface="Aptos"/>
              </a:defRPr>
            </a:pPr>
            <a:r>
              <a:rPr sz="1900" b="0">
                <a:solidFill>
                  <a:srgbClr val="173447"/>
                </a:solidFill>
                <a:latin typeface="Aptos"/>
                <a:ea typeface="Aptos"/>
                <a:cs typeface="Aptos"/>
              </a:rPr>
              <a:t>270 historical predictions retain model, origin and target date.</a:t>
            </a:r>
          </a:p>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
            </a:r>
          </a:p>
          <a:p xmlns:a="http://schemas.openxmlformats.org/drawingml/2006/main">
            <a:pPr>
              <a:defRPr sz="1900">
                <a:solidFill>
                  <a:srgbClr val="173447"/>
                </a:solidFill>
                <a:latin typeface="Aptos"/>
                <a:ea typeface="Aptos"/>
                <a:cs typeface="Aptos"/>
              </a:defRPr>
            </a:pPr>
            <a:r>
              <a:rPr sz="1900">
                <a:solidFill>
                  <a:srgbClr val="173447"/>
                </a:solidFill>
                <a:latin typeface="Aptos"/>
                <a:ea typeface="Aptos"/>
                <a:cs typeface="Aptos"/>
              </a:rPr>
              <a:t>Replaying the same keys updates a row; different origins remain.</a:t>
            </a:r>
          </a:p>
        </p:txBody>
      </p:sp>
      <p:sp>
        <p:nvSpPr>
          <p:cNvPr id="7" name="">
            <a:extLst xmlns:a="http://schemas.openxmlformats.org/drawingml/2006/main">
              <a:ext uri="{FF2B5EF4-FFF2-40B4-BE49-F238E27FC236}">
                <a16:creationId xmlns:a16="http://schemas.microsoft.com/office/drawing/2014/main" id="{2B962AD3-F1CF-412B-BCE8-4B2C19889D42}"/>
              </a:ext>
            </a:extLst>
          </p:cNvPr>
          <p:cNvSpPr>
            <a:spLocks xmlns:a="http://schemas.openxmlformats.org/drawingml/2006/main" noGrp="1"/>
          </p:cNvSpPr>
          <p:nvPr/>
        </p:nvSpPr>
        <p:spPr>
          <a:xfrm xmlns:a="http://schemas.openxmlformats.org/drawingml/2006/main">
            <a:off x="6362700" y="1895475"/>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B45136"/>
                </a:solidFill>
                <a:latin typeface="Bitstream Charter"/>
                <a:ea typeface="Bitstream Charter"/>
                <a:cs typeface="Bitstream Charter"/>
              </a:defRPr>
            </a:pPr>
            <a:r>
              <a:rPr sz="1725" b="1">
                <a:solidFill>
                  <a:srgbClr val="B45136"/>
                </a:solidFill>
                <a:latin typeface="Bitstream Charter"/>
                <a:ea typeface="Bitstream Charter"/>
                <a:cs typeface="Bitstream Charter"/>
              </a:rPr>
              <a:t>Assessment safeguards</a:t>
            </a:r>
          </a:p>
        </p:txBody>
      </p:sp>
      <p:sp>
        <p:nvSpPr>
          <p:cNvPr id="8" name="">
            <a:extLst xmlns:a="http://schemas.openxmlformats.org/drawingml/2006/main">
              <a:ext uri="{FF2B5EF4-FFF2-40B4-BE49-F238E27FC236}">
                <a16:creationId xmlns:a16="http://schemas.microsoft.com/office/drawing/2014/main" id="{CDFEF416-7305-44D9-BC3B-2637B2425854}"/>
              </a:ext>
            </a:extLst>
          </p:cNvPr>
          <p:cNvSpPr>
            <a:spLocks xmlns:a="http://schemas.openxmlformats.org/drawingml/2006/main" noGrp="1"/>
          </p:cNvSpPr>
          <p:nvPr/>
        </p:nvSpPr>
        <p:spPr>
          <a:xfrm xmlns:a="http://schemas.openxmlformats.org/drawingml/2006/main">
            <a:off x="6362700" y="2352675"/>
            <a:ext cx="50482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00" b="0">
                <a:solidFill>
                  <a:srgbClr val="173447"/>
                </a:solidFill>
                <a:latin typeface="Aptos"/>
                <a:ea typeface="Aptos"/>
                <a:cs typeface="Aptos"/>
              </a:defRPr>
            </a:pPr>
            <a:r>
              <a:rPr sz="1900" b="0">
                <a:solidFill>
                  <a:srgbClr val="173447"/>
                </a:solidFill>
                <a:latin typeface="Aptos"/>
                <a:ea typeface="Aptos"/>
                <a:cs typeface="Aptos"/>
              </a:rPr>
              <a:t>MAE, RMSE, sMAPE, bias and direction.</a:t>
            </a:r>
          </a:p>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
            </a:r>
          </a:p>
          <a:p xmlns:a="http://schemas.openxmlformats.org/drawingml/2006/main">
            <a:pPr>
              <a:defRPr sz="1900">
                <a:solidFill>
                  <a:srgbClr val="173447"/>
                </a:solidFill>
                <a:latin typeface="Aptos"/>
                <a:ea typeface="Aptos"/>
                <a:cs typeface="Aptos"/>
              </a:defRPr>
            </a:pPr>
            <a:r>
              <a:rPr sz="1900">
                <a:solidFill>
                  <a:srgbClr val="173447"/>
                </a:solidFill>
                <a:latin typeface="Aptos"/>
                <a:ea typeface="Aptos"/>
                <a:cs typeface="Aptos"/>
              </a:rPr>
              <a:t>Insufficient samples, superseded runs and deteriorating error receive distinct advice.</a:t>
            </a:r>
          </a:p>
        </p:txBody>
      </p:sp>
      <p:sp>
        <p:nvSpPr>
          <p:cNvPr id="9" name="">
            <a:extLst xmlns:a="http://schemas.openxmlformats.org/drawingml/2006/main">
              <a:ext uri="{FF2B5EF4-FFF2-40B4-BE49-F238E27FC236}">
                <a16:creationId xmlns:a16="http://schemas.microsoft.com/office/drawing/2014/main" id="{7A8CCDB0-0780-4076-81E1-1A9B648679F3}"/>
              </a:ext>
            </a:extLst>
          </p:cNvPr>
          <p:cNvSpPr>
            <a:spLocks xmlns:a="http://schemas.openxmlformats.org/drawingml/2006/main" noGrp="1"/>
          </p:cNvSpPr>
          <p:nvPr/>
        </p:nvSpPr>
        <p:spPr>
          <a:xfrm xmlns:a="http://schemas.openxmlformats.org/drawingml/2006/main">
            <a:off x="704850" y="5429250"/>
            <a:ext cx="1038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650" b="0">
                <a:solidFill>
                  <a:srgbClr val="526675"/>
                </a:solidFill>
                <a:latin typeface="Bitstream Charter"/>
                <a:ea typeface="Bitstream Charter"/>
                <a:cs typeface="Bitstream Charter"/>
              </a:defRPr>
            </a:pPr>
            <a:r>
              <a:rPr sz="1650" b="0">
                <a:solidFill>
                  <a:srgbClr val="526675"/>
                </a:solidFill>
                <a:latin typeface="Bitstream Charter"/>
                <a:ea typeface="Bitstream Charter"/>
                <a:cs typeface="Bitstream Charter"/>
              </a:rPr>
              <a:t>Retraining recommendations remain advisory. A threshold breach does not trigger model replacement.</a:t>
            </a:r>
          </a:p>
        </p:txBody>
      </p:sp>
    </p:spTree>
    <p:extLst>
      <p:ext uri="{BB962C8B-B14F-4D97-AF65-F5344CB8AC3E}">
        <p14:creationId xmlns:p14="http://schemas.microsoft.com/office/powerpoint/2010/main" val="47939383"/>
      </p:ext>
    </p:extLst>
  </p:cSld>
</p:sld>
</file>

<file path=ppt/slides/slide17.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E1152A-8667-4079-ADFF-F42B9B4976C1}"/>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17</a:t>
            </a:r>
          </a:p>
        </p:txBody>
      </p:sp>
      <p:sp>
        <p:nvSpPr>
          <p:cNvPr id="2" name="">
            <a:extLst xmlns:a="http://schemas.openxmlformats.org/drawingml/2006/main">
              <a:ext uri="{FF2B5EF4-FFF2-40B4-BE49-F238E27FC236}">
                <a16:creationId xmlns:a16="http://schemas.microsoft.com/office/drawing/2014/main" id="{546104A9-C8BB-4C0E-9B5C-1F545C6A736F}"/>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Candidate review and rollback exercise</a:t>
            </a:r>
          </a:p>
        </p:txBody>
      </p:sp>
      <p:sp>
        <p:nvSpPr>
          <p:cNvPr id="3" name="">
            <a:extLst xmlns:a="http://schemas.openxmlformats.org/drawingml/2006/main">
              <a:ext uri="{FF2B5EF4-FFF2-40B4-BE49-F238E27FC236}">
                <a16:creationId xmlns:a16="http://schemas.microsoft.com/office/drawing/2014/main" id="{C75A21BA-3D19-42A8-93D1-F2713C29C744}"/>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1C8FCD0D-99C6-4455-B376-074E4ECC1B8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17</a:t>
            </a:r>
          </a:p>
        </p:txBody>
      </p:sp>
      <p:sp>
        <p:nvSpPr>
          <p:cNvPr id="5" name="">
            <a:extLst xmlns:a="http://schemas.openxmlformats.org/drawingml/2006/main">
              <a:ext uri="{FF2B5EF4-FFF2-40B4-BE49-F238E27FC236}">
                <a16:creationId xmlns:a16="http://schemas.microsoft.com/office/drawing/2014/main" id="{E9E450AB-682B-418F-AA59-43BE6EB45E77}"/>
              </a:ext>
            </a:extLst>
          </p:cNvPr>
          <p:cNvSpPr>
            <a:spLocks xmlns:a="http://schemas.openxmlformats.org/drawingml/2006/main" noGrp="1"/>
          </p:cNvSpPr>
          <p:nvPr/>
        </p:nvSpPr>
        <p:spPr>
          <a:xfrm xmlns:a="http://schemas.openxmlformats.org/drawingml/2006/main">
            <a:off x="704850" y="17907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1  Compare</a:t>
            </a:r>
          </a:p>
        </p:txBody>
      </p:sp>
      <p:sp>
        <p:nvSpPr>
          <p:cNvPr id="6" name="">
            <a:extLst xmlns:a="http://schemas.openxmlformats.org/drawingml/2006/main">
              <a:ext uri="{FF2B5EF4-FFF2-40B4-BE49-F238E27FC236}">
                <a16:creationId xmlns:a16="http://schemas.microsoft.com/office/drawing/2014/main" id="{8100784E-87F3-4348-84E2-AE0DB067CF54}"/>
              </a:ext>
            </a:extLst>
          </p:cNvPr>
          <p:cNvSpPr>
            <a:spLocks xmlns:a="http://schemas.openxmlformats.org/drawingml/2006/main" noGrp="1"/>
          </p:cNvSpPr>
          <p:nvPr/>
        </p:nvSpPr>
        <p:spPr>
          <a:xfrm xmlns:a="http://schemas.openxmlformats.org/drawingml/2006/main">
            <a:off x="704850" y="21717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The final forecast origin gives ARIMA a 22.9% MAE improvement over the seasonal baseline.</a:t>
            </a:r>
          </a:p>
        </p:txBody>
      </p:sp>
      <p:sp>
        <p:nvSpPr>
          <p:cNvPr id="7" name="">
            <a:extLst xmlns:a="http://schemas.openxmlformats.org/drawingml/2006/main">
              <a:ext uri="{FF2B5EF4-FFF2-40B4-BE49-F238E27FC236}">
                <a16:creationId xmlns:a16="http://schemas.microsoft.com/office/drawing/2014/main" id="{5EBAB742-66D2-40FE-812B-D550ED6B5168}"/>
              </a:ext>
            </a:extLst>
          </p:cNvPr>
          <p:cNvSpPr>
            <a:spLocks xmlns:a="http://schemas.openxmlformats.org/drawingml/2006/main" noGrp="1"/>
          </p:cNvSpPr>
          <p:nvPr/>
        </p:nvSpPr>
        <p:spPr>
          <a:xfrm xmlns:a="http://schemas.openxmlformats.org/drawingml/2006/main">
            <a:off x="704850" y="30384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2  Keep judgment</a:t>
            </a:r>
          </a:p>
        </p:txBody>
      </p:sp>
      <p:sp>
        <p:nvSpPr>
          <p:cNvPr id="8" name="">
            <a:extLst xmlns:a="http://schemas.openxmlformats.org/drawingml/2006/main">
              <a:ext uri="{FF2B5EF4-FFF2-40B4-BE49-F238E27FC236}">
                <a16:creationId xmlns:a16="http://schemas.microsoft.com/office/drawing/2014/main" id="{40C9752C-355A-48AF-9939-8F0B4BB563EC}"/>
              </a:ext>
            </a:extLst>
          </p:cNvPr>
          <p:cNvSpPr>
            <a:spLocks xmlns:a="http://schemas.openxmlformats.org/drawingml/2006/main" noGrp="1"/>
          </p:cNvSpPr>
          <p:nvPr/>
        </p:nvSpPr>
        <p:spPr>
          <a:xfrm xmlns:a="http://schemas.openxmlformats.org/drawingml/2006/main">
            <a:off x="704850" y="3419475"/>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Only 15 held-out observations support this check. The result is advice, not a production promotion.</a:t>
            </a:r>
          </a:p>
        </p:txBody>
      </p:sp>
      <p:sp>
        <p:nvSpPr>
          <p:cNvPr id="9" name="">
            <a:extLst xmlns:a="http://schemas.openxmlformats.org/drawingml/2006/main">
              <a:ext uri="{FF2B5EF4-FFF2-40B4-BE49-F238E27FC236}">
                <a16:creationId xmlns:a16="http://schemas.microsoft.com/office/drawing/2014/main" id="{3E6D71FF-3431-44F6-9ADD-3CA05303D542}"/>
              </a:ext>
            </a:extLst>
          </p:cNvPr>
          <p:cNvSpPr>
            <a:spLocks xmlns:a="http://schemas.openxmlformats.org/drawingml/2006/main" noGrp="1"/>
          </p:cNvSpPr>
          <p:nvPr/>
        </p:nvSpPr>
        <p:spPr>
          <a:xfrm xmlns:a="http://schemas.openxmlformats.org/drawingml/2006/main">
            <a:off x="704850" y="43053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3  Practice withdrawal</a:t>
            </a:r>
          </a:p>
        </p:txBody>
      </p:sp>
      <p:sp>
        <p:nvSpPr>
          <p:cNvPr id="10" name="">
            <a:extLst xmlns:a="http://schemas.openxmlformats.org/drawingml/2006/main">
              <a:ext uri="{FF2B5EF4-FFF2-40B4-BE49-F238E27FC236}">
                <a16:creationId xmlns:a16="http://schemas.microsoft.com/office/drawing/2014/main" id="{711BA45E-4974-4764-B718-9BCB44C6BDA8}"/>
              </a:ext>
            </a:extLst>
          </p:cNvPr>
          <p:cNvSpPr>
            <a:spLocks xmlns:a="http://schemas.openxmlformats.org/drawingml/2006/main" noGrp="1"/>
          </p:cNvSpPr>
          <p:nvPr/>
        </p:nvSpPr>
        <p:spPr>
          <a:xfrm xmlns:a="http://schemas.openxmlformats.org/drawingml/2006/main">
            <a:off x="704850" y="468630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A fictional registry sequence selects a candidate, then restores the baseline. The classifier is marked for withdrawal.</a:t>
            </a:r>
          </a:p>
        </p:txBody>
      </p:sp>
    </p:spTree>
    <p:extLst>
      <p:ext uri="{BB962C8B-B14F-4D97-AF65-F5344CB8AC3E}">
        <p14:creationId xmlns:p14="http://schemas.microsoft.com/office/powerpoint/2010/main" val="870971791"/>
      </p:ext>
    </p:extLst>
  </p:cSld>
</p:sld>
</file>

<file path=ppt/slides/slide18.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FCFFB30-4AF8-41DA-A714-E8AE69CCC9AC}"/>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 18</a:t>
            </a:r>
          </a:p>
        </p:txBody>
      </p:sp>
      <p:sp>
        <p:nvSpPr>
          <p:cNvPr id="2" name="">
            <a:extLst xmlns:a="http://schemas.openxmlformats.org/drawingml/2006/main">
              <a:ext uri="{FF2B5EF4-FFF2-40B4-BE49-F238E27FC236}">
                <a16:creationId xmlns:a16="http://schemas.microsoft.com/office/drawing/2014/main" id="{1E871B35-73D5-4D3D-AEA6-EF6C395FB42A}"/>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Replay daily review and suppress repeats</a:t>
            </a:r>
          </a:p>
        </p:txBody>
      </p:sp>
      <p:sp>
        <p:nvSpPr>
          <p:cNvPr id="3" name="">
            <a:extLst xmlns:a="http://schemas.openxmlformats.org/drawingml/2006/main">
              <a:ext uri="{FF2B5EF4-FFF2-40B4-BE49-F238E27FC236}">
                <a16:creationId xmlns:a16="http://schemas.microsoft.com/office/drawing/2014/main" id="{0967759C-F403-490D-9410-9C83BC084D28}"/>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D9CB539D-67F9-4594-979A-4A1BE29314DA}"/>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18</a:t>
            </a:r>
          </a:p>
        </p:txBody>
      </p:sp>
      <p:sp>
        <p:nvSpPr>
          <p:cNvPr id="5" name="">
            <a:extLst xmlns:a="http://schemas.openxmlformats.org/drawingml/2006/main">
              <a:ext uri="{FF2B5EF4-FFF2-40B4-BE49-F238E27FC236}">
                <a16:creationId xmlns:a16="http://schemas.microsoft.com/office/drawing/2014/main" id="{8CC48D48-28E9-4910-81CE-DE6CAB65380D}"/>
              </a:ext>
            </a:extLst>
          </p:cNvPr>
          <p:cNvSpPr>
            <a:spLocks xmlns:a="http://schemas.openxmlformats.org/drawingml/2006/main" noGrp="1"/>
          </p:cNvSpPr>
          <p:nvPr/>
        </p:nvSpPr>
        <p:spPr>
          <a:xfrm xmlns:a="http://schemas.openxmlformats.org/drawingml/2006/main">
            <a:off x="704850" y="1847850"/>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087F77"/>
                </a:solidFill>
                <a:latin typeface="Bitstream Charter"/>
                <a:ea typeface="Bitstream Charter"/>
                <a:cs typeface="Bitstream Charter"/>
              </a:defRPr>
            </a:pPr>
            <a:r>
              <a:rPr sz="1875" b="1">
                <a:solidFill>
                  <a:srgbClr val="087F77"/>
                </a:solidFill>
                <a:latin typeface="Bitstream Charter"/>
                <a:ea typeface="Bitstream Charter"/>
                <a:cs typeface="Bitstream Charter"/>
              </a:rPr>
              <a:t>Executable local replay</a:t>
            </a:r>
          </a:p>
        </p:txBody>
      </p:sp>
      <p:sp>
        <p:nvSpPr>
          <p:cNvPr id="6" name="">
            <a:extLst xmlns:a="http://schemas.openxmlformats.org/drawingml/2006/main">
              <a:ext uri="{FF2B5EF4-FFF2-40B4-BE49-F238E27FC236}">
                <a16:creationId xmlns:a16="http://schemas.microsoft.com/office/drawing/2014/main" id="{9FC974AD-BF0B-4456-9576-665EE1CDAE8E}"/>
              </a:ext>
            </a:extLst>
          </p:cNvPr>
          <p:cNvSpPr>
            <a:spLocks xmlns:a="http://schemas.openxmlformats.org/drawingml/2006/main" noGrp="1"/>
          </p:cNvSpPr>
          <p:nvPr/>
        </p:nvSpPr>
        <p:spPr>
          <a:xfrm xmlns:a="http://schemas.openxmlformats.org/drawingml/2006/main">
            <a:off x="704850" y="2305050"/>
            <a:ext cx="101917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Three recent business dates produce prepared notices and suppress repeats for the same episode. The dashboard summarizes rules, reviews and outbox volume.</a:t>
            </a:r>
          </a:p>
        </p:txBody>
      </p:sp>
      <p:sp>
        <p:nvSpPr>
          <p:cNvPr id="7" name="">
            <a:extLst xmlns:a="http://schemas.openxmlformats.org/drawingml/2006/main">
              <a:ext uri="{FF2B5EF4-FFF2-40B4-BE49-F238E27FC236}">
                <a16:creationId xmlns:a16="http://schemas.microsoft.com/office/drawing/2014/main" id="{EE4FE0CB-4824-4DC5-9F1C-9655F3E7DE5C}"/>
              </a:ext>
            </a:extLst>
          </p:cNvPr>
          <p:cNvSpPr>
            <a:spLocks xmlns:a="http://schemas.openxmlformats.org/drawingml/2006/main" noGrp="1"/>
          </p:cNvSpPr>
          <p:nvPr/>
        </p:nvSpPr>
        <p:spPr>
          <a:xfrm xmlns:a="http://schemas.openxmlformats.org/drawingml/2006/main">
            <a:off x="704850" y="3857625"/>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B45136"/>
                </a:solidFill>
                <a:latin typeface="Bitstream Charter"/>
                <a:ea typeface="Bitstream Charter"/>
                <a:cs typeface="Bitstream Charter"/>
              </a:defRPr>
            </a:pPr>
            <a:r>
              <a:rPr sz="1875" b="1">
                <a:solidFill>
                  <a:srgbClr val="B45136"/>
                </a:solidFill>
                <a:latin typeface="Bitstream Charter"/>
                <a:ea typeface="Bitstream Charter"/>
                <a:cs typeface="Bitstream Charter"/>
              </a:rPr>
              <a:t>Human and delivery boundary</a:t>
            </a:r>
          </a:p>
        </p:txBody>
      </p:sp>
      <p:sp>
        <p:nvSpPr>
          <p:cNvPr id="8" name="">
            <a:extLst xmlns:a="http://schemas.openxmlformats.org/drawingml/2006/main">
              <a:ext uri="{FF2B5EF4-FFF2-40B4-BE49-F238E27FC236}">
                <a16:creationId xmlns:a16="http://schemas.microsoft.com/office/drawing/2014/main" id="{649FA507-65DA-4C40-A529-DE3D0D15DE7E}"/>
              </a:ext>
            </a:extLst>
          </p:cNvPr>
          <p:cNvSpPr>
            <a:spLocks xmlns:a="http://schemas.openxmlformats.org/drawingml/2006/main" noGrp="1"/>
          </p:cNvSpPr>
          <p:nvPr/>
        </p:nvSpPr>
        <p:spPr>
          <a:xfrm xmlns:a="http://schemas.openxmlformats.org/drawingml/2006/main">
            <a:off x="704850" y="4324350"/>
            <a:ext cx="10191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0">
                <a:solidFill>
                  <a:srgbClr val="153246"/>
                </a:solidFill>
                <a:latin typeface="Bitstream Charter"/>
                <a:ea typeface="Bitstream Charter"/>
                <a:cs typeface="Bitstream Charter"/>
              </a:defRPr>
            </a:pPr>
            <a:r>
              <a:rPr sz="2025" b="0">
                <a:solidFill>
                  <a:srgbClr val="153246"/>
                </a:solidFill>
                <a:latin typeface="Bitstream Charter"/>
                <a:ea typeface="Bitstream Charter"/>
                <a:cs typeface="Bitstream Charter"/>
              </a:rPr>
              <a:t>A separate fictional disposition demonstrates analyst context. Original queue rows remain pending. Notices are never sent; schedule and external connectors are not enabled.</a:t>
            </a:r>
          </a:p>
        </p:txBody>
      </p:sp>
    </p:spTree>
    <p:extLst>
      <p:ext uri="{BB962C8B-B14F-4D97-AF65-F5344CB8AC3E}">
        <p14:creationId xmlns:p14="http://schemas.microsoft.com/office/powerpoint/2010/main" val="314178886"/>
      </p:ext>
    </p:extLst>
  </p:cSld>
</p:sld>
</file>

<file path=ppt/slides/slide19.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80BA11-3850-4313-9ABA-D2DC2EF89833}"/>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NOTEBOOK / CELLS 19–20</a:t>
            </a:r>
          </a:p>
        </p:txBody>
      </p:sp>
      <p:sp>
        <p:nvSpPr>
          <p:cNvPr id="2" name="">
            <a:extLst xmlns:a="http://schemas.openxmlformats.org/drawingml/2006/main">
              <a:ext uri="{FF2B5EF4-FFF2-40B4-BE49-F238E27FC236}">
                <a16:creationId xmlns:a16="http://schemas.microsoft.com/office/drawing/2014/main" id="{B0952060-AFE5-44EA-A104-8C06DB522C4A}"/>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Record models and retain Delta history</a:t>
            </a:r>
          </a:p>
        </p:txBody>
      </p:sp>
      <p:sp>
        <p:nvSpPr>
          <p:cNvPr id="3" name="">
            <a:extLst xmlns:a="http://schemas.openxmlformats.org/drawingml/2006/main">
              <a:ext uri="{FF2B5EF4-FFF2-40B4-BE49-F238E27FC236}">
                <a16:creationId xmlns:a16="http://schemas.microsoft.com/office/drawing/2014/main" id="{355BB077-0A43-4589-92F1-9C47A063AF22}"/>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B1AEFF23-1E06-4B30-A70D-03873D61BC57}"/>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19</a:t>
            </a:r>
          </a:p>
        </p:txBody>
      </p:sp>
      <p:sp>
        <p:nvSpPr>
          <p:cNvPr id="5" name="">
            <a:extLst xmlns:a="http://schemas.openxmlformats.org/drawingml/2006/main">
              <a:ext uri="{FF2B5EF4-FFF2-40B4-BE49-F238E27FC236}">
                <a16:creationId xmlns:a16="http://schemas.microsoft.com/office/drawing/2014/main" id="{374B8B23-C478-4C29-8417-44B12DEED46F}"/>
              </a:ext>
            </a:extLst>
          </p:cNvPr>
          <p:cNvSpPr>
            <a:spLocks xmlns:a="http://schemas.openxmlformats.org/drawingml/2006/main" noGrp="1"/>
          </p:cNvSpPr>
          <p:nvPr/>
        </p:nvSpPr>
        <p:spPr>
          <a:xfrm xmlns:a="http://schemas.openxmlformats.org/drawingml/2006/main">
            <a:off x="704850" y="18097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MLflow and candidate registration</a:t>
            </a:r>
          </a:p>
        </p:txBody>
      </p:sp>
      <p:sp>
        <p:nvSpPr>
          <p:cNvPr id="6" name="">
            <a:extLst xmlns:a="http://schemas.openxmlformats.org/drawingml/2006/main">
              <a:ext uri="{FF2B5EF4-FFF2-40B4-BE49-F238E27FC236}">
                <a16:creationId xmlns:a16="http://schemas.microsoft.com/office/drawing/2014/main" id="{F9FC9817-20DA-4EFA-8BD4-D1354C982907}"/>
              </a:ext>
            </a:extLst>
          </p:cNvPr>
          <p:cNvSpPr>
            <a:spLocks xmlns:a="http://schemas.openxmlformats.org/drawingml/2006/main" noGrp="1"/>
          </p:cNvSpPr>
          <p:nvPr/>
        </p:nvSpPr>
        <p:spPr>
          <a:xfrm xmlns:a="http://schemas.openxmlformats.org/drawingml/2006/main">
            <a:off x="704850" y="219075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Log four sklearn models and evaluation metrics. Optional registry tags and demo_candidate aliases label the versions without changing a production alias.</a:t>
            </a:r>
          </a:p>
        </p:txBody>
      </p:sp>
      <p:sp>
        <p:nvSpPr>
          <p:cNvPr id="7" name="">
            <a:extLst xmlns:a="http://schemas.openxmlformats.org/drawingml/2006/main">
              <a:ext uri="{FF2B5EF4-FFF2-40B4-BE49-F238E27FC236}">
                <a16:creationId xmlns:a16="http://schemas.microsoft.com/office/drawing/2014/main" id="{F6409980-7C6D-4E3C-BB07-EF7BBD6F6AEA}"/>
              </a:ext>
            </a:extLst>
          </p:cNvPr>
          <p:cNvSpPr>
            <a:spLocks xmlns:a="http://schemas.openxmlformats.org/drawingml/2006/main" noGrp="1"/>
          </p:cNvSpPr>
          <p:nvPr/>
        </p:nvSpPr>
        <p:spPr>
          <a:xfrm xmlns:a="http://schemas.openxmlformats.org/drawingml/2006/main">
            <a:off x="704850" y="39433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1">
                <a:solidFill>
                  <a:srgbClr val="087F77"/>
                </a:solidFill>
                <a:latin typeface="Bitstream Charter"/>
                <a:ea typeface="Bitstream Charter"/>
                <a:cs typeface="Bitstream Charter"/>
              </a:defRPr>
            </a:pPr>
            <a:r>
              <a:rPr sz="1725" b="1">
                <a:solidFill>
                  <a:srgbClr val="087F77"/>
                </a:solidFill>
                <a:latin typeface="Bitstream Charter"/>
                <a:ea typeface="Bitstream Charter"/>
                <a:cs typeface="Bitstream Charter"/>
              </a:rPr>
              <a:t>Queryable history</a:t>
            </a:r>
          </a:p>
        </p:txBody>
      </p:sp>
      <p:sp>
        <p:nvSpPr>
          <p:cNvPr id="8" name="">
            <a:extLst xmlns:a="http://schemas.openxmlformats.org/drawingml/2006/main">
              <a:ext uri="{FF2B5EF4-FFF2-40B4-BE49-F238E27FC236}">
                <a16:creationId xmlns:a16="http://schemas.microsoft.com/office/drawing/2014/main" id="{65C04F43-60B1-4AF3-8FB9-59F6E9D1A7C0}"/>
              </a:ext>
            </a:extLst>
          </p:cNvPr>
          <p:cNvSpPr>
            <a:spLocks xmlns:a="http://schemas.openxmlformats.org/drawingml/2006/main" noGrp="1"/>
          </p:cNvSpPr>
          <p:nvPr/>
        </p:nvSpPr>
        <p:spPr>
          <a:xfrm xmlns:a="http://schemas.openxmlformats.org/drawingml/2006/main">
            <a:off x="704850" y="4324350"/>
            <a:ext cx="10477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53246"/>
                </a:solidFill>
                <a:latin typeface="Bitstream Charter"/>
                <a:ea typeface="Bitstream Charter"/>
                <a:cs typeface="Bitstream Charter"/>
              </a:defRPr>
            </a:pPr>
            <a:r>
              <a:rPr sz="1875" b="0">
                <a:solidFill>
                  <a:srgbClr val="153246"/>
                </a:solidFill>
                <a:latin typeface="Bitstream Charter"/>
                <a:ea typeface="Bitstream Charter"/>
                <a:cs typeface="Bitstream Charter"/>
              </a:rPr>
              <a:t>Nineteen optional Delta tables use keyed MERGE. Forecast origins remain distinct. Writes default off; real MLflow, Spark and schema compatibility need workspace checks.</a:t>
            </a:r>
          </a:p>
        </p:txBody>
      </p:sp>
    </p:spTree>
    <p:extLst>
      <p:ext uri="{BB962C8B-B14F-4D97-AF65-F5344CB8AC3E}">
        <p14:creationId xmlns:p14="http://schemas.microsoft.com/office/powerpoint/2010/main" val="1495623152"/>
      </p:ext>
    </p:extLst>
  </p:cSld>
</p:sld>
</file>

<file path=ppt/slides/slide20.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9085843-1FF2-4117-BD7F-93FBA285F11A}"/>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ORAL RFI COVERAGE</a:t>
            </a:r>
          </a:p>
        </p:txBody>
      </p:sp>
      <p:sp>
        <p:nvSpPr>
          <p:cNvPr id="2" name="">
            <a:extLst xmlns:a="http://schemas.openxmlformats.org/drawingml/2006/main">
              <a:ext uri="{FF2B5EF4-FFF2-40B4-BE49-F238E27FC236}">
                <a16:creationId xmlns:a16="http://schemas.microsoft.com/office/drawing/2014/main" id="{B51D1768-45B8-4E5B-91B9-CC43BFD45A99}"/>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Questions 1–7: what to show and explain</a:t>
            </a:r>
          </a:p>
        </p:txBody>
      </p:sp>
      <p:sp>
        <p:nvSpPr>
          <p:cNvPr id="3" name="">
            <a:extLst xmlns:a="http://schemas.openxmlformats.org/drawingml/2006/main">
              <a:ext uri="{FF2B5EF4-FFF2-40B4-BE49-F238E27FC236}">
                <a16:creationId xmlns:a16="http://schemas.microsoft.com/office/drawing/2014/main" id="{891A4C3B-D6FD-4B78-BD43-58108577C606}"/>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31AE9675-6125-4DF6-9ADE-E093EBA54979}"/>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20</a:t>
            </a:r>
          </a:p>
        </p:txBody>
      </p:sp>
      <p:sp>
        <p:nvSpPr>
          <p:cNvPr id="5" name="">
            <a:extLst xmlns:a="http://schemas.openxmlformats.org/drawingml/2006/main">
              <a:ext uri="{FF2B5EF4-FFF2-40B4-BE49-F238E27FC236}">
                <a16:creationId xmlns:a16="http://schemas.microsoft.com/office/drawing/2014/main" id="{4C6EA42C-BA27-4656-86A5-5680ED9292D7}"/>
              </a:ext>
            </a:extLst>
          </p:cNvPr>
          <p:cNvSpPr>
            <a:spLocks xmlns:a="http://schemas.openxmlformats.org/drawingml/2006/main" noGrp="1"/>
          </p:cNvSpPr>
          <p:nvPr/>
        </p:nvSpPr>
        <p:spPr>
          <a:xfrm xmlns:a="http://schemas.openxmlformats.org/drawingml/2006/main">
            <a:off x="704850" y="16764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  Working capability</a:t>
            </a:r>
          </a:p>
        </p:txBody>
      </p:sp>
      <p:sp>
        <p:nvSpPr>
          <p:cNvPr id="6" name="">
            <a:extLst xmlns:a="http://schemas.openxmlformats.org/drawingml/2006/main">
              <a:ext uri="{FF2B5EF4-FFF2-40B4-BE49-F238E27FC236}">
                <a16:creationId xmlns:a16="http://schemas.microsoft.com/office/drawing/2014/main" id="{B49964E4-9168-442C-ABFD-E99B24256936}"/>
              </a:ext>
            </a:extLst>
          </p:cNvPr>
          <p:cNvSpPr>
            <a:spLocks xmlns:a="http://schemas.openxmlformats.org/drawingml/2006/main" noGrp="1"/>
          </p:cNvSpPr>
          <p:nvPr/>
        </p:nvSpPr>
        <p:spPr>
          <a:xfrm xmlns:a="http://schemas.openxmlformats.org/drawingml/2006/main">
            <a:off x="4114800" y="16764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Run 20 cells; inspect ten figures, forecasts and review evidence.</a:t>
            </a:r>
          </a:p>
        </p:txBody>
      </p:sp>
      <p:sp>
        <p:nvSpPr>
          <p:cNvPr id="7" name="">
            <a:extLst xmlns:a="http://schemas.openxmlformats.org/drawingml/2006/main">
              <a:ext uri="{FF2B5EF4-FFF2-40B4-BE49-F238E27FC236}">
                <a16:creationId xmlns:a16="http://schemas.microsoft.com/office/drawing/2014/main" id="{9EBC71F1-8AED-4DAD-9287-C67EFCB88957}"/>
              </a:ext>
            </a:extLst>
          </p:cNvPr>
          <p:cNvSpPr>
            <a:spLocks xmlns:a="http://schemas.openxmlformats.org/drawingml/2006/main" noGrp="1"/>
          </p:cNvSpPr>
          <p:nvPr/>
        </p:nvSpPr>
        <p:spPr>
          <a:xfrm xmlns:a="http://schemas.openxmlformats.org/drawingml/2006/main">
            <a:off x="704850" y="22764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2  Is ML warranted?</a:t>
            </a:r>
          </a:p>
        </p:txBody>
      </p:sp>
      <p:sp>
        <p:nvSpPr>
          <p:cNvPr id="8" name="">
            <a:extLst xmlns:a="http://schemas.openxmlformats.org/drawingml/2006/main">
              <a:ext uri="{FF2B5EF4-FFF2-40B4-BE49-F238E27FC236}">
                <a16:creationId xmlns:a16="http://schemas.microsoft.com/office/drawing/2014/main" id="{BE2C052D-E2DA-47AC-BD92-4DC9EAD6BCAE}"/>
              </a:ext>
            </a:extLst>
          </p:cNvPr>
          <p:cNvSpPr>
            <a:spLocks xmlns:a="http://schemas.openxmlformats.org/drawingml/2006/main" noGrp="1"/>
          </p:cNvSpPr>
          <p:nvPr/>
        </p:nvSpPr>
        <p:spPr>
          <a:xfrm xmlns:a="http://schemas.openxmlformats.org/drawingml/2006/main">
            <a:off x="4114800" y="22764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Keep direct rules; assess forecasts against simple baselines.</a:t>
            </a:r>
          </a:p>
        </p:txBody>
      </p:sp>
      <p:sp>
        <p:nvSpPr>
          <p:cNvPr id="9" name="">
            <a:extLst xmlns:a="http://schemas.openxmlformats.org/drawingml/2006/main">
              <a:ext uri="{FF2B5EF4-FFF2-40B4-BE49-F238E27FC236}">
                <a16:creationId xmlns:a16="http://schemas.microsoft.com/office/drawing/2014/main" id="{B221EFCA-6DF3-4A78-BF1A-AF756B6E6945}"/>
              </a:ext>
            </a:extLst>
          </p:cNvPr>
          <p:cNvSpPr>
            <a:spLocks xmlns:a="http://schemas.openxmlformats.org/drawingml/2006/main" noGrp="1"/>
          </p:cNvSpPr>
          <p:nvPr/>
        </p:nvSpPr>
        <p:spPr>
          <a:xfrm xmlns:a="http://schemas.openxmlformats.org/drawingml/2006/main">
            <a:off x="704850" y="28765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3  Readiness</a:t>
            </a:r>
          </a:p>
        </p:txBody>
      </p:sp>
      <p:sp>
        <p:nvSpPr>
          <p:cNvPr id="10" name="">
            <a:extLst xmlns:a="http://schemas.openxmlformats.org/drawingml/2006/main">
              <a:ext uri="{FF2B5EF4-FFF2-40B4-BE49-F238E27FC236}">
                <a16:creationId xmlns:a16="http://schemas.microsoft.com/office/drawing/2014/main" id="{F8F56783-2637-4414-92C3-45F24EB71160}"/>
              </a:ext>
            </a:extLst>
          </p:cNvPr>
          <p:cNvSpPr>
            <a:spLocks xmlns:a="http://schemas.openxmlformats.org/drawingml/2006/main" noGrp="1"/>
          </p:cNvSpPr>
          <p:nvPr/>
        </p:nvSpPr>
        <p:spPr>
          <a:xfrm xmlns:a="http://schemas.openxmlformats.org/drawingml/2006/main">
            <a:off x="4114800" y="28765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Confirm data definitions, owners, access and acceptance criteria.</a:t>
            </a:r>
          </a:p>
        </p:txBody>
      </p:sp>
      <p:sp>
        <p:nvSpPr>
          <p:cNvPr id="11" name="">
            <a:extLst xmlns:a="http://schemas.openxmlformats.org/drawingml/2006/main">
              <a:ext uri="{FF2B5EF4-FFF2-40B4-BE49-F238E27FC236}">
                <a16:creationId xmlns:a16="http://schemas.microsoft.com/office/drawing/2014/main" id="{94CE033C-89D6-40A2-9766-AB32E4AFF2C1}"/>
              </a:ext>
            </a:extLst>
          </p:cNvPr>
          <p:cNvSpPr>
            <a:spLocks xmlns:a="http://schemas.openxmlformats.org/drawingml/2006/main" noGrp="1"/>
          </p:cNvSpPr>
          <p:nvPr/>
        </p:nvSpPr>
        <p:spPr>
          <a:xfrm xmlns:a="http://schemas.openxmlformats.org/drawingml/2006/main">
            <a:off x="704850" y="347662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4  Pilot</a:t>
            </a:r>
          </a:p>
        </p:txBody>
      </p:sp>
      <p:sp>
        <p:nvSpPr>
          <p:cNvPr id="12" name="">
            <a:extLst xmlns:a="http://schemas.openxmlformats.org/drawingml/2006/main">
              <a:ext uri="{FF2B5EF4-FFF2-40B4-BE49-F238E27FC236}">
                <a16:creationId xmlns:a16="http://schemas.microsoft.com/office/drawing/2014/main" id="{9929E120-C998-481E-A1C4-2427BFBB3AB6}"/>
              </a:ext>
            </a:extLst>
          </p:cNvPr>
          <p:cNvSpPr>
            <a:spLocks xmlns:a="http://schemas.openxmlformats.org/drawingml/2006/main" noGrp="1"/>
          </p:cNvSpPr>
          <p:nvPr/>
        </p:nvSpPr>
        <p:spPr>
          <a:xfrm xmlns:a="http://schemas.openxmlformats.org/drawingml/2006/main">
            <a:off x="4114800" y="347662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Bound scope, cost and duration; require prospective evidence.</a:t>
            </a:r>
          </a:p>
        </p:txBody>
      </p:sp>
      <p:sp>
        <p:nvSpPr>
          <p:cNvPr id="13" name="">
            <a:extLst xmlns:a="http://schemas.openxmlformats.org/drawingml/2006/main">
              <a:ext uri="{FF2B5EF4-FFF2-40B4-BE49-F238E27FC236}">
                <a16:creationId xmlns:a16="http://schemas.microsoft.com/office/drawing/2014/main" id="{4E0EE196-5455-4C7C-8002-06F6AE3BC2FC}"/>
              </a:ext>
            </a:extLst>
          </p:cNvPr>
          <p:cNvSpPr>
            <a:spLocks xmlns:a="http://schemas.openxmlformats.org/drawingml/2006/main" noGrp="1"/>
          </p:cNvSpPr>
          <p:nvPr/>
        </p:nvSpPr>
        <p:spPr>
          <a:xfrm xmlns:a="http://schemas.openxmlformats.org/drawingml/2006/main">
            <a:off x="704850" y="40767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5  Governance</a:t>
            </a:r>
          </a:p>
        </p:txBody>
      </p:sp>
      <p:sp>
        <p:nvSpPr>
          <p:cNvPr id="14" name="">
            <a:extLst xmlns:a="http://schemas.openxmlformats.org/drawingml/2006/main">
              <a:ext uri="{FF2B5EF4-FFF2-40B4-BE49-F238E27FC236}">
                <a16:creationId xmlns:a16="http://schemas.microsoft.com/office/drawing/2014/main" id="{3AADE749-1D7D-42ED-9E1B-EA7E26A7E6D4}"/>
              </a:ext>
            </a:extLst>
          </p:cNvPr>
          <p:cNvSpPr>
            <a:spLocks xmlns:a="http://schemas.openxmlformats.org/drawingml/2006/main" noGrp="1"/>
          </p:cNvSpPr>
          <p:nvPr/>
        </p:nvSpPr>
        <p:spPr>
          <a:xfrm xmlns:a="http://schemas.openxmlformats.org/drawingml/2006/main">
            <a:off x="4114800" y="40767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Show error history, review advice and candidate withdrawal.</a:t>
            </a:r>
          </a:p>
        </p:txBody>
      </p:sp>
      <p:sp>
        <p:nvSpPr>
          <p:cNvPr id="15" name="">
            <a:extLst xmlns:a="http://schemas.openxmlformats.org/drawingml/2006/main">
              <a:ext uri="{FF2B5EF4-FFF2-40B4-BE49-F238E27FC236}">
                <a16:creationId xmlns:a16="http://schemas.microsoft.com/office/drawing/2014/main" id="{07DEB484-D09C-45C5-85C5-E534AF3E8799}"/>
              </a:ext>
            </a:extLst>
          </p:cNvPr>
          <p:cNvSpPr>
            <a:spLocks xmlns:a="http://schemas.openxmlformats.org/drawingml/2006/main" noGrp="1"/>
          </p:cNvSpPr>
          <p:nvPr/>
        </p:nvSpPr>
        <p:spPr>
          <a:xfrm xmlns:a="http://schemas.openxmlformats.org/drawingml/2006/main">
            <a:off x="704850" y="46767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6  AI risk</a:t>
            </a:r>
          </a:p>
        </p:txBody>
      </p:sp>
      <p:sp>
        <p:nvSpPr>
          <p:cNvPr id="16" name="">
            <a:extLst xmlns:a="http://schemas.openxmlformats.org/drawingml/2006/main">
              <a:ext uri="{FF2B5EF4-FFF2-40B4-BE49-F238E27FC236}">
                <a16:creationId xmlns:a16="http://schemas.microsoft.com/office/drawing/2014/main" id="{C783FD9E-CA54-4064-BDD0-E54249F2A383}"/>
              </a:ext>
            </a:extLst>
          </p:cNvPr>
          <p:cNvSpPr>
            <a:spLocks xmlns:a="http://schemas.openxmlformats.org/drawingml/2006/main" noGrp="1"/>
          </p:cNvSpPr>
          <p:nvPr/>
        </p:nvSpPr>
        <p:spPr>
          <a:xfrm xmlns:a="http://schemas.openxmlformats.org/drawingml/2006/main">
            <a:off x="4114800" y="46767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Inspect subgroups, false signals and uncertainty in proxy labels.</a:t>
            </a:r>
          </a:p>
        </p:txBody>
      </p:sp>
      <p:sp>
        <p:nvSpPr>
          <p:cNvPr id="17" name="">
            <a:extLst xmlns:a="http://schemas.openxmlformats.org/drawingml/2006/main">
              <a:ext uri="{FF2B5EF4-FFF2-40B4-BE49-F238E27FC236}">
                <a16:creationId xmlns:a16="http://schemas.microsoft.com/office/drawing/2014/main" id="{E1972C7B-5E03-4DFF-999F-F6B840799336}"/>
              </a:ext>
            </a:extLst>
          </p:cNvPr>
          <p:cNvSpPr>
            <a:spLocks xmlns:a="http://schemas.openxmlformats.org/drawingml/2006/main" noGrp="1"/>
          </p:cNvSpPr>
          <p:nvPr/>
        </p:nvSpPr>
        <p:spPr>
          <a:xfrm xmlns:a="http://schemas.openxmlformats.org/drawingml/2006/main">
            <a:off x="704850" y="52768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7  Security</a:t>
            </a:r>
          </a:p>
        </p:txBody>
      </p:sp>
      <p:sp>
        <p:nvSpPr>
          <p:cNvPr id="18" name="">
            <a:extLst xmlns:a="http://schemas.openxmlformats.org/drawingml/2006/main">
              <a:ext uri="{FF2B5EF4-FFF2-40B4-BE49-F238E27FC236}">
                <a16:creationId xmlns:a16="http://schemas.microsoft.com/office/drawing/2014/main" id="{D5DD00BF-D1C8-4720-B7E0-F5289ACEA1D0}"/>
              </a:ext>
            </a:extLst>
          </p:cNvPr>
          <p:cNvSpPr>
            <a:spLocks xmlns:a="http://schemas.openxmlformats.org/drawingml/2006/main" noGrp="1"/>
          </p:cNvSpPr>
          <p:nvPr/>
        </p:nvSpPr>
        <p:spPr>
          <a:xfrm xmlns:a="http://schemas.openxmlformats.org/drawingml/2006/main">
            <a:off x="4114800" y="52768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Fictional data does not prove agency authorization or controls.</a:t>
            </a:r>
          </a:p>
        </p:txBody>
      </p:sp>
    </p:spTree>
    <p:extLst>
      <p:ext uri="{BB962C8B-B14F-4D97-AF65-F5344CB8AC3E}">
        <p14:creationId xmlns:p14="http://schemas.microsoft.com/office/powerpoint/2010/main" val="559298773"/>
      </p:ext>
    </p:extLst>
  </p:cSld>
</p:sld>
</file>

<file path=ppt/slides/slide21.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76A0B15-1961-4A4C-8BA7-14DBB11EE22A}"/>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ORAL RFI COVERAGE</a:t>
            </a:r>
          </a:p>
        </p:txBody>
      </p:sp>
      <p:sp>
        <p:nvSpPr>
          <p:cNvPr id="2" name="">
            <a:extLst xmlns:a="http://schemas.openxmlformats.org/drawingml/2006/main">
              <a:ext uri="{FF2B5EF4-FFF2-40B4-BE49-F238E27FC236}">
                <a16:creationId xmlns:a16="http://schemas.microsoft.com/office/drawing/2014/main" id="{C25BB302-D848-47BB-9210-7DA6F597F75B}"/>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Questions 8–14: what remains to establish</a:t>
            </a:r>
          </a:p>
        </p:txBody>
      </p:sp>
      <p:sp>
        <p:nvSpPr>
          <p:cNvPr id="3" name="">
            <a:extLst xmlns:a="http://schemas.openxmlformats.org/drawingml/2006/main">
              <a:ext uri="{FF2B5EF4-FFF2-40B4-BE49-F238E27FC236}">
                <a16:creationId xmlns:a16="http://schemas.microsoft.com/office/drawing/2014/main" id="{24A32B5E-4941-4A1A-BCB3-8E0ED46E8C94}"/>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C15836D5-474F-4DD2-9B31-7441C6342563}"/>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21</a:t>
            </a:r>
          </a:p>
        </p:txBody>
      </p:sp>
      <p:sp>
        <p:nvSpPr>
          <p:cNvPr id="5" name="">
            <a:extLst xmlns:a="http://schemas.openxmlformats.org/drawingml/2006/main">
              <a:ext uri="{FF2B5EF4-FFF2-40B4-BE49-F238E27FC236}">
                <a16:creationId xmlns:a16="http://schemas.microsoft.com/office/drawing/2014/main" id="{BF86FF6B-2ED8-4674-A2A9-67E6F1CA9137}"/>
              </a:ext>
            </a:extLst>
          </p:cNvPr>
          <p:cNvSpPr>
            <a:spLocks xmlns:a="http://schemas.openxmlformats.org/drawingml/2006/main" noGrp="1"/>
          </p:cNvSpPr>
          <p:nvPr/>
        </p:nvSpPr>
        <p:spPr>
          <a:xfrm xmlns:a="http://schemas.openxmlformats.org/drawingml/2006/main">
            <a:off x="704850" y="16764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8  Interoperability</a:t>
            </a:r>
          </a:p>
        </p:txBody>
      </p:sp>
      <p:sp>
        <p:nvSpPr>
          <p:cNvPr id="6" name="">
            <a:extLst xmlns:a="http://schemas.openxmlformats.org/drawingml/2006/main">
              <a:ext uri="{FF2B5EF4-FFF2-40B4-BE49-F238E27FC236}">
                <a16:creationId xmlns:a16="http://schemas.microsoft.com/office/drawing/2014/main" id="{9611A019-D945-4F91-A082-5D586C99DCBF}"/>
              </a:ext>
            </a:extLst>
          </p:cNvPr>
          <p:cNvSpPr>
            <a:spLocks xmlns:a="http://schemas.openxmlformats.org/drawingml/2006/main" noGrp="1"/>
          </p:cNvSpPr>
          <p:nvPr/>
        </p:nvSpPr>
        <p:spPr>
          <a:xfrm xmlns:a="http://schemas.openxmlformats.org/drawingml/2006/main">
            <a:off x="4114800" y="16764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Python and tabular outputs; verify actual platform interfaces.</a:t>
            </a:r>
          </a:p>
        </p:txBody>
      </p:sp>
      <p:sp>
        <p:nvSpPr>
          <p:cNvPr id="7" name="">
            <a:extLst xmlns:a="http://schemas.openxmlformats.org/drawingml/2006/main">
              <a:ext uri="{FF2B5EF4-FFF2-40B4-BE49-F238E27FC236}">
                <a16:creationId xmlns:a16="http://schemas.microsoft.com/office/drawing/2014/main" id="{16F22151-6334-418C-8AEF-6B0E6C5D51DF}"/>
              </a:ext>
            </a:extLst>
          </p:cNvPr>
          <p:cNvSpPr>
            <a:spLocks xmlns:a="http://schemas.openxmlformats.org/drawingml/2006/main" noGrp="1"/>
          </p:cNvSpPr>
          <p:nvPr/>
        </p:nvSpPr>
        <p:spPr>
          <a:xfrm xmlns:a="http://schemas.openxmlformats.org/drawingml/2006/main">
            <a:off x="704850" y="22764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9  Vendor exit</a:t>
            </a:r>
          </a:p>
        </p:txBody>
      </p:sp>
      <p:sp>
        <p:nvSpPr>
          <p:cNvPr id="8" name="">
            <a:extLst xmlns:a="http://schemas.openxmlformats.org/drawingml/2006/main">
              <a:ext uri="{FF2B5EF4-FFF2-40B4-BE49-F238E27FC236}">
                <a16:creationId xmlns:a16="http://schemas.microsoft.com/office/drawing/2014/main" id="{406DD0F5-B40F-4EDF-84C1-0ABDD4D921EE}"/>
              </a:ext>
            </a:extLst>
          </p:cNvPr>
          <p:cNvSpPr>
            <a:spLocks xmlns:a="http://schemas.openxmlformats.org/drawingml/2006/main" noGrp="1"/>
          </p:cNvSpPr>
          <p:nvPr/>
        </p:nvSpPr>
        <p:spPr>
          <a:xfrm xmlns:a="http://schemas.openxmlformats.org/drawingml/2006/main">
            <a:off x="4114800" y="22764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Source and exports help; rights and replacement must be tested.</a:t>
            </a:r>
          </a:p>
        </p:txBody>
      </p:sp>
      <p:sp>
        <p:nvSpPr>
          <p:cNvPr id="9" name="">
            <a:extLst xmlns:a="http://schemas.openxmlformats.org/drawingml/2006/main">
              <a:ext uri="{FF2B5EF4-FFF2-40B4-BE49-F238E27FC236}">
                <a16:creationId xmlns:a16="http://schemas.microsoft.com/office/drawing/2014/main" id="{89E4342C-94D3-484E-B1E2-AE425D1A692D}"/>
              </a:ext>
            </a:extLst>
          </p:cNvPr>
          <p:cNvSpPr>
            <a:spLocks xmlns:a="http://schemas.openxmlformats.org/drawingml/2006/main" noGrp="1"/>
          </p:cNvSpPr>
          <p:nvPr/>
        </p:nvSpPr>
        <p:spPr>
          <a:xfrm xmlns:a="http://schemas.openxmlformats.org/drawingml/2006/main">
            <a:off x="704850" y="28765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10  Model change</a:t>
            </a:r>
          </a:p>
        </p:txBody>
      </p:sp>
      <p:sp>
        <p:nvSpPr>
          <p:cNvPr id="10" name="">
            <a:extLst xmlns:a="http://schemas.openxmlformats.org/drawingml/2006/main">
              <a:ext uri="{FF2B5EF4-FFF2-40B4-BE49-F238E27FC236}">
                <a16:creationId xmlns:a16="http://schemas.microsoft.com/office/drawing/2014/main" id="{F2EBEAD9-9CA6-4116-8D54-BD55D2833381}"/>
              </a:ext>
            </a:extLst>
          </p:cNvPr>
          <p:cNvSpPr>
            <a:spLocks xmlns:a="http://schemas.openxmlformats.org/drawingml/2006/main" noGrp="1"/>
          </p:cNvSpPr>
          <p:nvPr/>
        </p:nvSpPr>
        <p:spPr>
          <a:xfrm xmlns:a="http://schemas.openxmlformats.org/drawingml/2006/main">
            <a:off x="4114800" y="28765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Use the candidate and rollback exercise; verify live registry later.</a:t>
            </a:r>
          </a:p>
        </p:txBody>
      </p:sp>
      <p:sp>
        <p:nvSpPr>
          <p:cNvPr id="11" name="">
            <a:extLst xmlns:a="http://schemas.openxmlformats.org/drawingml/2006/main">
              <a:ext uri="{FF2B5EF4-FFF2-40B4-BE49-F238E27FC236}">
                <a16:creationId xmlns:a16="http://schemas.microsoft.com/office/drawing/2014/main" id="{76259CFF-A9A2-4B89-874D-3E67471862BC}"/>
              </a:ext>
            </a:extLst>
          </p:cNvPr>
          <p:cNvSpPr>
            <a:spLocks xmlns:a="http://schemas.openxmlformats.org/drawingml/2006/main" noGrp="1"/>
          </p:cNvSpPr>
          <p:nvPr/>
        </p:nvSpPr>
        <p:spPr>
          <a:xfrm xmlns:a="http://schemas.openxmlformats.org/drawingml/2006/main">
            <a:off x="704850" y="347662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11  Human oversight</a:t>
            </a:r>
          </a:p>
        </p:txBody>
      </p:sp>
      <p:sp>
        <p:nvSpPr>
          <p:cNvPr id="12" name="">
            <a:extLst xmlns:a="http://schemas.openxmlformats.org/drawingml/2006/main">
              <a:ext uri="{FF2B5EF4-FFF2-40B4-BE49-F238E27FC236}">
                <a16:creationId xmlns:a16="http://schemas.microsoft.com/office/drawing/2014/main" id="{72098B1C-6781-49EF-9525-615D5D5D167E}"/>
              </a:ext>
            </a:extLst>
          </p:cNvPr>
          <p:cNvSpPr>
            <a:spLocks xmlns:a="http://schemas.openxmlformats.org/drawingml/2006/main" noGrp="1"/>
          </p:cNvSpPr>
          <p:nvPr/>
        </p:nvSpPr>
        <p:spPr>
          <a:xfrm xmlns:a="http://schemas.openxmlformats.org/drawingml/2006/main">
            <a:off x="4114800" y="347662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Show hypotheses and a fictional disposition; real review is pending.</a:t>
            </a:r>
          </a:p>
        </p:txBody>
      </p:sp>
      <p:sp>
        <p:nvSpPr>
          <p:cNvPr id="13" name="">
            <a:extLst xmlns:a="http://schemas.openxmlformats.org/drawingml/2006/main">
              <a:ext uri="{FF2B5EF4-FFF2-40B4-BE49-F238E27FC236}">
                <a16:creationId xmlns:a16="http://schemas.microsoft.com/office/drawing/2014/main" id="{82128F5C-8540-46A6-A2B4-962772AF7115}"/>
              </a:ext>
            </a:extLst>
          </p:cNvPr>
          <p:cNvSpPr>
            <a:spLocks xmlns:a="http://schemas.openxmlformats.org/drawingml/2006/main" noGrp="1"/>
          </p:cNvSpPr>
          <p:nvPr/>
        </p:nvSpPr>
        <p:spPr>
          <a:xfrm xmlns:a="http://schemas.openxmlformats.org/drawingml/2006/main">
            <a:off x="704850" y="407670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12  AI declined</a:t>
            </a:r>
          </a:p>
        </p:txBody>
      </p:sp>
      <p:sp>
        <p:nvSpPr>
          <p:cNvPr id="14" name="">
            <a:extLst xmlns:a="http://schemas.openxmlformats.org/drawingml/2006/main">
              <a:ext uri="{FF2B5EF4-FFF2-40B4-BE49-F238E27FC236}">
                <a16:creationId xmlns:a16="http://schemas.microsoft.com/office/drawing/2014/main" id="{A9212560-D82D-4416-9B48-BF9E53E9FFBE}"/>
              </a:ext>
            </a:extLst>
          </p:cNvPr>
          <p:cNvSpPr>
            <a:spLocks xmlns:a="http://schemas.openxmlformats.org/drawingml/2006/main" noGrp="1"/>
          </p:cNvSpPr>
          <p:nvPr/>
        </p:nvSpPr>
        <p:spPr>
          <a:xfrm xmlns:a="http://schemas.openxmlformats.org/drawingml/2006/main">
            <a:off x="4114800" y="407670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A verified past-client example is still needed from leadership.</a:t>
            </a:r>
          </a:p>
        </p:txBody>
      </p:sp>
      <p:sp>
        <p:nvSpPr>
          <p:cNvPr id="15" name="">
            <a:extLst xmlns:a="http://schemas.openxmlformats.org/drawingml/2006/main">
              <a:ext uri="{FF2B5EF4-FFF2-40B4-BE49-F238E27FC236}">
                <a16:creationId xmlns:a16="http://schemas.microsoft.com/office/drawing/2014/main" id="{FEB2F7E1-2055-4B3D-9DCE-C52635AD69E2}"/>
              </a:ext>
            </a:extLst>
          </p:cNvPr>
          <p:cNvSpPr>
            <a:spLocks xmlns:a="http://schemas.openxmlformats.org/drawingml/2006/main" noGrp="1"/>
          </p:cNvSpPr>
          <p:nvPr/>
        </p:nvSpPr>
        <p:spPr>
          <a:xfrm xmlns:a="http://schemas.openxmlformats.org/drawingml/2006/main">
            <a:off x="704850" y="4676775"/>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13  Authorization</a:t>
            </a:r>
          </a:p>
        </p:txBody>
      </p:sp>
      <p:sp>
        <p:nvSpPr>
          <p:cNvPr id="16" name="">
            <a:extLst xmlns:a="http://schemas.openxmlformats.org/drawingml/2006/main">
              <a:ext uri="{FF2B5EF4-FFF2-40B4-BE49-F238E27FC236}">
                <a16:creationId xmlns:a16="http://schemas.microsoft.com/office/drawing/2014/main" id="{816D68A3-EFD1-489B-B8BA-E6DD687C389D}"/>
              </a:ext>
            </a:extLst>
          </p:cNvPr>
          <p:cNvSpPr>
            <a:spLocks xmlns:a="http://schemas.openxmlformats.org/drawingml/2006/main" noGrp="1"/>
          </p:cNvSpPr>
          <p:nvPr/>
        </p:nvSpPr>
        <p:spPr>
          <a:xfrm xmlns:a="http://schemas.openxmlformats.org/drawingml/2006/main">
            <a:off x="4114800" y="4676775"/>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Agency boundary, controls and approval require separate evidence.</a:t>
            </a:r>
          </a:p>
        </p:txBody>
      </p:sp>
      <p:sp>
        <p:nvSpPr>
          <p:cNvPr id="17" name="">
            <a:extLst xmlns:a="http://schemas.openxmlformats.org/drawingml/2006/main">
              <a:ext uri="{FF2B5EF4-FFF2-40B4-BE49-F238E27FC236}">
                <a16:creationId xmlns:a16="http://schemas.microsoft.com/office/drawing/2014/main" id="{31314363-417C-4CCF-8E9C-85DFADEC17FC}"/>
              </a:ext>
            </a:extLst>
          </p:cNvPr>
          <p:cNvSpPr>
            <a:spLocks xmlns:a="http://schemas.openxmlformats.org/drawingml/2006/main" noGrp="1"/>
          </p:cNvSpPr>
          <p:nvPr/>
        </p:nvSpPr>
        <p:spPr>
          <a:xfrm xmlns:a="http://schemas.openxmlformats.org/drawingml/2006/main">
            <a:off x="704850" y="5276850"/>
            <a:ext cx="333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1">
                <a:solidFill>
                  <a:srgbClr val="087F77"/>
                </a:solidFill>
                <a:latin typeface="Bitstream Charter"/>
                <a:ea typeface="Bitstream Charter"/>
                <a:cs typeface="Bitstream Charter"/>
              </a:defRPr>
            </a:pPr>
            <a:r>
              <a:rPr sz="1500" b="1">
                <a:solidFill>
                  <a:srgbClr val="087F77"/>
                </a:solidFill>
                <a:latin typeface="Bitstream Charter"/>
                <a:ea typeface="Bitstream Charter"/>
                <a:cs typeface="Bitstream Charter"/>
              </a:rPr>
              <a:t>14  Team transfer</a:t>
            </a:r>
          </a:p>
        </p:txBody>
      </p:sp>
      <p:sp>
        <p:nvSpPr>
          <p:cNvPr id="18" name="">
            <a:extLst xmlns:a="http://schemas.openxmlformats.org/drawingml/2006/main">
              <a:ext uri="{FF2B5EF4-FFF2-40B4-BE49-F238E27FC236}">
                <a16:creationId xmlns:a16="http://schemas.microsoft.com/office/drawing/2014/main" id="{21F6F212-DBA8-4AF4-A3DA-451339C0AE00}"/>
              </a:ext>
            </a:extLst>
          </p:cNvPr>
          <p:cNvSpPr>
            <a:spLocks xmlns:a="http://schemas.openxmlformats.org/drawingml/2006/main" noGrp="1"/>
          </p:cNvSpPr>
          <p:nvPr/>
        </p:nvSpPr>
        <p:spPr>
          <a:xfrm xmlns:a="http://schemas.openxmlformats.org/drawingml/2006/main">
            <a:off x="4114800" y="5276850"/>
            <a:ext cx="72104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500" b="0">
                <a:solidFill>
                  <a:srgbClr val="153246"/>
                </a:solidFill>
                <a:latin typeface="Bitstream Charter"/>
                <a:ea typeface="Bitstream Charter"/>
                <a:cs typeface="Bitstream Charter"/>
              </a:defRPr>
            </a:pPr>
            <a:r>
              <a:rPr sz="1500" b="0">
                <a:solidFill>
                  <a:srgbClr val="153246"/>
                </a:solidFill>
                <a:latin typeface="Bitstream Charter"/>
                <a:ea typeface="Bitstream Charter"/>
                <a:cs typeface="Bitstream Charter"/>
              </a:rPr>
              <a:t>Receiving team reruns, investigates and practices withdrawal.</a:t>
            </a:r>
          </a:p>
        </p:txBody>
      </p:sp>
    </p:spTree>
    <p:extLst>
      <p:ext uri="{BB962C8B-B14F-4D97-AF65-F5344CB8AC3E}">
        <p14:creationId xmlns:p14="http://schemas.microsoft.com/office/powerpoint/2010/main" val="2070173445"/>
      </p:ext>
    </p:extLst>
  </p:cSld>
</p:sld>
</file>

<file path=ppt/slides/slide22.xml><?xml version="1.0" encoding="utf-8"?>
<p:sld xmlns:p="http://schemas.openxmlformats.org/presentationml/2006/main">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F9FF6D-0D8B-4762-B10C-906ABA3BE235}"/>
              </a:ext>
            </a:extLst>
          </p:cNvPr>
          <p:cNvSpPr>
            <a:spLocks xmlns:a="http://schemas.openxmlformats.org/drawingml/2006/main" noGrp="1"/>
          </p:cNvSpPr>
          <p:nvPr/>
        </p:nvSpPr>
        <p:spPr>
          <a:xfrm xmlns:a="http://schemas.openxmlformats.org/drawingml/2006/main">
            <a:off x="704850" y="371475"/>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200" b="1">
                <a:solidFill>
                  <a:srgbClr val="B45136"/>
                </a:solidFill>
                <a:latin typeface="Bitstream Charter"/>
                <a:ea typeface="Bitstream Charter"/>
                <a:cs typeface="Bitstream Charter"/>
              </a:defRPr>
            </a:pPr>
            <a:r>
              <a:rPr sz="1200" b="1">
                <a:solidFill>
                  <a:srgbClr val="B45136"/>
                </a:solidFill>
                <a:latin typeface="Bitstream Charter"/>
                <a:ea typeface="Bitstream Charter"/>
                <a:cs typeface="Bitstream Charter"/>
              </a:rPr>
              <a:t>CLOSE</a:t>
            </a:r>
          </a:p>
        </p:txBody>
      </p:sp>
      <p:sp>
        <p:nvSpPr>
          <p:cNvPr id="2" name="">
            <a:extLst xmlns:a="http://schemas.openxmlformats.org/drawingml/2006/main">
              <a:ext uri="{FF2B5EF4-FFF2-40B4-BE49-F238E27FC236}">
                <a16:creationId xmlns:a16="http://schemas.microsoft.com/office/drawing/2014/main" id="{EF351708-3BAB-4BBE-BBDC-881BAAA9AF8B}"/>
              </a:ext>
            </a:extLst>
          </p:cNvPr>
          <p:cNvSpPr>
            <a:spLocks xmlns:a="http://schemas.openxmlformats.org/drawingml/2006/main" noGrp="1"/>
          </p:cNvSpPr>
          <p:nvPr/>
        </p:nvSpPr>
        <p:spPr>
          <a:xfrm xmlns:a="http://schemas.openxmlformats.org/drawingml/2006/main">
            <a:off x="685800" y="771525"/>
            <a:ext cx="1081087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075" b="1">
                <a:solidFill>
                  <a:srgbClr val="153246"/>
                </a:solidFill>
                <a:latin typeface="Bitstream Charter"/>
                <a:ea typeface="Bitstream Charter"/>
                <a:cs typeface="Bitstream Charter"/>
              </a:defRPr>
            </a:pPr>
            <a:r>
              <a:rPr sz="3075" b="1">
                <a:solidFill>
                  <a:srgbClr val="153246"/>
                </a:solidFill>
                <a:latin typeface="Bitstream Charter"/>
                <a:ea typeface="Bitstream Charter"/>
                <a:cs typeface="Bitstream Charter"/>
              </a:rPr>
              <a:t>The useful decisions are visible</a:t>
            </a:r>
          </a:p>
        </p:txBody>
      </p:sp>
      <p:sp>
        <p:nvSpPr>
          <p:cNvPr id="3" name="">
            <a:extLst xmlns:a="http://schemas.openxmlformats.org/drawingml/2006/main">
              <a:ext uri="{FF2B5EF4-FFF2-40B4-BE49-F238E27FC236}">
                <a16:creationId xmlns:a16="http://schemas.microsoft.com/office/drawing/2014/main" id="{40770B68-7303-403B-BEC1-4B801F4C3C22}"/>
              </a:ext>
            </a:extLst>
          </p:cNvPr>
          <p:cNvSpPr>
            <a:spLocks xmlns:a="http://schemas.openxmlformats.org/drawingml/2006/main" noGrp="1"/>
          </p:cNvSpPr>
          <p:nvPr/>
        </p:nvSpPr>
        <p:spPr>
          <a:xfrm xmlns:a="http://schemas.openxmlformats.org/drawingml/2006/main">
            <a:off x="704850" y="628650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ATTAINX  /  DEMO DATA</a:t>
            </a:r>
          </a:p>
        </p:txBody>
      </p:sp>
      <p:sp>
        <p:nvSpPr>
          <p:cNvPr id="4" name="">
            <a:extLst xmlns:a="http://schemas.openxmlformats.org/drawingml/2006/main">
              <a:ext uri="{FF2B5EF4-FFF2-40B4-BE49-F238E27FC236}">
                <a16:creationId xmlns:a16="http://schemas.microsoft.com/office/drawing/2014/main" id="{FB2C0B80-96F7-4B54-92AC-A88CE3CCC85E}"/>
              </a:ext>
            </a:extLst>
          </p:cNvPr>
          <p:cNvSpPr>
            <a:spLocks xmlns:a="http://schemas.openxmlformats.org/drawingml/2006/main" noGrp="1"/>
          </p:cNvSpPr>
          <p:nvPr/>
        </p:nvSpPr>
        <p:spPr>
          <a:xfrm xmlns:a="http://schemas.openxmlformats.org/drawingml/2006/main">
            <a:off x="11049000" y="6286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050" b="0">
                <a:solidFill>
                  <a:srgbClr val="526675"/>
                </a:solidFill>
                <a:latin typeface="Bitstream Charter"/>
                <a:ea typeface="Bitstream Charter"/>
                <a:cs typeface="Bitstream Charter"/>
              </a:defRPr>
            </a:pPr>
            <a:r>
              <a:rPr sz="1050" b="0">
                <a:solidFill>
                  <a:srgbClr val="526675"/>
                </a:solidFill>
                <a:latin typeface="Bitstream Charter"/>
                <a:ea typeface="Bitstream Charter"/>
                <a:cs typeface="Bitstream Charter"/>
              </a:rPr>
              <a:t>22</a:t>
            </a:r>
          </a:p>
        </p:txBody>
      </p:sp>
      <p:sp>
        <p:nvSpPr>
          <p:cNvPr id="5" name="">
            <a:extLst xmlns:a="http://schemas.openxmlformats.org/drawingml/2006/main">
              <a:ext uri="{FF2B5EF4-FFF2-40B4-BE49-F238E27FC236}">
                <a16:creationId xmlns:a16="http://schemas.microsoft.com/office/drawing/2014/main" id="{6B27188F-75C2-411A-8552-7D971490ED8F}"/>
              </a:ext>
            </a:extLst>
          </p:cNvPr>
          <p:cNvSpPr>
            <a:spLocks xmlns:a="http://schemas.openxmlformats.org/drawingml/2006/main" noGrp="1"/>
          </p:cNvSpPr>
          <p:nvPr/>
        </p:nvSpPr>
        <p:spPr>
          <a:xfrm xmlns:a="http://schemas.openxmlformats.org/drawingml/2006/main">
            <a:off x="704850" y="1847850"/>
            <a:ext cx="1057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1">
                <a:solidFill>
                  <a:srgbClr val="153246"/>
                </a:solidFill>
                <a:latin typeface="Bitstream Charter"/>
                <a:ea typeface="Bitstream Charter"/>
                <a:cs typeface="Bitstream Charter"/>
              </a:defRPr>
            </a:pPr>
            <a:r>
              <a:rPr sz="2475" b="1">
                <a:solidFill>
                  <a:srgbClr val="153246"/>
                </a:solidFill>
                <a:latin typeface="Bitstream Charter"/>
                <a:ea typeface="Bitstream Charter"/>
                <a:cs typeface="Bitstream Charter"/>
              </a:rPr>
              <a:t>Rules identify change; context guides review.</a:t>
            </a:r>
          </a:p>
        </p:txBody>
      </p:sp>
      <p:sp>
        <p:nvSpPr>
          <p:cNvPr id="6" name="">
            <a:extLst xmlns:a="http://schemas.openxmlformats.org/drawingml/2006/main">
              <a:ext uri="{FF2B5EF4-FFF2-40B4-BE49-F238E27FC236}">
                <a16:creationId xmlns:a16="http://schemas.microsoft.com/office/drawing/2014/main" id="{C4C3A1F7-DDD5-4A3A-BEBF-CFD99F412624}"/>
              </a:ext>
            </a:extLst>
          </p:cNvPr>
          <p:cNvSpPr>
            <a:spLocks xmlns:a="http://schemas.openxmlformats.org/drawingml/2006/main" noGrp="1"/>
          </p:cNvSpPr>
          <p:nvPr/>
        </p:nvSpPr>
        <p:spPr>
          <a:xfrm xmlns:a="http://schemas.openxmlformats.org/drawingml/2006/main">
            <a:off x="704850" y="2762250"/>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B45136"/>
                </a:solidFill>
                <a:latin typeface="Bitstream Charter"/>
                <a:ea typeface="Bitstream Charter"/>
                <a:cs typeface="Bitstream Charter"/>
              </a:defRPr>
            </a:pPr>
            <a:r>
              <a:rPr sz="2250" b="0">
                <a:solidFill>
                  <a:srgbClr val="B45136"/>
                </a:solidFill>
                <a:latin typeface="Bitstream Charter"/>
                <a:ea typeface="Bitstream Charter"/>
                <a:cs typeface="Bitstream Charter"/>
              </a:rPr>
              <a:t>Forecasts compete with simple baselines; model novelty is not the goal.</a:t>
            </a:r>
          </a:p>
        </p:txBody>
      </p:sp>
      <p:sp>
        <p:nvSpPr>
          <p:cNvPr id="7" name="">
            <a:extLst xmlns:a="http://schemas.openxmlformats.org/drawingml/2006/main">
              <a:ext uri="{FF2B5EF4-FFF2-40B4-BE49-F238E27FC236}">
                <a16:creationId xmlns:a16="http://schemas.microsoft.com/office/drawing/2014/main" id="{1214E5D3-5652-4058-BFF3-683BADB344CB}"/>
              </a:ext>
            </a:extLst>
          </p:cNvPr>
          <p:cNvSpPr>
            <a:spLocks xmlns:a="http://schemas.openxmlformats.org/drawingml/2006/main" noGrp="1"/>
          </p:cNvSpPr>
          <p:nvPr/>
        </p:nvSpPr>
        <p:spPr>
          <a:xfrm xmlns:a="http://schemas.openxmlformats.org/drawingml/2006/main">
            <a:off x="704850" y="4114800"/>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087F77"/>
                </a:solidFill>
                <a:latin typeface="Bitstream Charter"/>
                <a:ea typeface="Bitstream Charter"/>
                <a:cs typeface="Bitstream Charter"/>
              </a:defRPr>
            </a:pPr>
            <a:r>
              <a:rPr sz="2175" b="0">
                <a:solidFill>
                  <a:srgbClr val="087F77"/>
                </a:solidFill>
                <a:latin typeface="Bitstream Charter"/>
                <a:ea typeface="Bitstream Charter"/>
                <a:cs typeface="Bitstream Charter"/>
              </a:rPr>
              <a:t>History and human judgment control the next step. Local exercises make the workflow inspectable; live services still need verification.</a:t>
            </a:r>
          </a:p>
        </p:txBody>
      </p:sp>
      <p:sp>
        <p:nvSpPr>
          <p:cNvPr id="8" name="">
            <a:extLst xmlns:a="http://schemas.openxmlformats.org/drawingml/2006/main">
              <a:ext uri="{FF2B5EF4-FFF2-40B4-BE49-F238E27FC236}">
                <a16:creationId xmlns:a16="http://schemas.microsoft.com/office/drawing/2014/main" id="{8B27450A-69A7-499C-A7D8-91BBEA950672}"/>
              </a:ext>
            </a:extLst>
          </p:cNvPr>
          <p:cNvSpPr>
            <a:spLocks xmlns:a="http://schemas.openxmlformats.org/drawingml/2006/main" noGrp="1"/>
          </p:cNvSpPr>
          <p:nvPr/>
        </p:nvSpPr>
        <p:spPr>
          <a:xfrm xmlns:a="http://schemas.openxmlformats.org/drawingml/2006/main">
            <a:off x="704850" y="5562600"/>
            <a:ext cx="1057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526675"/>
                </a:solidFill>
                <a:latin typeface="Bitstream Charter"/>
                <a:ea typeface="Bitstream Charter"/>
                <a:cs typeface="Bitstream Charter"/>
              </a:defRPr>
            </a:pPr>
            <a:r>
              <a:rPr sz="1800" b="0">
                <a:solidFill>
                  <a:srgbClr val="526675"/>
                </a:solidFill>
                <a:latin typeface="Bitstream Charter"/>
                <a:ea typeface="Bitstream Charter"/>
                <a:cs typeface="Bitstream Charter"/>
              </a:rPr>
              <a:t>Run the notebook. Explain the evidence. State the remaining boundary.</a:t>
            </a:r>
          </a:p>
        </p:txBody>
      </p:sp>
    </p:spTree>
    <p:extLst>
      <p:ext uri="{BB962C8B-B14F-4D97-AF65-F5344CB8AC3E}">
        <p14:creationId xmlns:p14="http://schemas.microsoft.com/office/powerpoint/2010/main" val="4775645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2026-09-23T20:49:47.8240000Z</dcterms:created>
  <dcterms:modified xsi:type="dcterms:W3CDTF">2026-09-23T20:49:47.8240000Z</dcterms:modified>
</coreProperties>
</file>